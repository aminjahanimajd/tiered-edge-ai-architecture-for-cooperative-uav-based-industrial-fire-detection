
<file path=[Content_Types].xml><?xml version="1.0" encoding="utf-8"?>
<Types xmlns="http://schemas.openxmlformats.org/package/2006/content-types">
  <Default Extension="xml" ContentType="application/vnd.openxmlformats-package.core-properties+xml"/>
  <Default Extension="png" ContentType="image/png"/>
  <Default Extension="gif" ContentType="image/gif"/>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7.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2e3d5f6ec0542fb" /><Relationship Type="http://schemas.openxmlformats.org/officeDocument/2006/relationships/extended-properties" Target="/docProps/app.xml" Id="R163e8316dc054be3" /><Relationship Type="http://schemas.openxmlformats.org/officeDocument/2006/relationships/officeDocument" Target="/ppt/presentation.xml" Id="Re5c9777888944263" /></Relationships>
</file>

<file path=ppt/presentation.xml><?xml version="1.0" encoding="utf-8"?>
<p:presentation xmlns:p="http://schemas.openxmlformats.org/presentationml/2006/main">
  <p:sldMasterIdLst>
    <p:sldMasterId xmlns:r="http://schemas.openxmlformats.org/officeDocument/2006/relationships" id="2147483648" r:id="Rb0e027f038bc4ad1"/>
  </p:sldMasterIdLst>
  <p:notesMasterIdLst>
    <p:notesMasterId xmlns:r="http://schemas.openxmlformats.org/officeDocument/2006/relationships" r:id="Rebffb012a65b418f"/>
  </p:notesMasterIdLst>
  <p:sldIdLst>
    <p:sldId xmlns:r="http://schemas.openxmlformats.org/officeDocument/2006/relationships" id="256" r:id="R1dc018294f204ad2"/>
    <p:sldId xmlns:r="http://schemas.openxmlformats.org/officeDocument/2006/relationships" id="257" r:id="R117bddb0e4f04197"/>
    <p:sldId xmlns:r="http://schemas.openxmlformats.org/officeDocument/2006/relationships" id="258" r:id="R1a05fcad3593472d"/>
    <p:sldId xmlns:r="http://schemas.openxmlformats.org/officeDocument/2006/relationships" id="259" r:id="R8c8094266f2d406e"/>
    <p:sldId xmlns:r="http://schemas.openxmlformats.org/officeDocument/2006/relationships" id="260" r:id="R2f89d8d1c98b42b4"/>
    <p:sldId xmlns:r="http://schemas.openxmlformats.org/officeDocument/2006/relationships" id="261" r:id="Rabacf447ce5248fc"/>
    <p:sldId xmlns:r="http://schemas.openxmlformats.org/officeDocument/2006/relationships" id="262" r:id="R54916351c2a444b5"/>
    <p:sldId xmlns:r="http://schemas.openxmlformats.org/officeDocument/2006/relationships" id="263" r:id="R398257b8e6f844f3"/>
    <p:sldId xmlns:r="http://schemas.openxmlformats.org/officeDocument/2006/relationships" id="264" r:id="R65006c9e86b74bcb"/>
    <p:sldId xmlns:r="http://schemas.openxmlformats.org/officeDocument/2006/relationships" id="265" r:id="R7dcd50c6255a4400"/>
    <p:sldId xmlns:r="http://schemas.openxmlformats.org/officeDocument/2006/relationships" id="266" r:id="R1ef8032e2a754654"/>
    <p:sldId xmlns:r="http://schemas.openxmlformats.org/officeDocument/2006/relationships" id="267" r:id="Rc58a536811c440c7"/>
    <p:sldId xmlns:r="http://schemas.openxmlformats.org/officeDocument/2006/relationships" id="268" r:id="R00088a228d96405c"/>
    <p:sldId xmlns:r="http://schemas.openxmlformats.org/officeDocument/2006/relationships" id="269" r:id="Rcd9874d7d9a34907"/>
    <p:sldId xmlns:r="http://schemas.openxmlformats.org/officeDocument/2006/relationships" id="270" r:id="Rdb49580a0da24c4f"/>
    <p:sldId xmlns:r="http://schemas.openxmlformats.org/officeDocument/2006/relationships" id="271" r:id="R32b99e83af5d474a"/>
    <p:sldId xmlns:r="http://schemas.openxmlformats.org/officeDocument/2006/relationships" id="272" r:id="R7c5f438f6c6a45ae"/>
    <p:sldId xmlns:r="http://schemas.openxmlformats.org/officeDocument/2006/relationships" id="273" r:id="R48656aefedd140d0"/>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b19a75759594a13" /><Relationship Type="http://schemas.openxmlformats.org/officeDocument/2006/relationships/slideMaster" Target="/ppt/slideMasters/slideMaster1.xml" Id="Rb0e027f038bc4ad1" /><Relationship Type="http://schemas.openxmlformats.org/officeDocument/2006/relationships/notesMaster" Target="/ppt/notesMasters/notesMaster1.xml" Id="Rebffb012a65b418f" /><Relationship Type="http://schemas.openxmlformats.org/officeDocument/2006/relationships/presProps" Target="/ppt/presProps.xml" Id="Rb7863ea31e094ea5" /><Relationship Type="http://schemas.openxmlformats.org/officeDocument/2006/relationships/viewProps" Target="/ppt/viewProps.xml" Id="Re5aef0baf1564de2" /><Relationship Type="http://schemas.openxmlformats.org/officeDocument/2006/relationships/tableStyles" Target="/ppt/tableStyles.xml" Id="R873e9263762d41e3" /><Relationship Type="http://schemas.openxmlformats.org/officeDocument/2006/relationships/slide" Target="/ppt/slides/slide1.xml" Id="R1dc018294f204ad2" /><Relationship Type="http://schemas.openxmlformats.org/officeDocument/2006/relationships/slide" Target="/ppt/slides/slide2.xml" Id="R117bddb0e4f04197" /><Relationship Type="http://schemas.openxmlformats.org/officeDocument/2006/relationships/slide" Target="/ppt/slides/slide3.xml" Id="R1a05fcad3593472d" /><Relationship Type="http://schemas.openxmlformats.org/officeDocument/2006/relationships/slide" Target="/ppt/slides/slide4.xml" Id="R8c8094266f2d406e" /><Relationship Type="http://schemas.openxmlformats.org/officeDocument/2006/relationships/slide" Target="/ppt/slides/slide5.xml" Id="R2f89d8d1c98b42b4" /><Relationship Type="http://schemas.openxmlformats.org/officeDocument/2006/relationships/slide" Target="/ppt/slides/slide6.xml" Id="Rabacf447ce5248fc" /><Relationship Type="http://schemas.openxmlformats.org/officeDocument/2006/relationships/slide" Target="/ppt/slides/slide7.xml" Id="R54916351c2a444b5" /><Relationship Type="http://schemas.openxmlformats.org/officeDocument/2006/relationships/slide" Target="/ppt/slides/slide8.xml" Id="R398257b8e6f844f3" /><Relationship Type="http://schemas.openxmlformats.org/officeDocument/2006/relationships/slide" Target="/ppt/slides/slide9.xml" Id="R65006c9e86b74bcb" /><Relationship Type="http://schemas.openxmlformats.org/officeDocument/2006/relationships/slide" Target="/ppt/slides/slide10.xml" Id="R7dcd50c6255a4400" /><Relationship Type="http://schemas.openxmlformats.org/officeDocument/2006/relationships/slide" Target="/ppt/slides/slide11.xml" Id="R1ef8032e2a754654" /><Relationship Type="http://schemas.openxmlformats.org/officeDocument/2006/relationships/slide" Target="/ppt/slides/slide12.xml" Id="Rc58a536811c440c7" /><Relationship Type="http://schemas.openxmlformats.org/officeDocument/2006/relationships/slide" Target="/ppt/slides/slide13.xml" Id="R00088a228d96405c" /><Relationship Type="http://schemas.openxmlformats.org/officeDocument/2006/relationships/slide" Target="/ppt/slides/slide14.xml" Id="Rcd9874d7d9a34907" /><Relationship Type="http://schemas.openxmlformats.org/officeDocument/2006/relationships/slide" Target="/ppt/slides/slide15.xml" Id="Rdb49580a0da24c4f" /><Relationship Type="http://schemas.openxmlformats.org/officeDocument/2006/relationships/slide" Target="/ppt/slides/slide16.xml" Id="R32b99e83af5d474a" /><Relationship Type="http://schemas.openxmlformats.org/officeDocument/2006/relationships/slide" Target="/ppt/slides/slide17.xml" Id="R7c5f438f6c6a45ae" /><Relationship Type="http://schemas.openxmlformats.org/officeDocument/2006/relationships/slide" Target="/ppt/slides/slide18.xml" Id="R48656aefedd140d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fe2bf17da041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1910e329614c47" /><Relationship Type="http://schemas.openxmlformats.org/officeDocument/2006/relationships/notesMaster" Target="/ppt/notesMasters/notesMaster1.xml" Id="R59185e7ff67345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647a40bbdb4075" /><Relationship Type="http://schemas.openxmlformats.org/officeDocument/2006/relationships/notesMaster" Target="/ppt/notesMasters/notesMaster1.xml" Id="R64f66ddd9f7047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5f488738224fe7" /><Relationship Type="http://schemas.openxmlformats.org/officeDocument/2006/relationships/notesMaster" Target="/ppt/notesMasters/notesMaster1.xml" Id="R6e44e5f2566444f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a6e69a561a942ad" /><Relationship Type="http://schemas.openxmlformats.org/officeDocument/2006/relationships/notesMaster" Target="/ppt/notesMasters/notesMaster1.xml" Id="Re3a52b4d15ce47b1"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9dd2a9da8e4e52" /><Relationship Type="http://schemas.openxmlformats.org/officeDocument/2006/relationships/notesMaster" Target="/ppt/notesMasters/notesMaster1.xml" Id="R452a475ed16d48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730674c71254b04" /><Relationship Type="http://schemas.openxmlformats.org/officeDocument/2006/relationships/notesMaster" Target="/ppt/notesMasters/notesMaster1.xml" Id="R1b0ba2011f324ef1" /></Relationships>
</file>

<file path=ppt/notesSlides/_rels/notesSlide7.xml.rels>&#65279;<?xml version="1.0" encoding="utf-8"?><Relationships xmlns="http://schemas.openxmlformats.org/package/2006/relationships"><Relationship Type="http://schemas.openxmlformats.org/officeDocument/2006/relationships/slide" Target="/ppt/slides/slide7.xml" Id="Rcb6bbf6cbb3b4f92" /><Relationship Type="http://schemas.openxmlformats.org/officeDocument/2006/relationships/notesMaster" Target="/ppt/notesMasters/notesMaster1.xml" Id="R76aafaabbcf848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5920cc300f4e4ddc" /><Relationship Type="http://schemas.openxmlformats.org/officeDocument/2006/relationships/notesMaster" Target="/ppt/notesMasters/notesMaster1.xml" Id="Re3933448016c49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931ee2075cfe46c6" /><Relationship Type="http://schemas.openxmlformats.org/officeDocument/2006/relationships/notesMaster" Target="/ppt/notesMasters/notesMaster1.xml" Id="R0da63bd96de541c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0ab747bc8d34f34" /><Relationship Type="http://schemas.openxmlformats.org/officeDocument/2006/relationships/notesMaster" Target="/ppt/notesMasters/notesMaster1.xml" Id="R5c102e99294b4f0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d784e3a15e74f13" /><Relationship Type="http://schemas.openxmlformats.org/officeDocument/2006/relationships/notesMaster" Target="/ppt/notesMasters/notesMaster1.xml" Id="Raf5d579f75d8460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280487015ac4688" /><Relationship Type="http://schemas.openxmlformats.org/officeDocument/2006/relationships/notesMaster" Target="/ppt/notesMasters/notesMaster1.xml" Id="R2a7c0062a22f400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0287f3fadc04b1c" /><Relationship Type="http://schemas.openxmlformats.org/officeDocument/2006/relationships/notesMaster" Target="/ppt/notesMasters/notesMaster1.xml" Id="Re1a84240329d4a7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511a59db4d04df8" /><Relationship Type="http://schemas.openxmlformats.org/officeDocument/2006/relationships/notesMaster" Target="/ppt/notesMasters/notesMaster1.xml" Id="Rd08bd548215443c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5e8b4258d16487b" /><Relationship Type="http://schemas.openxmlformats.org/officeDocument/2006/relationships/notesMaster" Target="/ppt/notesMasters/notesMaster1.xml" Id="R07a2811a352944c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637a04a818b4727" /><Relationship Type="http://schemas.openxmlformats.org/officeDocument/2006/relationships/notesMaster" Target="/ppt/notesMasters/notesMaster1.xml" Id="R67f3a93b5a32409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6e8ab1b2ae54467" /><Relationship Type="http://schemas.openxmlformats.org/officeDocument/2006/relationships/notesMaster" Target="/ppt/notesMasters/notesMaster1.xml" Id="Rc5ecdf8fd4af463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3b58871a6f24ed0" /><Relationship Type="http://schemas.openxmlformats.org/officeDocument/2006/relationships/notesMaster" Target="/ppt/notesMasters/notesMaster1.xml" Id="Re7a7583a7c7c4a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0:20</a:t>
            </a:r>
          </a:p>
          <a:p xmlns:a="http://schemas.openxmlformats.org/drawingml/2006/main">
            <a:r>
              <a:t>SPOKEN PASSAGE</a:t>
            </a:r>
          </a:p>
          <a:p xmlns:a="http://schemas.openxmlformats.org/drawingml/2006/main">
            <a:r>
              <a:t>Good morning. I designed and evaluated an onboard Sentinel-Scout system prototype for cooperative fire detection. Its main contribution is the integration of two different UAV computers into a traceable detection and verification workflow. I will focus on the measured engineering achievements.</a:t>
            </a:r>
          </a:p>
          <a:p xmlns:a="http://schemas.openxmlformats.org/drawingml/2006/main">
            <a:r>
              <a:t>PRIVATE DELIVERY CUE</a:t>
            </a:r>
          </a:p>
          <a:p xmlns:a="http://schemas.openxmlformats.org/drawingml/2006/main">
            <a:r>
              <a:t>State the objective, then advance immediately. Do not read the complete thesis title aloud.</a:t>
            </a:r>
          </a:p>
          <a:p xmlns:a="http://schemas.openxmlformats.org/drawingml/2006/main">
            <a:r>
              <a:t>PRIVATE STUDY NOTES</a:t>
            </a:r>
          </a:p>
          <a:p xmlns:a="http://schemas.openxmlformats.org/drawingml/2006/main">
            <a:r>
              <a:t>Tiered: Two assigned processing roles: initial Sentinel detection and secondary Scout verification.</a:t>
            </a:r>
          </a:p>
          <a:p xmlns:a="http://schemas.openxmlformats.org/drawingml/2006/main">
            <a:r>
              <a:t>Edge AI: The two onboard computers perform inference. The ground station provides supervision, not AI inference.</a:t>
            </a:r>
          </a:p>
          <a:p xmlns:a="http://schemas.openxmlformats.org/drawingml/2006/main">
            <a:r>
              <a:t>Experimental boundary: The physical trials were stationary with propellers removed. Aerial mission execution used PX4/Gazebo.</a:t>
            </a:r>
          </a:p>
          <a:p xmlns:a="http://schemas.openxmlformats.org/drawingml/2006/main">
            <a:r>
              <a:t>Original contribution: Custom integration of heterogeneous platforms, the traceable decision workflow, measured decoder optimization and recorded validation. This does not establish novelty of YOLO, ROS 2 or PX4 themselves.</a:t>
            </a:r>
          </a:p>
          <a:p xmlns:a="http://schemas.openxmlformats.org/drawingml/2006/main">
            <a:r>
              <a:t>SHORT ANSWER IF ASKED</a:t>
            </a:r>
          </a:p>
          <a:p xmlns:a="http://schemas.openxmlformats.org/drawingml/2006/main">
            <a:r>
              <a:t>The project contribution is the implemented decision workflow across two onboard computers, with measured runtime, resource, network and simulation evidence.</a:t>
            </a:r>
          </a:p>
          <a:p xmlns:a="http://schemas.openxmlformats.org/drawingml/2006/main">
            <a:r>
              <a:t>SOURCES</a:t>
            </a:r>
          </a:p>
          <a:p xmlns:a="http://schemas.openxmlformats.org/drawingml/2006/main">
            <a:r>
              <a:t>thesis_review/chapters/01_introduction.tex</a:t>
            </a:r>
          </a:p>
          <a:p xmlns:a="http://schemas.openxmlformats.org/drawingml/2006/main">
            <a:r>
              <a:t>thesis_review/chapters/09_conclusion.tex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0:45</a:t>
            </a:r>
          </a:p>
          <a:p xmlns:a="http://schemas.openxmlformats.org/drawingml/2006/main">
            <a:r>
              <a:t>SPOKEN PASSAGE</a:t>
            </a:r>
          </a:p>
          <a:p xmlns:a="http://schemas.openxmlformats.org/drawingml/2006/main">
            <a:r>
              <a:t>I customized the X500 Sentinel with a Jetson Nano and D435i camera, including companion power and telemetry integration. The smaller ModalAI Scout uses VOXL 2 and its own camera. Each computer processes its own images, while the Sentinel hosts SwarmNet. Jetson runs ROS 2 Foxy in an L4T container, and Scout runs Foxy natively. The working deployments use compact YOLOv8n for screening and higher-capacity YOLOv8s for verification. Their measured runtime implementations, rather than the later laptop ranking, explain the retained pair.</a:t>
            </a:r>
          </a:p>
          <a:p xmlns:a="http://schemas.openxmlformats.org/drawingml/2006/main">
            <a:r>
              <a:t>PRIVATE DELIVERY CUE</a:t>
            </a:r>
          </a:p>
          <a:p xmlns:a="http://schemas.openxmlformats.org/drawingml/2006/main">
            <a:r>
              <a:t>Let both hardware GIFs play through the dimension labels while describing the roles. Reference dimensions do not establish measured custom vehicle dimensions or flight endurance.</a:t>
            </a:r>
          </a:p>
          <a:p xmlns:a="http://schemas.openxmlformats.org/drawingml/2006/main">
            <a:r>
              <a:t>PRIVATE STUDY NOTES</a:t>
            </a:r>
          </a:p>
          <a:p xmlns:a="http://schemas.openxmlformats.org/drawingml/2006/main">
            <a:r>
              <a:t>Sentinel: Customized Holybro X500 V2, Jetson Nano 4 GB, Pixhawk 6C and Intel RealSense D435i.</a:t>
            </a:r>
          </a:p>
          <a:p xmlns:a="http://schemas.openxmlformats.org/drawingml/2006/main">
            <a:r>
              <a:t>Scout: ModalAI PX4 development platform with VOXL 2 and an onboard high-resolution camera. The formal September service run used the tracking stream, not 4K hires inference.</a:t>
            </a:r>
          </a:p>
          <a:p xmlns:a="http://schemas.openxmlformats.org/drawingml/2006/main">
            <a:r>
              <a:t>Temporal filter: Three consecutive qualifying frames trigger an alert. This suppresses isolated detections but introduces a persistence delay. The thesis did not quantify its net accuracy benefit with a completed common-input ablation.</a:t>
            </a:r>
          </a:p>
          <a:p xmlns:a="http://schemas.openxmlformats.org/drawingml/2006/main">
            <a:r>
              <a:t>Verdict and event_id: A verdict is the Scout's confirmation, rejection or error result. Its event_id links it to the correct alert.</a:t>
            </a:r>
          </a:p>
          <a:p xmlns:a="http://schemas.openxmlformats.org/drawingml/2006/main">
            <a:r>
              <a:t>Camera scope: D435i includes stereo and inertial hardware, but this experiment evaluated RGB inference. Depth localization and indoor navigation remain separate work.</a:t>
            </a:r>
          </a:p>
          <a:p xmlns:a="http://schemas.openxmlformats.org/drawingml/2006/main">
            <a:r>
              <a:t>SHORT ANSWER IF ASKED</a:t>
            </a:r>
          </a:p>
          <a:p xmlns:a="http://schemas.openxmlformats.org/drawingml/2006/main">
            <a:r>
              <a:t>The hardware supports the proposed division of roles. Payload, compactness and viewpoint are design motivations, not measured proof of better endurance or maneuverability.</a:t>
            </a:r>
          </a:p>
          <a:p xmlns:a="http://schemas.openxmlformats.org/drawingml/2006/main">
            <a:r>
              <a:t>SOURCES</a:t>
            </a:r>
          </a:p>
          <a:p xmlns:a="http://schemas.openxmlformats.org/drawingml/2006/main">
            <a:r>
              <a:t>thesis_review/chapters/03_architecture.tex</a:t>
            </a:r>
          </a:p>
          <a:p xmlns:a="http://schemas.openxmlformats.org/drawingml/2006/main">
            <a:r>
              <a:t>thesis_review/chapters/05_implementation.tex</a:t>
            </a:r>
          </a:p>
          <a:p xmlns:a="http://schemas.openxmlformats.org/drawingml/2006/main">
            <a:r>
              <a:t>defense_presentation/source_evidence_manifest.md</a:t>
            </a:r>
          </a:p>
          <a:p xmlns:a="http://schemas.openxmlformats.org/drawingml/2006/main">
            <a:r>
              <a:t>thesis_review/chapters/05_implementation.tex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0:45</a:t>
            </a:r>
          </a:p>
          <a:p xmlns:a="http://schemas.openxmlformats.org/drawingml/2006/main">
            <a:r>
              <a:t>SPOKEN PASSAGE</a:t>
            </a:r>
          </a:p>
          <a:p xmlns:a="http://schemas.openxmlformats.org/drawingml/2006/main">
            <a:r>
              <a:t>Three qualifying Sentinel observations create an alert with an event identifier. Scout checks a fresh local frame and returns a verdict with the same identifier. The coordinator emits one terminal decision. Five injected events completed through timeout. All ten post-timeout verdicts were rejected, with zero additional decisions. Separate missing-frame and stale-stream trials each returned five explicit errors without verification on invalid inputs. These are measured software safeguards on stationary hardware.</a:t>
            </a:r>
          </a:p>
          <a:p xmlns:a="http://schemas.openxmlformats.org/drawingml/2006/main">
            <a:r>
              <a:t>PRIVATE DELIVERY CUE</a:t>
            </a:r>
          </a:p>
          <a:p xmlns:a="http://schemas.openxmlformats.org/drawingml/2006/main">
            <a:r>
              <a:t>Follow the sequence down the left, then point to the right-hand counts. Injection bypassed the vision trigger. State that invalid input produces ERROR, not an ordinary negative verdict.</a:t>
            </a:r>
          </a:p>
          <a:p xmlns:a="http://schemas.openxmlformats.org/drawingml/2006/main">
            <a:r>
              <a:t>PRIVATE STUDY NOTES</a:t>
            </a:r>
          </a:p>
          <a:p xmlns:a="http://schemas.openxmlformats.org/drawingml/2006/main">
            <a:r>
              <a:t>event_id: Opaque identifier joining one alert, verdict and terminal decision. It is not a target coordinate.</a:t>
            </a:r>
          </a:p>
          <a:p xmlns:a="http://schemas.openxmlformats.org/drawingml/2006/main">
            <a:r>
              <a:t>Temporal filter: Three consecutive qualifying inference observations. It rejects isolated observations by design, but its accuracy benefit was not quantified by a common-input ablation.</a:t>
            </a:r>
          </a:p>
          <a:p xmlns:a="http://schemas.openxmlformats.org/drawingml/2006/main">
            <a:r>
              <a:t>Idempotence: Repeated or late messages do not create additional terminal decisions for an already finalized event.</a:t>
            </a:r>
          </a:p>
          <a:p xmlns:a="http://schemas.openxmlformats.org/drawingml/2006/main">
            <a:r>
              <a:t>Timeout trial: Five synthetic detections injected at the dispatch boundary on the deployed Sentinel node. Scout process was absent. Ten CONFIRMED messages arrived only after final TIMEOUT.</a:t>
            </a:r>
          </a:p>
          <a:p xmlns:a="http://schemas.openxmlformats.org/drawingml/2006/main">
            <a:r>
              <a:t>Fail-closed behavior: Missing or stale evidence yields ERROR or TIMEOUT rather than an unverified CONFIRMED decision. This does not prove overall operational safety.</a:t>
            </a:r>
          </a:p>
          <a:p xmlns:a="http://schemas.openxmlformats.org/drawingml/2006/main">
            <a:r>
              <a:t>SHORT ANSWER IF ASKED</a:t>
            </a:r>
          </a:p>
          <a:p xmlns:a="http://schemas.openxmlformats.org/drawingml/2006/main">
            <a:r>
              <a:t>The measured result is specific containment of injected late, duplicate and missing-input cases. It is not proof of natural network recovery or universal reliability.</a:t>
            </a:r>
          </a:p>
          <a:p xmlns:a="http://schemas.openxmlformats.org/drawingml/2006/main">
            <a:r>
              <a:t>SOURCES</a:t>
            </a:r>
          </a:p>
          <a:p xmlns:a="http://schemas.openxmlformats.org/drawingml/2006/main">
            <a:r>
              <a:t>thesis_review/chapters/05_implementation.tex</a:t>
            </a:r>
          </a:p>
          <a:p xmlns:a="http://schemas.openxmlformats.org/drawingml/2006/main">
            <a:r>
              <a:t>docs/M7_DELAYED_DUPLICATE_VERDICT_FAULT_20260928.md</a:t>
            </a:r>
          </a:p>
          <a:p xmlns:a="http://schemas.openxmlformats.org/drawingml/2006/main">
            <a:r>
              <a:t>docs/M7_SCOUT_PROCESS_UNAVAILABLE_FAULT_20260928.md</a:t>
            </a:r>
          </a:p>
          <a:p xmlns:a="http://schemas.openxmlformats.org/drawingml/2006/main">
            <a:r>
              <a:t>docs/M7_SCOUT_CAMERA_INTERFACE_FAULT_20260928.md</a:t>
            </a:r>
          </a:p>
          <a:p xmlns:a="http://schemas.openxmlformats.org/drawingml/2006/main">
            <a:r>
              <a:t>docs/M7_SCOUT_STALE_STREAM_FAULT_20260928.md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0:35</a:t>
            </a:r>
          </a:p>
          <a:p xmlns:a="http://schemas.openxmlformats.org/drawingml/2006/main">
            <a:r>
              <a:t>SPOKEN PASSAGE</a:t>
            </a:r>
          </a:p>
          <a:p xmlns:a="http://schemas.openxmlformats.org/drawingml/2006/main">
            <a:r>
              <a:t>The key finding is ranking instability. EfficientDet moved from last on validation to first on test. A validation winner therefore did not remain the test winner. The earlier YOLO deployments remained the implemented and measured device paths. This comparison supports an evidence-based trade-off study, but it does not establish the best model for either computer.</a:t>
            </a:r>
          </a:p>
          <a:p xmlns:a="http://schemas.openxmlformats.org/drawingml/2006/main">
            <a:r>
              <a:t>PRIVATE DELIVERY CUE</a:t>
            </a:r>
          </a:p>
          <a:p xmlns:a="http://schemas.openxmlformats.org/drawingml/2006/main">
            <a:r>
              <a:t>Emphasize the ranking reversal rather than narrating dataset counts or every bar. Leave exact counts for readers and questions. Transition to the measured device implementations.</a:t>
            </a:r>
          </a:p>
          <a:p xmlns:a="http://schemas.openxmlformats.org/drawingml/2006/main">
            <a:r>
              <a:t>PRIVATE STUDY NOTES</a:t>
            </a:r>
          </a:p>
          <a:p xmlns:a="http://schemas.openxmlformats.org/drawingml/2006/main">
            <a:r>
              <a:t>Orange / blue bars: Orange represents validation AP and blue represents held-out test AP. On this slide colors identify splits, not UAVs.</a:t>
            </a:r>
          </a:p>
          <a:p xmlns:a="http://schemas.openxmlformats.org/drawingml/2006/main">
            <a:r>
              <a:t>IoU: Intersection over Union: predicted-box intersection area divided by union area with the labelled box.</a:t>
            </a:r>
          </a:p>
          <a:p xmlns:a="http://schemas.openxmlformats.org/drawingml/2006/main">
            <a:r>
              <a:t>AP50-95: Average precision averaged over ten IoU thresholds from 0.50 to 0.95. Values range from 0 to 1 and higher is better.</a:t>
            </a:r>
          </a:p>
          <a:p xmlns:a="http://schemas.openxmlformats.org/drawingml/2006/main">
            <a:r>
              <a:t>Grouped split: Related source families remain in one split to reduce leakage. The audit reduced leakage risk without proving complete independence.</a:t>
            </a:r>
          </a:p>
          <a:p xmlns:a="http://schemas.openxmlformats.org/drawingml/2006/main">
            <a:r>
              <a:t>Single seed: Each candidate used one controlled training seed, so training-run variability was not estimated.</a:t>
            </a:r>
          </a:p>
          <a:p xmlns:a="http://schemas.openxmlformats.org/drawingml/2006/main">
            <a:r>
              <a:t>SHORT ANSWER IF ASKED</a:t>
            </a:r>
          </a:p>
          <a:p xmlns:a="http://schemas.openxmlformats.org/drawingml/2006/main">
            <a:r>
              <a:t>The six-model study measured predictive behavior. It did not establish the best detector for either computer because the full candidate/device matrix was incomplete.</a:t>
            </a:r>
          </a:p>
          <a:p xmlns:a="http://schemas.openxmlformats.org/drawingml/2006/main">
            <a:r>
              <a:t>SOURCES</a:t>
            </a:r>
          </a:p>
          <a:p xmlns:a="http://schemas.openxmlformats.org/drawingml/2006/main">
            <a:r>
              <a:t>thesis_review/chapters/04_data-models.tex</a:t>
            </a:r>
          </a:p>
          <a:p xmlns:a="http://schemas.openxmlformats.org/drawingml/2006/main">
            <a:r>
              <a:t>thesis_review/chapters/07_results.tex</a:t>
            </a:r>
          </a:p>
          <a:p xmlns:a="http://schemas.openxmlformats.org/drawingml/2006/main">
            <a:r>
              <a:t>docs/MODEL_SELECTION_FREEZE_20260809.md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0:55</a:t>
            </a:r>
          </a:p>
          <a:p xmlns:a="http://schemas.openxmlformats.org/drawingml/2006/main">
            <a:r>
              <a:t>SPOKEN PASSAGE</a:t>
            </a:r>
          </a:p>
          <a:p xmlns:a="http://schemas.openxmlformats.org/drawingml/2006/main">
            <a:r>
              <a:t>Replacing Python loops with vectorized NumPy decoding reduced Sentinel decoding from about one hundred forty-nine milliseconds to one point three. Complete pipeline time fell from two hundred four to fifty-seven milliseconds, a seventy-two percent reduction in that separate experiment. The later deployment benchmark averaged fifty-eight point two milliseconds on Sentinel and nine hundred ninety-nine on Scout, over one hundred measured iterations each. P95 means ninety-five percent of executions completed within that time. TensorRT FP16 supported Jetson screening, while TFLite provided the implemented Scout verification path.</a:t>
            </a:r>
          </a:p>
          <a:p xmlns:a="http://schemas.openxmlformats.org/drawingml/2006/main">
            <a:r>
              <a:t>PRIVATE DELIVERY CUE</a:t>
            </a:r>
          </a:p>
          <a:p xmlns:a="http://schemas.openxmlformats.org/drawingml/2006/main">
            <a:r>
              <a:t>Point to the before/after bars first, then to the separate deployment figures. These are two experiments with different protocols. Leave precise decimals on screen rather than reading every digit.</a:t>
            </a:r>
          </a:p>
          <a:p xmlns:a="http://schemas.openxmlformats.org/drawingml/2006/main">
            <a:r>
              <a:t>PRIVATE STUDY NOTES</a:t>
            </a:r>
          </a:p>
          <a:p xmlns:a="http://schemas.openxmlformats.org/drawingml/2006/main">
            <a:r>
              <a:t>Vectorization: NumPy processes many candidate boxes together instead of repeatedly indexing each anchor in Python.</a:t>
            </a:r>
          </a:p>
          <a:p xmlns:a="http://schemas.openxmlformats.org/drawingml/2006/main">
            <a:r>
              <a:t>72.1% reduction: 100 x (204.324 - 57.049) / 204.324 = 72.079%. This describes mean complete-pipeline time in serial historical runs, not an accuracy increase or an isolated GPU speedup.</a:t>
            </a:r>
          </a:p>
          <a:p xmlns:a="http://schemas.openxmlformats.org/drawingml/2006/main">
            <a:r>
              <a:t>Backend pipeline: Preprocessing, runtime execution and decoding. The benchmark excludes camera capture, ROS 2 and event coordination.</a:t>
            </a:r>
          </a:p>
          <a:p xmlns:a="http://schemas.openxmlformats.org/drawingml/2006/main">
            <a:r>
              <a:t>TensorRT / FP16: NVIDIA inference runtime; FP16 uses 16-bit floating-point values. The final Sentinel engine is 640 x 640, distinct from an earlier 416 engine.</a:t>
            </a:r>
          </a:p>
          <a:p xmlns:a="http://schemas.openxmlformats.org/drawingml/2006/main">
            <a:r>
              <a:t>TFLite / ONNX: TFLite is the model format/runtime used by the Scout path. ONNX is the portable exchange format used for candidate exports and fidelity checks.</a:t>
            </a:r>
          </a:p>
          <a:p xmlns:a="http://schemas.openxmlformats.org/drawingml/2006/main">
            <a:r>
              <a:t>p95: 95% of observations complete at or below this measured latency. It is a percentile, not a confidence interval.</a:t>
            </a:r>
          </a:p>
          <a:p xmlns:a="http://schemas.openxmlformats.org/drawingml/2006/main">
            <a:r>
              <a:t>SHORT ANSWER IF ASKED</a:t>
            </a:r>
          </a:p>
          <a:p xmlns:a="http://schemas.openxmlformats.org/drawingml/2006/main">
            <a:r>
              <a:t>The measured YOLO implementations matched the intended roles. The later screening did not select universal winners. Higher-capacity YOLOv8s does not automatically imply higher measured accuracy.</a:t>
            </a:r>
          </a:p>
          <a:p xmlns:a="http://schemas.openxmlformats.org/drawingml/2006/main">
            <a:r>
              <a:t>SOURCES</a:t>
            </a:r>
          </a:p>
          <a:p xmlns:a="http://schemas.openxmlformats.org/drawingml/2006/main">
            <a:r>
              <a:t>docs/M2_DECODER_OPTIMIZATION_20260729.md</a:t>
            </a:r>
          </a:p>
          <a:p xmlns:a="http://schemas.openxmlformats.org/drawingml/2006/main">
            <a:r>
              <a:t>docs/M4_HARDWARE_LAB_20260803.md</a:t>
            </a:r>
          </a:p>
          <a:p xmlns:a="http://schemas.openxmlformats.org/drawingml/2006/main">
            <a:r>
              <a:t>thesis_review/chapters/07_results.tex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0:50</a:t>
            </a:r>
          </a:p>
          <a:p xmlns:a="http://schemas.openxmlformats.org/drawingml/2006/main">
            <a:r>
              <a:t>SPOKEN PASSAGE</a:t>
            </a:r>
          </a:p>
          <a:p xmlns:a="http://schemas.openxmlformats.org/drawingml/2006/main">
            <a:r>
              <a:t>Both computers ran the full stationary service stack for more than thirty minutes. Sentinel processed over thirty thousand frames without a recorded crash, out-of-memory termination or thermal shutdown. These plots show how CPU, memory, temperature and swap behaved under the shared workload. Temperatures stayed below fifty-two degrees Celsius, and Sentinel retained about one and a half gibibytes of available memory. These measurements demonstrate sustained service coexistence under the tested conditions.</a:t>
            </a:r>
          </a:p>
          <a:p xmlns:a="http://schemas.openxmlformats.org/drawingml/2006/main">
            <a:r>
              <a:t>PRIVATE DELIVERY CUE</a:t>
            </a:r>
          </a:p>
          <a:p xmlns:a="http://schemas.openxmlformats.org/drawingml/2006/main">
            <a:r>
              <a:t>Point across the four plots without narrating the averaging or raw-extrema method. Exact values and the display method stay on the slide and in the private definitions. Orange is Sentinel and blue is Scout. Retain the latency and swap qualification in the conclusion.</a:t>
            </a:r>
          </a:p>
          <a:p xmlns:a="http://schemas.openxmlformats.org/drawingml/2006/main">
            <a:r>
              <a:t>PRIVATE STUDY NOTES</a:t>
            </a:r>
          </a:p>
          <a:p xmlns:a="http://schemas.openxmlformats.org/drawingml/2006/main">
            <a:r>
              <a:t>One-minute mean: For each device and metric, sum all finite observations in a non-overlapping 60 s elapsed bin and divide by their count. No observation is removed for being large. The final bin is partial and device monotonic origins are separate.</a:t>
            </a:r>
          </a:p>
          <a:p xmlns:a="http://schemas.openxmlformats.org/drawingml/2006/main">
            <a:r>
              <a:t>CPU and available memory: Host-wide CPU percentage and Linux MemAvailable in MiB. The raw Sentinel minimum is 1589.89453125 MiB, displayed rounded to 1590. The chart shows bin means, not raw minima.</a:t>
            </a:r>
          </a:p>
          <a:p xmlns:a="http://schemas.openxmlformats.org/drawingml/2006/main">
            <a:r>
              <a:t>Temperature: The maximum valid thermal-zone value within each sample, then averaged over time. Values &gt;=1 and &lt;120 C follow the existing renderer. Raw maxima remain 51.0 C and 48.2 C.</a:t>
            </a:r>
          </a:p>
          <a:p xmlns:a="http://schemas.openxmlformats.org/drawingml/2006/main">
            <a:r>
              <a:t>Swap trace: Unaveraged swap in MiB. Redundant interiors of constant segments are removed losslessly. The final Sentinel increase is 0.921875 MiB, displayed +0.922. It is not filtered away.</a:t>
            </a:r>
          </a:p>
          <a:p xmlns:a="http://schemas.openxmlformats.org/drawingml/2006/main">
            <a:r>
              <a:t>Original evidence and acceptance: One-minute averaging is for visual readability only. Original sample counts, peaks, memory minima, the unmet no-swap-growth criterion and the Scout p95 2.618 s result remain unchanged. The valid 36-event probe covers only the final three minutes.</a:t>
            </a:r>
          </a:p>
          <a:p xmlns:a="http://schemas.openxmlformats.org/drawingml/2006/main">
            <a:r>
              <a:t>SHORT ANSWER IF ASKED</a:t>
            </a:r>
          </a:p>
          <a:p xmlns:a="http://schemas.openxmlformats.org/drawingml/2006/main">
            <a:r>
              <a:t>This is descriptive smoothing of CPU, memory and temperature, not statistical normalization or evidence of universal stability. Swap remains raw because its endpoint change affects the acceptance result.</a:t>
            </a:r>
          </a:p>
          <a:p xmlns:a="http://schemas.openxmlformats.org/drawingml/2006/main">
            <a:r>
              <a:t>SOURCES</a:t>
            </a:r>
          </a:p>
          <a:p xmlns:a="http://schemas.openxmlformats.org/drawingml/2006/main">
            <a:r>
              <a:t>docs/M6_FULL_SERVICE_ENDURANCE_20260929.md</a:t>
            </a:r>
          </a:p>
          <a:p xmlns:a="http://schemas.openxmlformats.org/drawingml/2006/main">
            <a:r>
              <a:t>artifacts/experiments/hardware_full_service_20260929/derived/full_service_summary.json</a:t>
            </a:r>
          </a:p>
          <a:p xmlns:a="http://schemas.openxmlformats.org/drawingml/2006/main">
            <a:r>
              <a:t>artifacts/experiments/hardware_full_service_20260929/extracted/full_service/control/fullstack-20260929-r2/resources/resource_samples.jsonl</a:t>
            </a:r>
          </a:p>
          <a:p xmlns:a="http://schemas.openxmlformats.org/drawingml/2006/main">
            <a:r>
              <a:t>artifacts/experiments/hardware_full_service_20260929/extracted/full_service_20260929/control/fullstack-20260929-r2/resources/resource_samples.jsonl</a:t>
            </a:r>
          </a:p>
          <a:p xmlns:a="http://schemas.openxmlformats.org/drawingml/2006/main">
            <a:r>
              <a:t>tools/render_full_service_endurance.py</a:t>
            </a:r>
          </a:p>
          <a:p xmlns:a="http://schemas.openxmlformats.org/drawingml/2006/main">
            <a:r>
              <a:t>defense_presentation/Jahanimajd_Thesis_Defense_v22_7min_Resource_Display_Data.json</a:t>
            </a:r>
          </a:p>
          <a:p xmlns:a="http://schemas.openxmlformats.org/drawingml/2006/main">
            <a:r>
              <a:t>thesis_review/figures/full_service_resource_timeseries_20260929.png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0:50</a:t>
            </a:r>
          </a:p>
          <a:p xmlns:a="http://schemas.openxmlformats.org/drawingml/2006/main">
            <a:r>
              <a:t>SPOKEN PASSAGE</a:t>
            </a:r>
          </a:p>
          <a:p xmlns:a="http://schemas.openxmlformats.org/drawingml/2006/main">
            <a:r>
              <a:t>Here, one physical event is traced from Sentinel to Scout and back across SwarmNet. After three qualifying observations, Sentinel published an alert. Scout independently checked its own camera frame, returned a matching verdict, and the coordinator confirmed the event in about one and a half seconds. Separately, the loaded messaging test delivered all one thousand replies, with a p95 round trip of about eight milliseconds. These are bounded stationary results.</a:t>
            </a:r>
          </a:p>
          <a:p xmlns:a="http://schemas.openxmlformats.org/drawingml/2006/main">
            <a:r>
              <a:t>PRIVATE DELIVERY CUE</a:t>
            </a:r>
          </a:p>
          <a:p xmlns:a="http://schemas.openxmlformats.org/drawingml/2006/main">
            <a:r>
              <a:t>Explain the shared event identifier and completed wireless workflow rather than reading the two confidence scores. Use rounded spoken timing. The exact values stay onscreen. The blue rectangle is an editorial flame highlight, not a retained detector box. No Sentinel camera image survives for this event.</a:t>
            </a:r>
          </a:p>
          <a:p xmlns:a="http://schemas.openxmlformats.org/drawingml/2006/main">
            <a:r>
              <a:t>PRIVATE STUDY NOTES</a:t>
            </a:r>
          </a:p>
          <a:p xmlns:a="http://schemas.openxmlformats.org/drawingml/2006/main">
            <a:r>
              <a:t>Matched event: Full event_id 3b317f947f314ca38998bd2ab52ddb3e. Sentinel alert, Scout receipt, inference, verdict and final decision share that identifier. Trial full-postfix-positive-08.</a:t>
            </a:r>
          </a:p>
          <a:p xmlns:a="http://schemas.openxmlformats.org/drawingml/2006/main">
            <a:r>
              <a:t>Confidence scores: Live logs record Sentinel 0.17441028356552124 and Scout 0.6801431775093079. Different models, views and score distributions make a numerical increase insufficient to prove increased accuracy. This event is an illustrative selected case.</a:t>
            </a:r>
          </a:p>
          <a:p xmlns:a="http://schemas.openxmlformats.org/drawingml/2006/main">
            <a:r>
              <a:t>1.471 s: (449113356130178 - 449111884736995) / 1e9 = 1.471393183 s. Both timestamps come from the Sentinel monotonic clock. This excludes ignition-to-detection time.</a:t>
            </a:r>
          </a:p>
          <a:p xmlns:a="http://schemas.openxmlformats.org/drawingml/2006/main">
            <a:r>
              <a:t>Crop and annotation: The image is the original hash-verified Scout JPEG, cropped only for display. The outline manually highlights the visible flame. The event logs did not retain Scout predicted-box coordinates. No Sentinel image is fabricated or relabelled.</a:t>
            </a:r>
          </a:p>
          <a:p xmlns:a="http://schemas.openxmlformats.org/drawingml/2006/main">
            <a:r>
              <a:t>Functional and network counts: 13/13 applies to the marked strong-flame interval. 0/6 applies to direct unlit Scout requests bypassing Sentinel. 1,000/1,000 and p95 7.984 ms belong to a separate loaded messaging run, not this flame event.</a:t>
            </a:r>
          </a:p>
          <a:p xmlns:a="http://schemas.openxmlformats.org/drawingml/2006/main">
            <a:r>
              <a:t>SHORT ANSWER IF ASKED</a:t>
            </a:r>
          </a:p>
          <a:p xmlns:a="http://schemas.openxmlformats.org/drawingml/2006/main">
            <a:r>
              <a:t>This is traceable physical proof of the two-node request-verdict-decision path. It does not show a pair of retained camera images, a calibrated confidence gain, population accuracy, perfect performance or integrated physical flight.</a:t>
            </a:r>
          </a:p>
          <a:p xmlns:a="http://schemas.openxmlformats.org/drawingml/2006/main">
            <a:r>
              <a:t>SOURCES</a:t>
            </a:r>
          </a:p>
          <a:p xmlns:a="http://schemas.openxmlformats.org/drawingml/2006/main">
            <a:r>
              <a:t>docs/M4_HARDWARE_LAB_20260803.md</a:t>
            </a:r>
          </a:p>
          <a:p xmlns:a="http://schemas.openxmlformats.org/drawingml/2006/main">
            <a:r>
              <a:t>docs/M7_LOADED_ROS2_ROUNDTRIP_20260928.md</a:t>
            </a:r>
          </a:p>
          <a:p xmlns:a="http://schemas.openxmlformats.org/drawingml/2006/main">
            <a:r>
              <a:t>artifacts/experiments/hardware_lab_20260803/raw/full_nodes/full-postfix-positive-08/sentinel/events.jsonl</a:t>
            </a:r>
          </a:p>
          <a:p xmlns:a="http://schemas.openxmlformats.org/drawingml/2006/main">
            <a:r>
              <a:t>artifacts/experiments/hardware_lab_20260803/raw/full_nodes/full-postfix-positive-08/scout/events.jsonl</a:t>
            </a:r>
          </a:p>
          <a:p xmlns:a="http://schemas.openxmlformats.org/drawingml/2006/main">
            <a:r>
              <a:t>artifacts/experiments/hardware_lab_20260803/raw/diagnostic_frames/full-postfix-positive-08/full-postfix-positive-08_3b317f947f314ca38998bd2ab52ddb3e.jpg</a:t>
            </a:r>
          </a:p>
          <a:p xmlns:a="http://schemas.openxmlformats.org/drawingml/2006/main">
            <a:r>
              <a:t>defense_presentation/Jahanimajd_Thesis_Defense_v22_7min_Slide7_Evidence.json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1:05</a:t>
            </a:r>
          </a:p>
          <a:p xmlns:a="http://schemas.openxmlformats.org/drawingml/2006/main">
            <a:r>
              <a:t>SPOKEN PASSAGE</a:t>
            </a:r>
          </a:p>
          <a:p xmlns:a="http://schemas.openxmlformats.org/drawingml/2006/main">
            <a:r>
              <a:t>ROS 2 commands and PX4 telemetry drove this simulated mission, with a four-point-five-</a:t>
            </a:r>
            <a:r>
              <a:t>metre</a:t>
            </a:r>
            <a:r>
              <a:t> Scout standoff. The scenario supplied the trigger, coordinates and verdict. [Watch the clip.] Both vehicles finished landed and disarmed in the log. Fault testing exposed an incorrect Scout takeoff state. Corrected lost-alert and unavailable-Scout reruns issued zero Scout flight commands and reached their specified safe outcomes. </a:t>
            </a:r>
          </a:p>
          <a:p xmlns:a="http://schemas.openxmlformats.org/drawingml/2006/main">
            <a:r>
              <a:t>PRIVATE DELIVERY CUE</a:t>
            </a:r>
          </a:p>
          <a:p xmlns:a="http://schemas.openxmlformats.org/drawingml/2006/main">
            <a:r>
              <a:t>Start speaking as the GIF begins. Pause at [Watch the clip.] and let the complete 31.8-second GIF finish, then finish the passage. The 65-second target allows the full clip plus narration. Do not replay the GIF during the timed talk.</a:t>
            </a:r>
          </a:p>
          <a:p xmlns:a="http://schemas.openxmlformats.org/drawingml/2006/main">
            <a:r>
              <a:t>PRIVATE STUDY NOTES</a:t>
            </a:r>
          </a:p>
          <a:p xmlns:a="http://schemas.openxmlformats.org/drawingml/2006/main">
            <a:r>
              <a:t>SITL: Software in the Loop: real PX4 flight-control software runs against simulated vehicle physics and sensors.</a:t>
            </a:r>
          </a:p>
          <a:p xmlns:a="http://schemas.openxmlformats.org/drawingml/2006/main">
            <a:r>
              <a:t>ROS 2 coordinator: One simulator mission node sends </a:t>
            </a:r>
            <a:r>
              <a:t>namespaced</a:t>
            </a:r>
            <a:r>
              <a:t> offboard setpoints and commands and reads each PX4 instance's position, state and acknowledgements.</a:t>
            </a:r>
          </a:p>
          <a:p xmlns:a="http://schemas.openxmlformats.org/drawingml/2006/main">
            <a:r>
              <a:t>Scenario truth: JSON provides hazard trigger, local-ENU target and expected verdict. The simulation does not run YOLO on Gazebo camera images to generate them.</a:t>
            </a:r>
          </a:p>
          <a:p xmlns:a="http://schemas.openxmlformats.org/drawingml/2006/main">
            <a:r>
              <a:t>4.5 m standoff: Commanded horizontal distance between the scenario hazard and Scout target setpoint; it is not a measured real-world safety distance.</a:t>
            </a:r>
          </a:p>
          <a:p xmlns:a="http://schemas.openxmlformats.org/drawingml/2006/main">
            <a:r>
              <a:t>Proxy airframes: Orange Sentinel and blue Scout are visually distinct provisional models. Both inherit X500 dynamics; they are not calibrated replicas of the actual platforms.</a:t>
            </a:r>
          </a:p>
          <a:p xmlns:a="http://schemas.openxmlformats.org/drawingml/2006/main">
            <a:r>
              <a:t>214.253 s: Elapsed mission-node time until both vehicles were landed and disarmed in the accepted v17 run. Edited presentation playback has a different duration.</a:t>
            </a:r>
          </a:p>
          <a:p xmlns:a="http://schemas.openxmlformats.org/drawingml/2006/main">
            <a:r>
              <a:t>Fault correction: The old logic assigned TAKEOFF before dispatch eligibility. The correction keeps the unavailable or </a:t>
            </a:r>
            <a:r>
              <a:t>undispatched</a:t>
            </a:r>
            <a:r>
              <a:t> Scout out of that false state; the reruns retained zero Scout commands.</a:t>
            </a:r>
          </a:p>
          <a:p xmlns:a="http://schemas.openxmlformats.org/drawingml/2006/main">
            <a:r>
              <a:t>SHORT ANSWER IF ASKED</a:t>
            </a:r>
          </a:p>
          <a:p xmlns:a="http://schemas.openxmlformats.org/drawingml/2006/main">
            <a:r>
              <a:t>The simulation demonstrates executable mission control with PX4 and ROS 2 under modeled conditions. The full closed loop from simulated camera inference to flight response remains untested. Alarm publication and disarming are supported by logs, not by the GIF alone.</a:t>
            </a:r>
          </a:p>
          <a:p xmlns:a="http://schemas.openxmlformats.org/drawingml/2006/main">
            <a:r>
              <a:t>SOURCES</a:t>
            </a:r>
          </a:p>
          <a:p xmlns:a="http://schemas.openxmlformats.org/drawingml/2006/main">
            <a:r>
              <a:t>docs/M8_DUAL_PX4_VISUAL_MISSION_20260930.md</a:t>
            </a:r>
          </a:p>
          <a:p xmlns:a="http://schemas.openxmlformats.org/drawingml/2006/main">
            <a:r>
              <a:t>docs/M3_FAULT_AND_VISUAL_EVIDENCE_20260813.md</a:t>
            </a:r>
          </a:p>
          <a:p xmlns:a="http://schemas.openxmlformats.org/drawingml/2006/main">
            <a:r>
              <a:t>tools/px4_sim_hierarchical_mission.py</a:t>
            </a:r>
          </a:p>
          <a:p xmlns:a="http://schemas.openxmlformats.org/drawingml/2006/main">
            <a:r>
              <a:t>config/simulation_scenarios_visual_v3.json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0:35</a:t>
            </a:r>
          </a:p>
          <a:p xmlns:a="http://schemas.openxmlformats.org/drawingml/2006/main">
            <a:r>
              <a:t>SPOKEN PASSAGE</a:t>
            </a:r>
          </a:p>
          <a:p xmlns:a="http://schemas.openxmlformats.org/drawingml/2006/main">
            <a:r>
              <a:t>The contribution is a working onboard prototype with traceable decisions, measured safeguards and faster Sentinel processing. ROS 2 and PX4 also executed the simulated mission. Limits remain: small flame one of ten, Scout latency above target, slight swap growth, and no physical-flight or industrial-site validation. Next steps are controlled accuracy tests and external evaluation. Thank you.</a:t>
            </a:r>
          </a:p>
          <a:p xmlns:a="http://schemas.openxmlformats.org/drawingml/2006/main">
            <a:r>
              <a:t>PRIVATE DELIVERY CUE</a:t>
            </a:r>
          </a:p>
          <a:p xmlns:a="http://schemas.openxmlformats.org/drawingml/2006/main">
            <a:r>
              <a:t>Finish the conclusion by 6:40 and reach Questions by 6:45. The hard ceiling is 7:00, leaving only 15 seconds of buffer.</a:t>
            </a:r>
          </a:p>
          <a:p xmlns:a="http://schemas.openxmlformats.org/drawingml/2006/main">
            <a:r>
              <a:t>PRIVATE STUDY NOTES</a:t>
            </a:r>
          </a:p>
          <a:p xmlns:a="http://schemas.openxmlformats.org/drawingml/2006/main">
            <a:r>
              <a:t>What was integrated: Stationary physical camera inference and ROS 2 coordination were measured. Simulation separately exercised aerial mission orchestration through PX4.</a:t>
            </a:r>
          </a:p>
          <a:p xmlns:a="http://schemas.openxmlformats.org/drawingml/2006/main">
            <a:r>
              <a:t>Next validation: Measure the accuracy benefit with identical inputs, accelerate Scout verification, complete external evaluation and integrate vision with aerial mission control.</a:t>
            </a:r>
          </a:p>
          <a:p xmlns:a="http://schemas.openxmlformats.org/drawingml/2006/main">
            <a:r>
              <a:t>Claim boundary: No integrated physical flight, industrial-site validation, physical smoke validation or vision-derived geographic localization is claimed.</a:t>
            </a:r>
          </a:p>
          <a:p xmlns:a="http://schemas.openxmlformats.org/drawingml/2006/main">
            <a:r>
              <a:t>SHORT ANSWER IF ASKED</a:t>
            </a:r>
          </a:p>
          <a:p xmlns:a="http://schemas.openxmlformats.org/drawingml/2006/main">
            <a:r>
              <a:t>This is a measured engineering prototype, with separately bounded perception, communication, service-coexistence and simulation evidence. Those results support the contribution without claiming operational industrial reliability.</a:t>
            </a:r>
          </a:p>
          <a:p xmlns:a="http://schemas.openxmlformats.org/drawingml/2006/main">
            <a:r>
              <a:t>SOURCES</a:t>
            </a:r>
          </a:p>
          <a:p xmlns:a="http://schemas.openxmlformats.org/drawingml/2006/main">
            <a:r>
              <a:t>thesis_review/chapters/08_discussion.tex</a:t>
            </a:r>
          </a:p>
          <a:p xmlns:a="http://schemas.openxmlformats.org/drawingml/2006/main">
            <a:r>
              <a:t>thesis_review/chapters/09_conclusion.tex</a:t>
            </a:r>
          </a:p>
          <a:p xmlns:a="http://schemas.openxmlformats.org/drawingml/2006/main">
            <a:r>
              <a:t>docs/REMAINING_TASK_DISPOSITION_20260930.md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0:05</a:t>
            </a:r>
          </a:p>
          <a:p xmlns:a="http://schemas.openxmlformats.org/drawingml/2006/main">
            <a:r>
              <a:t>SPOKEN PASSAGE</a:t>
            </a:r>
          </a:p>
          <a:p xmlns:a="http://schemas.openxmlformats.org/drawingml/2006/main">
            <a:r>
              <a:t>I welcome your questions.</a:t>
            </a:r>
          </a:p>
          <a:p xmlns:a="http://schemas.openxmlformats.org/drawingml/2006/main">
            <a:r>
              <a:t>PRIVATE DELIVERY CUE</a:t>
            </a:r>
          </a:p>
          <a:p xmlns:a="http://schemas.openxmlformats.org/drawingml/2006/main">
            <a:r>
              <a:t>Stop the timed talk here. A1-A8 are hidden examiner references.</a:t>
            </a:r>
          </a:p>
          <a:p xmlns:a="http://schemas.openxmlformats.org/drawingml/2006/main">
            <a:r>
              <a:t>PRIVATE STUDY NOTES</a:t>
            </a:r>
          </a:p>
          <a:p xmlns:a="http://schemas.openxmlformats.org/drawingml/2006/main">
            <a:r>
              <a:t>Appendix navigation: A1 slide 11: model metrics. A2 slide 12: conversion. A3 slide 13: simulation faults. A4 slide 14: features/future. A5 slide 15: functional outcomes. A6 slide 16: late-verdict log. A7 slide 17: camera/runtime integration. A8 slide 18: network histogram/CDF.</a:t>
            </a:r>
          </a:p>
          <a:p xmlns:a="http://schemas.openxmlformats.org/drawingml/2006/main">
            <a:r>
              <a:t>SHORT ANSWER IF ASKED</a:t>
            </a:r>
          </a:p>
          <a:p xmlns:a="http://schemas.openxmlformats.org/drawingml/2006/main">
            <a:r>
              <a:t>The six-model AP graph is now main slide 4. Use hidden A1-A8 only for questions, not as a continuation of the talk.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EXAMINER REFERENCE ONLY</a:t>
            </a:r>
          </a:p>
          <a:p xmlns:a="http://schemas.openxmlformats.org/drawingml/2006/main">
            <a:r>
              <a:t>SPOKEN PASSAGE</a:t>
            </a:r>
          </a:p>
          <a:p xmlns:a="http://schemas.openxmlformats.org/drawingml/2006/main">
            <a:r>
              <a:t>This table gives the detailed predictive metrics. The test F1 intervals overlap, and the laptop runtime measurements used different execution paths. EfficientDet used CPU/XNNPACK, so its long mean time cannot be interpreted as intrinsic architectural inefficiency or a measured VOXL runtime.</a:t>
            </a:r>
          </a:p>
          <a:p xmlns:a="http://schemas.openxmlformats.org/drawingml/2006/main">
            <a:r>
              <a:t>PRIVATE DELIVERY CUE</a:t>
            </a:r>
          </a:p>
          <a:p xmlns:a="http://schemas.openxmlformats.org/drawingml/2006/main">
            <a:r>
              <a:t>Examiner reference only. Do not narrate this table during the seven-minute talk.</a:t>
            </a:r>
          </a:p>
          <a:p xmlns:a="http://schemas.openxmlformats.org/drawingml/2006/main">
            <a:r>
              <a:t>PRIVATE STUDY NOTES</a:t>
            </a:r>
          </a:p>
          <a:p xmlns:a="http://schemas.openxmlformats.org/drawingml/2006/main">
            <a:r>
              <a:t>F1: 2PR/(P+R), equivalently 2TP/(2TP+FP+FN). The decision threshold was frozen using validation.</a:t>
            </a:r>
          </a:p>
          <a:p xmlns:a="http://schemas.openxmlformats.org/drawingml/2006/main">
            <a:r>
              <a:t>Test 95% F1 CI: A grouped-bootstrap uncertainty interval using the test source groups, not a confidence score for an individual prediction.</a:t>
            </a:r>
          </a:p>
          <a:p xmlns:a="http://schemas.openxmlformats.org/drawingml/2006/main">
            <a:r>
              <a:t>Mean ms: Mean single-image inference-call latency on laptop validation inputs, not full drone decision latency.</a:t>
            </a:r>
          </a:p>
          <a:p xmlns:a="http://schemas.openxmlformats.org/drawingml/2006/main">
            <a:r>
              <a:t>EfficientDet 1263.86 ms: About 1.26 s per image on the available CPU/XNNPACK path. Other candidates had GPU-capable execution paths, so the timings are not a hardware-controlled comparison of architectures.</a:t>
            </a:r>
          </a:p>
          <a:p xmlns:a="http://schemas.openxmlformats.org/drawingml/2006/main">
            <a:r>
              <a:t>SHORT ANSWER IF ASKED</a:t>
            </a:r>
          </a:p>
          <a:p xmlns:a="http://schemas.openxmlformats.org/drawingml/2006/main">
            <a:r>
              <a:t>Predictive test ranking alone does not identify a deployable winner. A complete six-model evaluation on both edge computers is still required.</a:t>
            </a:r>
          </a:p>
          <a:p xmlns:a="http://schemas.openxmlformats.org/drawingml/2006/main">
            <a:r>
              <a:t>SOURCES</a:t>
            </a:r>
          </a:p>
          <a:p xmlns:a="http://schemas.openxmlformats.org/drawingml/2006/main">
            <a:r>
              <a:t>thesis_review/chapters/07_results.tex</a:t>
            </a:r>
          </a:p>
          <a:p xmlns:a="http://schemas.openxmlformats.org/drawingml/2006/main">
            <a:r>
              <a:t>thesis_review/chapters/06_methodology.tex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EXAMINER REFERENCE ONLY</a:t>
            </a:r>
          </a:p>
          <a:p xmlns:a="http://schemas.openxmlformats.org/drawingml/2006/main">
            <a:r>
              <a:t>SPOKEN PASSAGE</a:t>
            </a:r>
          </a:p>
          <a:p xmlns:a="http://schemas.openxmlformats.org/drawingml/2006/main">
            <a:r>
              <a:t>This calibration screen checks whether exported candidates reproduce native predictions. The historical TensorRT and TFLite deployments are separate artifacts. EfficientDet already provided the native TFLite artifact for a device attempt, so no separate conversion match rate applied to that path.</a:t>
            </a:r>
          </a:p>
          <a:p xmlns:a="http://schemas.openxmlformats.org/drawingml/2006/main">
            <a:r>
              <a:t>PRIVATE DELIVERY CUE</a:t>
            </a:r>
          </a:p>
          <a:p xmlns:a="http://schemas.openxmlformats.org/drawingml/2006/main">
            <a:r>
              <a:t>Explain match rate only if asked. Eligible for device build does not mean benchmarked on the device.</a:t>
            </a:r>
          </a:p>
          <a:p xmlns:a="http://schemas.openxmlformats.org/drawingml/2006/main">
            <a:r>
              <a:t>PRIVATE STUDY NOTES</a:t>
            </a:r>
          </a:p>
          <a:p xmlns:a="http://schemas.openxmlformats.org/drawingml/2006/main">
            <a:r>
              <a:t>ONNX: An exchange format used to transport the trained computation graph. ONNX Runtime can execute it and TensorRT can build an optimized engine where supported.</a:t>
            </a:r>
          </a:p>
          <a:p xmlns:a="http://schemas.openxmlformats.org/drawingml/2006/main">
            <a:r>
              <a:t>TFLite: A compact deployment model format and interpreter used in the Scout implementation and non-YOLO preparation.</a:t>
            </a:r>
          </a:p>
          <a:p xmlns:a="http://schemas.openxmlformats.org/drawingml/2006/main">
            <a:r>
              <a:t>Native TFLite: The EfficientDet workflow supplies a TFLite artifact directly. N/A means the particular converted-versus-native check is inapplicable, not perfect accuracy or successful hardware deployment.</a:t>
            </a:r>
          </a:p>
          <a:p xmlns:a="http://schemas.openxmlformats.org/drawingml/2006/main">
            <a:r>
              <a:t>Match rate: On 64 calibration images: one-to-one matched detections / max(native count, converted count, 1). Matching requires the same image and class plus box IoU &gt;= 0.5.</a:t>
            </a:r>
          </a:p>
          <a:p xmlns:a="http://schemas.openxmlformats.org/drawingml/2006/main">
            <a:r>
              <a:t>Fidelity gate: Match rate &gt;= 0.95 and mean absolute confidence difference &lt;= 0.02. A displayed 0.9496 remains below the frozen 0.95 threshold.</a:t>
            </a:r>
          </a:p>
          <a:p xmlns:a="http://schemas.openxmlformats.org/drawingml/2006/main">
            <a:r>
              <a:t>SHA-256: A file identity/integrity check. It does not establish numerical prediction fidelity or correctness.</a:t>
            </a:r>
          </a:p>
          <a:p xmlns:a="http://schemas.openxmlformats.org/drawingml/2006/main">
            <a:r>
              <a:t>SHORT ANSWER IF ASKED</a:t>
            </a:r>
          </a:p>
          <a:p xmlns:a="http://schemas.openxmlformats.org/drawingml/2006/main">
            <a:r>
              <a:t>The earlier measured deployments were retained for role fit and available implementations. Candidate fidelity screening did not complete a comparison of all six models on both devices.</a:t>
            </a:r>
          </a:p>
          <a:p xmlns:a="http://schemas.openxmlformats.org/drawingml/2006/main">
            <a:r>
              <a:t>SOURCES</a:t>
            </a:r>
          </a:p>
          <a:p xmlns:a="http://schemas.openxmlformats.org/drawingml/2006/main">
            <a:r>
              <a:t>tools/validate_yolo_onnx_fidelity.py</a:t>
            </a:r>
          </a:p>
          <a:p xmlns:a="http://schemas.openxmlformats.org/drawingml/2006/main">
            <a:r>
              <a:t>manifests/yolo_onnx_export_fidelity_20260813.json</a:t>
            </a:r>
          </a:p>
          <a:p xmlns:a="http://schemas.openxmlformats.org/drawingml/2006/main">
            <a:r>
              <a:t>manifests/non_yolo_deployment_preparation_20260813.json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EXAMINER REFERENCE ONLY</a:t>
            </a:r>
          </a:p>
          <a:p xmlns:a="http://schemas.openxmlformats.org/drawingml/2006/main">
            <a:r>
              <a:t>SPOKEN PASSAGE</a:t>
            </a:r>
          </a:p>
          <a:p xmlns:a="http://schemas.openxmlformats.org/drawingml/2006/main">
            <a:r>
              <a:t>Each row represents one retained simulation development pilot. The results show specific safe paths and a defect corrected through reruns. They do not provide a repeated-campaign reliability estimate or physical-flight validation.</a:t>
            </a:r>
          </a:p>
          <a:p xmlns:a="http://schemas.openxmlformats.org/drawingml/2006/main">
            <a:r>
              <a:t>PRIVATE DELIVERY CUE</a:t>
            </a:r>
          </a:p>
          <a:p xmlns:a="http://schemas.openxmlformats.org/drawingml/2006/main">
            <a:r>
              <a:t>Read only the row relevant to the examiner's question. Detailed supporting records remain in the evidence manifest.</a:t>
            </a:r>
          </a:p>
          <a:p xmlns:a="http://schemas.openxmlformats.org/drawingml/2006/main">
            <a:r>
              <a:t>PRIVATE STUDY NOTES</a:t>
            </a:r>
          </a:p>
          <a:p xmlns:a="http://schemas.openxmlformats.org/drawingml/2006/main">
            <a:r>
              <a:t>DEGRADED / RTL / LANDED: Unverified or failed mission state, return-to-launch sequence and confirmed terminal landing state.</a:t>
            </a:r>
          </a:p>
          <a:p xmlns:a="http://schemas.openxmlformats.org/drawingml/2006/main">
            <a:r>
              <a:t>Zero Scout commands: The simulator log records no Scout flight command in that individual fault run.</a:t>
            </a:r>
          </a:p>
          <a:p xmlns:a="http://schemas.openxmlformats.org/drawingml/2006/main">
            <a:r>
              <a:t>0.076 m landing error: Simulator-local landing offset in the retained low-battery v3 pilot. It is not real drone landing accuracy.</a:t>
            </a:r>
          </a:p>
          <a:p xmlns:a="http://schemas.openxmlformats.org/drawingml/2006/main">
            <a:r>
              <a:t>Fault sample size: One retained development pilot per row, with pre-fix attempts retained where applicable. The 310-run formal campaign was not completed.</a:t>
            </a:r>
          </a:p>
          <a:p xmlns:a="http://schemas.openxmlformats.org/drawingml/2006/main">
            <a:r>
              <a:t>SHORT ANSWER IF ASKED</a:t>
            </a:r>
          </a:p>
          <a:p xmlns:a="http://schemas.openxmlformats.org/drawingml/2006/main">
            <a:r>
              <a:t>The tests exercised particular safety and identity checks. We report their bounded outcomes rather than estimating operational reliability.</a:t>
            </a:r>
          </a:p>
          <a:p xmlns:a="http://schemas.openxmlformats.org/drawingml/2006/main">
            <a:r>
              <a:t>SOURCES</a:t>
            </a:r>
          </a:p>
          <a:p xmlns:a="http://schemas.openxmlformats.org/drawingml/2006/main">
            <a:r>
              <a:t>docs/M3_FAULT_AND_VISUAL_EVIDENCE_20260813.md</a:t>
            </a:r>
          </a:p>
          <a:p xmlns:a="http://schemas.openxmlformats.org/drawingml/2006/main">
            <a:r>
              <a:t>docs/M3_LOW_BATTERY_FAULT_PILOT_20260813.md</a:t>
            </a:r>
          </a:p>
          <a:p xmlns:a="http://schemas.openxmlformats.org/drawingml/2006/main">
            <a:r>
              <a:t>docs/M3_DUPLICATE_STALE_VERDICT_FAULT_20260813.md</a:t>
            </a:r>
          </a:p>
          <a:p xmlns:a="http://schemas.openxmlformats.org/drawingml/2006/main">
            <a:r>
              <a:t>docs/M3_INVALID_GEOFENCE_FAULT_20260813.md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EXAMINER REFERENCE ONLY</a:t>
            </a:r>
          </a:p>
          <a:p xmlns:a="http://schemas.openxmlformats.org/drawingml/2006/main">
            <a:r>
              <a:t>SPOKEN PASSAGE</a:t>
            </a:r>
          </a:p>
          <a:p xmlns:a="http://schemas.openxmlformats.org/drawingml/2006/main">
            <a:r>
              <a:t>The left column summarizes implemented features of the system prototype. The right column lists future development and validation. My contribution is the custom integration and measured engineering work across the two platforms. I do not claim a new detector algorithm. The next priorities are accelerated Scout execution, controlled accuracy ablation, camera-driven missions, and external-domain evaluation.</a:t>
            </a:r>
          </a:p>
          <a:p xmlns:a="http://schemas.openxmlformats.org/drawingml/2006/main">
            <a:r>
              <a:t>PRIVATE DELIVERY CUE</a:t>
            </a:r>
          </a:p>
          <a:p xmlns:a="http://schemas.openxmlformats.org/drawingml/2006/main">
            <a:r>
              <a:t>Open only for questions about originality, implemented features, project extensions or future work. The right column is proposed work.</a:t>
            </a:r>
          </a:p>
          <a:p xmlns:a="http://schemas.openxmlformats.org/drawingml/2006/main">
            <a:r>
              <a:t>PRIVATE STUDY NOTES</a:t>
            </a:r>
          </a:p>
          <a:p xmlns:a="http://schemas.openxmlformats.org/drawingml/2006/main">
            <a:r>
              <a:t>Prototype feature: A capability implemented and supported by the specific records cited, with the physical or simulation boundary retained.</a:t>
            </a:r>
          </a:p>
          <a:p xmlns:a="http://schemas.openxmlformats.org/drawingml/2006/main">
            <a:r>
              <a:t>Engineering contribution: The integration of cameras, heterogeneous runtimes, ROS 2 event handling, safety gates and reproducible evaluation, together with the measured vectorized decoder improvement.</a:t>
            </a:r>
          </a:p>
          <a:p xmlns:a="http://schemas.openxmlformats.org/drawingml/2006/main">
            <a:r>
              <a:t>Future priority: Accelerate the measured Scout bottleneck, quantify detection/verification benefits with identical inputs, and close the gap between perception and simulated aerial mission control.</a:t>
            </a:r>
          </a:p>
          <a:p xmlns:a="http://schemas.openxmlformats.org/drawingml/2006/main">
            <a:r>
              <a:t>Operational deployment: Requires calibrated sensing/localization, obstacle handling, power/endurance measurements, repeated fault testing and authorized physical flight and industrial evaluation.</a:t>
            </a:r>
          </a:p>
          <a:p xmlns:a="http://schemas.openxmlformats.org/drawingml/2006/main">
            <a:r>
              <a:t>SHORT ANSWER IF ASKED</a:t>
            </a:r>
          </a:p>
          <a:p xmlns:a="http://schemas.openxmlformats.org/drawingml/2006/main">
            <a:r>
              <a:t>The project produced an executable and measured system prototype. Its contribution is the integration and engineering evidence; external validity and operational flight remain subsequent validation.</a:t>
            </a:r>
          </a:p>
          <a:p xmlns:a="http://schemas.openxmlformats.org/drawingml/2006/main">
            <a:r>
              <a:t>SOURCES</a:t>
            </a:r>
          </a:p>
          <a:p xmlns:a="http://schemas.openxmlformats.org/drawingml/2006/main">
            <a:r>
              <a:t>thesis_review/chapters/05_implementation.tex</a:t>
            </a:r>
          </a:p>
          <a:p xmlns:a="http://schemas.openxmlformats.org/drawingml/2006/main">
            <a:r>
              <a:t>thesis_review/chapters/08_discussion.tex</a:t>
            </a:r>
          </a:p>
          <a:p xmlns:a="http://schemas.openxmlformats.org/drawingml/2006/main">
            <a:r>
              <a:t>thesis_review/chapters/09_conclusion.tex</a:t>
            </a:r>
          </a:p>
          <a:p xmlns:a="http://schemas.openxmlformats.org/drawingml/2006/main">
            <a:r>
              <a:t>docs/M2_DECODER_OPTIMIZATION_20260729.md</a:t>
            </a:r>
          </a:p>
          <a:p xmlns:a="http://schemas.openxmlformats.org/drawingml/2006/main">
            <a:r>
              <a:t>docs/REMAINING_TASK_DISPOSITION_20260930.md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EXAMINER REFERENCE ONLY</a:t>
            </a:r>
          </a:p>
          <a:p xmlns:a="http://schemas.openxmlformats.org/drawingml/2006/main">
            <a:r>
              <a:t>SPOKEN PASSAGE</a:t>
            </a:r>
          </a:p>
          <a:p xmlns:a="http://schemas.openxmlformats.org/drawingml/2006/main">
            <a:r>
              <a:t>The stationary workflow confirmed all thirteen requests during the strong-flame interval and rejected all six direct Scout requests using unlit frames. Separate fault trials returned five correlated no-frame errors and five stale-frame errors, with zero verification inferences on missing or stale inputs. These checks demonstrate the implemented freshness gates and event correlation. The alerts for the unlit and fault trials bypassed Sentinel detection. Under inference load, ROS 2 returned all one thousand correlated replies with a p95 round trip of seven point nine eight four milliseconds. No missing or duplicate reply was recorded in that run.</a:t>
            </a:r>
          </a:p>
          <a:p xmlns:a="http://schemas.openxmlformats.org/drawingml/2006/main">
            <a:r>
              <a:t>PRIVATE DELIVERY CUE</a:t>
            </a:r>
          </a:p>
          <a:p xmlns:a="http://schemas.openxmlformats.org/drawingml/2006/main">
            <a:r>
              <a:t>The bars show different expected outcomes in separate functional checks, not a pooled accuracy score. Mention the small-flame result on the final limitations slide. Network RTT and AI decision latency measure different paths.</a:t>
            </a:r>
          </a:p>
          <a:p xmlns:a="http://schemas.openxmlformats.org/drawingml/2006/main">
            <a:r>
              <a:t>PRIVATE STUDY NOTES</a:t>
            </a:r>
          </a:p>
          <a:p xmlns:a="http://schemas.openxmlformats.org/drawingml/2006/main">
            <a:r>
              <a:t>Outcome bars: Thirteen strong-flame confirmations, six unlit rejections, five ERROR/no_frame results and five ERROR/stale_frame results. Each row is a separate trial condition. Do not pool them into an accuracy percentage.</a:t>
            </a:r>
          </a:p>
          <a:p xmlns:a="http://schemas.openxmlformats.org/drawingml/2006/main">
            <a:r>
              <a:t>6 of 6 rejected: Equivalent to zero of six unlit requests confirmed. All six bypassed Sentinel detection; this is not a complete environmental-negative test.</a:t>
            </a:r>
          </a:p>
          <a:p xmlns:a="http://schemas.openxmlformats.org/drawingml/2006/main">
            <a:r>
              <a:t>Freshness gates: No-frame and stopped-stream trials each produced five matching error verdicts and zero inferences on unavailable/stale inputs. The actual camera service remained running; the fault was at the ROS interface.</a:t>
            </a:r>
          </a:p>
          <a:p xmlns:a="http://schemas.openxmlformats.org/drawingml/2006/main">
            <a:r>
              <a:t>RTT: Round-trip time for an application request and correlated reply, in milliseconds. It excludes camera and model execution in this messaging probe.</a:t>
            </a:r>
          </a:p>
          <a:p xmlns:a="http://schemas.openxmlformats.org/drawingml/2006/main">
            <a:r>
              <a:t>1,000 / 1,000: Application-level complete replies within this loaded run. This does not establish universal zero packet loss or future reliability.</a:t>
            </a:r>
          </a:p>
          <a:p xmlns:a="http://schemas.openxmlformats.org/drawingml/2006/main">
            <a:r>
              <a:t>Correlation: The reply must carry the intended event identifier, which supports duplicate, stale and mismatched-message rejection.</a:t>
            </a:r>
          </a:p>
          <a:p xmlns:a="http://schemas.openxmlformats.org/drawingml/2006/main">
            <a:r>
              <a:t>SHORT ANSWER IF ASKED</a:t>
            </a:r>
          </a:p>
          <a:p xmlns:a="http://schemas.openxmlformats.org/drawingml/2006/main">
            <a:r>
              <a:t>The strong-flame demonstration and complete loaded-message delivery support proof of function. The small-flame result identifies a concrete sensitivity limit, and a common-input ablation is still needed to quantify an accuracy gain.</a:t>
            </a:r>
          </a:p>
          <a:p xmlns:a="http://schemas.openxmlformats.org/drawingml/2006/main">
            <a:r>
              <a:t>SOURCES</a:t>
            </a:r>
          </a:p>
          <a:p xmlns:a="http://schemas.openxmlformats.org/drawingml/2006/main">
            <a:r>
              <a:t>docs/M4_HARDWARE_LAB_20260803.md</a:t>
            </a:r>
          </a:p>
          <a:p xmlns:a="http://schemas.openxmlformats.org/drawingml/2006/main">
            <a:r>
              <a:t>docs/M7_SCOUT_CAMERA_INTERFACE_FAULT_20260928.md</a:t>
            </a:r>
          </a:p>
          <a:p xmlns:a="http://schemas.openxmlformats.org/drawingml/2006/main">
            <a:r>
              <a:t>docs/M7_SCOUT_STALE_STREAM_FAULT_20260928.md</a:t>
            </a:r>
          </a:p>
          <a:p xmlns:a="http://schemas.openxmlformats.org/drawingml/2006/main">
            <a:r>
              <a:t>thesis_review/chapters/07_results.tex</a:t>
            </a:r>
          </a:p>
          <a:p xmlns:a="http://schemas.openxmlformats.org/drawingml/2006/main">
            <a:r>
              <a:t>thesis_review/figures/loaded_ros2_rtt_distribution.png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EXAMINER REFERENCE ONLY</a:t>
            </a:r>
          </a:p>
          <a:p xmlns:a="http://schemas.openxmlformats.org/drawingml/2006/main">
            <a:r>
              <a:t>SPOKEN PASSAGE</a:t>
            </a:r>
          </a:p>
          <a:p xmlns:a="http://schemas.openxmlformats.org/drawingml/2006/main">
            <a:r>
              <a:t>The retained summary shows five completed timeouts, ten rejected late or duplicate verdicts, and zero additional final decisions. It is a derived rendering of hash-linked experiment logs.</a:t>
            </a:r>
          </a:p>
          <a:p xmlns:a="http://schemas.openxmlformats.org/drawingml/2006/main">
            <a:r>
              <a:t>PRIVATE DELIVERY CUE</a:t>
            </a:r>
          </a:p>
          <a:p xmlns:a="http://schemas.openxmlformats.org/drawingml/2006/main">
            <a:r>
              <a:t>Use this for questions about event finalization or fault injection. The visual is not a live terminal screenshot.</a:t>
            </a:r>
          </a:p>
          <a:p xmlns:a="http://schemas.openxmlformats.org/drawingml/2006/main">
            <a:r>
              <a:t>PRIVATE STUDY NOTES</a:t>
            </a:r>
          </a:p>
          <a:p xmlns:a="http://schemas.openxmlformats.org/drawingml/2006/main">
            <a:r>
              <a:t>2.840 ms p95: Rejection callback duration for ten injected post-timeout verdicts. It is not hazard-detection or complete decision latency.</a:t>
            </a:r>
          </a:p>
          <a:p xmlns:a="http://schemas.openxmlformats.org/drawingml/2006/main">
            <a:r>
              <a:t>Deterministic injection: The harness cancelled the camera timer and injected detections at dispatch. It deliberately separated protocol behavior from vision uncertainty.</a:t>
            </a:r>
          </a:p>
          <a:p xmlns:a="http://schemas.openxmlformats.org/drawingml/2006/main">
            <a:r>
              <a:t>SHORT ANSWER IF ASKED</a:t>
            </a:r>
          </a:p>
          <a:p xmlns:a="http://schemas.openxmlformats.org/drawingml/2006/main">
            <a:r>
              <a:t>The source event log and analysis hashes identify the evidence behind the visual. The result supports only the tested fault pattern.</a:t>
            </a:r>
          </a:p>
          <a:p xmlns:a="http://schemas.openxmlformats.org/drawingml/2006/main">
            <a:r>
              <a:t>SOURCES</a:t>
            </a:r>
          </a:p>
          <a:p xmlns:a="http://schemas.openxmlformats.org/drawingml/2006/main">
            <a:r>
              <a:t>docs/M7_DELAYED_DUPLICATE_VERDICT_FAULT_20260928.md</a:t>
            </a:r>
          </a:p>
          <a:p xmlns:a="http://schemas.openxmlformats.org/drawingml/2006/main">
            <a:r>
              <a:t>D:/Drones/recovery_images/sentinel_sd_20260909/hardware_evidence_20260928/faults_20260928/delayed_duplicate_verdict/derived_analysis/delayed-duplicate-verdict-20260928-r1/visuals/delayed_duplicate_verdict_terminal_summary.png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EXAMINER REFERENCE ONLY</a:t>
            </a:r>
          </a:p>
          <a:p xmlns:a="http://schemas.openxmlformats.org/drawingml/2006/main">
            <a:r>
              <a:t>SPOKEN PASSAGE</a:t>
            </a:r>
          </a:p>
          <a:p xmlns:a="http://schemas.openxmlformats.org/drawingml/2006/main">
            <a:r>
              <a:t>The prototype required camera-byte validation, vendor-bridge integration, and compatible ROS 2 environments across two different platforms. These interfaces make independent onboard verification possible.</a:t>
            </a:r>
          </a:p>
          <a:p xmlns:a="http://schemas.openxmlformats.org/drawingml/2006/main">
            <a:r>
              <a:t>PRIVATE DELIVERY CUE</a:t>
            </a:r>
          </a:p>
          <a:p xmlns:a="http://schemas.openxmlformats.org/drawingml/2006/main">
            <a:r>
              <a:t>Explain the row relevant to the question. Do not claim that high-resolution stream compatibility means the formal inference tests used 4K images.</a:t>
            </a:r>
          </a:p>
          <a:p xmlns:a="http://schemas.openxmlformats.org/drawingml/2006/main">
            <a:r>
              <a:t>PRIVATE STUDY NOTES</a:t>
            </a:r>
          </a:p>
          <a:p xmlns:a="http://schemas.openxmlformats.org/drawingml/2006/main">
            <a:r>
              <a:t>MPA: Modal Pipe Architecture exposes vendor-supported camera streams. The ROS bridge publishes those images for the verifier.</a:t>
            </a:r>
          </a:p>
          <a:p xmlns:a="http://schemas.openxmlformats.org/drawingml/2006/main">
            <a:r>
              <a:t>Stride and payload: Row step is bytes per row. Validate it together with dimensions, encoding and total buffer length before conversion.</a:t>
            </a:r>
          </a:p>
          <a:p xmlns:a="http://schemas.openxmlformats.org/drawingml/2006/main">
            <a:r>
              <a:t>mono8 / yuv422: 8-bit grayscale versus packed YUV color. Actual ROS encoding determines decoding, not an assumed pipe format.</a:t>
            </a:r>
          </a:p>
          <a:p xmlns:a="http://schemas.openxmlformats.org/drawingml/2006/main">
            <a:r>
              <a:t>4096 records: Bounded asynchronous logging-queue capacity, not a measured logging throughput.</a:t>
            </a:r>
          </a:p>
          <a:p xmlns:a="http://schemas.openxmlformats.org/drawingml/2006/main">
            <a:r>
              <a:t>Physical power work: X500 distribution and DC-DC regulator supply the companion. Electrical efficiency and airborne endurance were not measured.</a:t>
            </a:r>
          </a:p>
          <a:p xmlns:a="http://schemas.openxmlformats.org/drawingml/2006/main">
            <a:r>
              <a:t>SHORT ANSWER IF ASKED</a:t>
            </a:r>
          </a:p>
          <a:p xmlns:a="http://schemas.openxmlformats.org/drawingml/2006/main">
            <a:r>
              <a:t>This is system engineering beyond detector comparison. The separate interface observations retain their own sample sizes and dates.</a:t>
            </a:r>
          </a:p>
          <a:p xmlns:a="http://schemas.openxmlformats.org/drawingml/2006/main">
            <a:r>
              <a:t>SOURCES</a:t>
            </a:r>
          </a:p>
          <a:p xmlns:a="http://schemas.openxmlformats.org/drawingml/2006/main">
            <a:r>
              <a:t>thesis_review/chapters/05_implementation.tex</a:t>
            </a:r>
          </a:p>
          <a:p xmlns:a="http://schemas.openxmlformats.org/drawingml/2006/main">
            <a:r>
              <a:t>docs/M2_CAMERA_PREFLIGHT_20260729.md</a:t>
            </a:r>
          </a:p>
          <a:p xmlns:a="http://schemas.openxmlformats.org/drawingml/2006/main">
            <a:r>
              <a:t>docs/M7_SCOUT_CAMERA_INTERFACE_FAULT_20260928.md</a:t>
            </a:r>
          </a:p>
          <a:p xmlns:a="http://schemas.openxmlformats.org/drawingml/2006/main">
            <a:r>
              <a:t>docs/M7_SCOUT_STALE_STREAM_FAULT_20260928.md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EXAMINER REFERENCE ONLY</a:t>
            </a:r>
          </a:p>
          <a:p xmlns:a="http://schemas.openxmlformats.org/drawingml/2006/main">
            <a:r>
              <a:t>SPOKEN PASSAGE</a:t>
            </a:r>
          </a:p>
          <a:p xmlns:a="http://schemas.openxmlformats.org/drawingml/2006/main">
            <a:r>
              <a:t>The histogram shows the concentration and tail of observed round-trip times. The empirical cumulative distribution reaches ninety-five percent at seven point nine eight four milliseconds. All one thousand correlated application replies arrived in this run.</a:t>
            </a:r>
          </a:p>
          <a:p xmlns:a="http://schemas.openxmlformats.org/drawingml/2006/main">
            <a:r>
              <a:t>PRIVATE DELIVERY CUE</a:t>
            </a:r>
          </a:p>
          <a:p xmlns:a="http://schemas.openxmlformats.org/drawingml/2006/main">
            <a:r>
              <a:t>Point to the histogram tail and the p95 reference. Do not infer packet-level loss or one-way delay.</a:t>
            </a:r>
          </a:p>
          <a:p xmlns:a="http://schemas.openxmlformats.org/drawingml/2006/main">
            <a:r>
              <a:t>PRIVATE STUDY NOTES</a:t>
            </a:r>
          </a:p>
          <a:p xmlns:a="http://schemas.openxmlformats.org/drawingml/2006/main">
            <a:r>
              <a:t>Empirical CDF: At latency x, the fraction of observed RTT samples at or below x. It describes this sample, not a guaranteed future probability.</a:t>
            </a:r>
          </a:p>
          <a:p xmlns:a="http://schemas.openxmlformats.org/drawingml/2006/main">
            <a:r>
              <a:t>Wilson interval: Delivery fraction 1,000/1,000 gives the reported 95% Wilson interval 0.99617 to 1.00000. Dependence and shared-network conditions limit generalization.</a:t>
            </a:r>
          </a:p>
          <a:p xmlns:a="http://schemas.openxmlformats.org/drawingml/2006/main">
            <a:r>
              <a:t>RTT / inference: This messaging probe excludes the model call. Concurrent live inference provided background load rather than forming part of the timed request.</a:t>
            </a:r>
          </a:p>
          <a:p xmlns:a="http://schemas.openxmlformats.org/drawingml/2006/main">
            <a:r>
              <a:t>SHORT ANSWER IF ASKED</a:t>
            </a:r>
          </a:p>
          <a:p xmlns:a="http://schemas.openxmlformats.org/drawingml/2006/main">
            <a:r>
              <a:t>One successful loaded run demonstrates the observed communication path. It cannot certify future airborne network reliability.</a:t>
            </a:r>
          </a:p>
          <a:p xmlns:a="http://schemas.openxmlformats.org/drawingml/2006/main">
            <a:r>
              <a:t>SOURCES</a:t>
            </a:r>
          </a:p>
          <a:p xmlns:a="http://schemas.openxmlformats.org/drawingml/2006/main">
            <a:r>
              <a:t>docs/M7_LOADED_ROS2_ROUNDTRIP_20260928.md</a:t>
            </a:r>
          </a:p>
          <a:p xmlns:a="http://schemas.openxmlformats.org/drawingml/2006/main">
            <a:r>
              <a:t>thesis_review/figures/loaded_ros2_rtt_distribution.png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4f2209037c464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1f205d7937b499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2858615a54048f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6bf85385ece4a3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807c51fcfaf4f3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09e90beff344d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9D87A1-D6C3-49FB-B65E-C590856ED10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891B34AA-6A00-4A70-B017-3332859A430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76092DE-2DBB-44C4-BB14-4F99FE6F601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FC9F5F-ED0F-4EC2-8A7A-A23020C2AA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2781E1CD-944A-4407-AC4B-F044DECC751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87C25B4-41A5-4C05-A135-4FFFD2378AC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C3584F66-A9E9-4344-B2DE-618BCD25A7F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21E803F1-9CC3-4BE3-9E2D-C9135E0512C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D58120-005F-43B4-8F37-AFE7EDC4FB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8E57A428-6D68-4386-821E-33679C38C4B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1fad009fa24a41" /><Relationship Type="http://schemas.openxmlformats.org/officeDocument/2006/relationships/slideLayout" Target="/ppt/slideLayouts/slideLayout1.xml" Id="R2dfc66e809884705" /><Relationship Type="http://schemas.openxmlformats.org/officeDocument/2006/relationships/slideLayout" Target="/ppt/slideLayouts/slideLayout2.xml" Id="Ra877beaf0cc44314" /><Relationship Type="http://schemas.openxmlformats.org/officeDocument/2006/relationships/slideLayout" Target="/ppt/slideLayouts/slideLayout3.xml" Id="R0e69bdeecd0943a6" /><Relationship Type="http://schemas.openxmlformats.org/officeDocument/2006/relationships/slideLayout" Target="/ppt/slideLayouts/slideLayout4.xml" Id="R92cd817ef7694f56" /><Relationship Type="http://schemas.openxmlformats.org/officeDocument/2006/relationships/slideLayout" Target="/ppt/slideLayouts/slideLayout5.xml" Id="R2785fdee46bc4e72" /><Relationship Type="http://schemas.openxmlformats.org/officeDocument/2006/relationships/slideLayout" Target="/ppt/slideLayouts/slideLayout6.xml" Id="R433fe62da95c46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fc66e809884705"/>
    <p:sldLayoutId xmlns:r="http://schemas.openxmlformats.org/officeDocument/2006/relationships" id="2147483650" r:id="Ra877beaf0cc44314"/>
    <p:sldLayoutId xmlns:r="http://schemas.openxmlformats.org/officeDocument/2006/relationships" id="2147483651" r:id="R0e69bdeecd0943a6"/>
    <p:sldLayoutId xmlns:r="http://schemas.openxmlformats.org/officeDocument/2006/relationships" id="2147483652" r:id="R92cd817ef7694f56"/>
    <p:sldLayoutId xmlns:r="http://schemas.openxmlformats.org/officeDocument/2006/relationships" id="2147483653" r:id="R2785fdee46bc4e72"/>
    <p:sldLayoutId xmlns:r="http://schemas.openxmlformats.org/officeDocument/2006/relationships" id="2147483654" r:id="R433fe62da95c46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71e46d40f5c4547" /><Relationship Type="http://schemas.openxmlformats.org/officeDocument/2006/relationships/image" Target="/ppt/media/image.png" Id="R6950f2f32e2e4e70" /><Relationship Type="http://schemas.openxmlformats.org/officeDocument/2006/relationships/notesSlide" Target="/ppt/notesSlides/notesSlide1.xml" Id="R787fdfc9c24d41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748f2a871bc4fa0" /><Relationship Type="http://schemas.openxmlformats.org/officeDocument/2006/relationships/image" Target="/ppt/media/image.gif" Id="R2f3169c91e85474c" /><Relationship Type="http://schemas.openxmlformats.org/officeDocument/2006/relationships/image" Target="/ppt/media/image2.gif" Id="R59e15668d6a3451e" /><Relationship Type="http://schemas.openxmlformats.org/officeDocument/2006/relationships/notesSlide" Target="/ppt/notesSlides/notesSlide2.xml" Id="R87d7d96fa7be4f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4456df76fa24089" /><Relationship Type="http://schemas.openxmlformats.org/officeDocument/2006/relationships/notesSlide" Target="/ppt/notesSlides/notesSlide3.xml" Id="R0b32343ed6d64d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326ff42fccd4428" /><Relationship Type="http://schemas.openxmlformats.org/officeDocument/2006/relationships/chart" Target="/ppt/slides/charts/chart1.xml" Id="Ra8a41bb970c44484" /><Relationship Type="http://schemas.openxmlformats.org/officeDocument/2006/relationships/notesSlide" Target="/ppt/notesSlides/notesSlide4.xml" Id="R7802ed2d74754a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f013c7237de44ec" /><Relationship Type="http://schemas.openxmlformats.org/officeDocument/2006/relationships/chart" Target="/ppt/slides/charts/chart2.xml" Id="Rfbb7dc6dc32b431d" /><Relationship Type="http://schemas.openxmlformats.org/officeDocument/2006/relationships/notesSlide" Target="/ppt/notesSlides/notesSlide5.xml" Id="R1c85c29f62e54dd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e02c78da3de42d2" /><Relationship Type="http://schemas.openxmlformats.org/officeDocument/2006/relationships/chart" Target="/ppt/slides/charts/chart3.xml" Id="R06bd9098a775417c" /><Relationship Type="http://schemas.openxmlformats.org/officeDocument/2006/relationships/chart" Target="/ppt/slides/charts/chart4.xml" Id="R407d15acba0342c0" /><Relationship Type="http://schemas.openxmlformats.org/officeDocument/2006/relationships/chart" Target="/ppt/slides/charts/chart5.xml" Id="Rd227892c2d76400e" /><Relationship Type="http://schemas.openxmlformats.org/officeDocument/2006/relationships/chart" Target="/ppt/slides/charts/chart6.xml" Id="R9539566ba85946c2" /><Relationship Type="http://schemas.openxmlformats.org/officeDocument/2006/relationships/notesSlide" Target="/ppt/notesSlides/notesSlide6.xml" Id="R1229333abc8b456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0874741f3c543f1" /><Relationship Type="http://schemas.openxmlformats.org/officeDocument/2006/relationships/image" Target="/ppt/media/image.jpeg" Id="R75dca7c3374a4176" /><Relationship Type="http://schemas.openxmlformats.org/officeDocument/2006/relationships/notesSlide" Target="/ppt/notesSlides/notesSlide7.xml" Id="Rcc93cf7a40c14a8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0c1adcbf8764898" /><Relationship Type="http://schemas.openxmlformats.org/officeDocument/2006/relationships/image" Target="/ppt/media/image3.gif" Id="R7325cf5b922e4110" /><Relationship Type="http://schemas.openxmlformats.org/officeDocument/2006/relationships/notesSlide" Target="/ppt/notesSlides/notesSlide8.xml" Id="Rbff66c24de334a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580bf1e81464e07" /><Relationship Type="http://schemas.openxmlformats.org/officeDocument/2006/relationships/notesSlide" Target="/ppt/notesSlides/notesSlide9.xml" Id="R88899e95b0f1433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23db4bfa062470b" /><Relationship Type="http://schemas.openxmlformats.org/officeDocument/2006/relationships/image" Target="/ppt/media/image.png" Id="R89fbfcaa2a2746fb" /><Relationship Type="http://schemas.openxmlformats.org/officeDocument/2006/relationships/notesSlide" Target="/ppt/notesSlides/notesSlide10.xml" Id="R832ce4adff59449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f61ba9051b945cc" /><Relationship Type="http://schemas.openxmlformats.org/officeDocument/2006/relationships/notesSlide" Target="/ppt/notesSlides/notesSlide11.xml" Id="R9e884ad7298a4fa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66fc9b505de40df" /><Relationship Type="http://schemas.openxmlformats.org/officeDocument/2006/relationships/notesSlide" Target="/ppt/notesSlides/notesSlide12.xml" Id="R1dd3f05539d14a7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075b75effe345aa" /><Relationship Type="http://schemas.openxmlformats.org/officeDocument/2006/relationships/notesSlide" Target="/ppt/notesSlides/notesSlide13.xml" Id="R3eea2c677858406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f364406fea84f86" /><Relationship Type="http://schemas.openxmlformats.org/officeDocument/2006/relationships/notesSlide" Target="/ppt/notesSlides/notesSlide14.xml" Id="R4007d2966997459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effcabb6f274d97" /><Relationship Type="http://schemas.openxmlformats.org/officeDocument/2006/relationships/chart" Target="/ppt/slides/charts/chart7.xml" Id="Red3d678006af40b4" /><Relationship Type="http://schemas.openxmlformats.org/officeDocument/2006/relationships/notesSlide" Target="/ppt/notesSlides/notesSlide15.xml" Id="R5464984ef974408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3a97134c18a42f6" /><Relationship Type="http://schemas.openxmlformats.org/officeDocument/2006/relationships/image" Target="/ppt/media/image2.png" Id="R8ee83e43998d46e5" /><Relationship Type="http://schemas.openxmlformats.org/officeDocument/2006/relationships/notesSlide" Target="/ppt/notesSlides/notesSlide16.xml" Id="R8bb0b49428984c6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8479003c34d4df2" /><Relationship Type="http://schemas.openxmlformats.org/officeDocument/2006/relationships/notesSlide" Target="/ppt/notesSlides/notesSlide17.xml" Id="Rf572fbeee6c74b0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2b52c7fc30b4ab9" /><Relationship Type="http://schemas.openxmlformats.org/officeDocument/2006/relationships/image" Target="/ppt/media/image3.png" Id="R42ca713b8a20451d" /><Relationship Type="http://schemas.openxmlformats.org/officeDocument/2006/relationships/notesSlide" Target="/ppt/notesSlides/notesSlide18.xml" Id="R394fceb4a34d4e60" /></Relationships>
</file>

<file path=ppt/slides/charts/chart1.xml><?xml version="1.0" encoding="utf-8"?>
<c:chartSpace xmlns:c="http://schemas.openxmlformats.org/drawingml/2006/chart">
  <c:lang val="en-US"/>
  <c:roundedCorners val="1"/>
  <c:style val="2"/>
  <c:chart>
    <c:autoTitleDeleted val="1"/>
    <c:plotArea>
      <c:barChart>
        <c:barDir val="bar"/>
        <c:grouping val="clustered"/>
        <c:varyColors val="0"/>
        <c:ser>
          <c:idx val="0"/>
          <c:order val="0"/>
          <c:tx>
            <c:v>Validation</c:v>
          </c:tx>
          <c:spPr>
            <a:solidFill xmlns:a="http://schemas.openxmlformats.org/drawingml/2006/main">
              <a:srgbClr val="DF750E"/>
            </a:solidFill>
          </c:spPr>
          <c:invertIfNegative val="0"/>
          <c:dLbls>
            <c:numFmt formatCode="0.000" sourceLinked="0"/>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275">
                    <a:solidFill>
                      <a:srgbClr val="0B1F3A"/>
                    </a:solidFill>
                    <a:latin typeface="Aptos"/>
                    <a:ea typeface="Aptos"/>
                    <a:cs typeface="Aptos"/>
                  </a:defRPr>
                </a:pPr>
              </a:p>
            </c:txPr>
            <c:dLblPos val="outEnd"/>
            <c:showLegendKey val="0"/>
            <c:showVal val="1"/>
            <c:showCatName val="0"/>
            <c:showSerName val="0"/>
            <c:showPercent val="0"/>
            <c:showBubbleSize val="0"/>
            <c:showLeaderLines val="0"/>
          </c:dLbls>
          <c:cat>
            <c:strLit>
              <c:ptCount val="6"/>
              <c:pt idx="0">
                <c:v>EfficientDet-320</c:v>
              </c:pt>
              <c:pt idx="1">
                <c:v>SSD MobileNet-320</c:v>
              </c:pt>
              <c:pt idx="2">
                <c:v>YOLOv8s-640</c:v>
              </c:pt>
              <c:pt idx="3">
                <c:v>YOLOv8s-416</c:v>
              </c:pt>
              <c:pt idx="4">
                <c:v>YOLOv8n-640</c:v>
              </c:pt>
              <c:pt idx="5">
                <c:v>YOLOv8n-416</c:v>
              </c:pt>
            </c:strLit>
          </c:cat>
          <c:val>
            <c:numLit>
              <c:formatCode>0.00</c:formatCode>
              <c:ptCount val="6"/>
              <c:pt idx="0">
                <c:v>0.161</c:v>
              </c:pt>
              <c:pt idx="1">
                <c:v>0.185</c:v>
              </c:pt>
              <c:pt idx="2">
                <c:v>0.213</c:v>
              </c:pt>
              <c:pt idx="3">
                <c:v>0.203</c:v>
              </c:pt>
              <c:pt idx="4">
                <c:v>0.22</c:v>
              </c:pt>
              <c:pt idx="5">
                <c:v>0.236</c:v>
              </c:pt>
            </c:numLit>
          </c:val>
        </c:ser>
        <c:ser>
          <c:idx val="1"/>
          <c:order val="1"/>
          <c:tx>
            <c:v>Test</c:v>
          </c:tx>
          <c:spPr>
            <a:solidFill xmlns:a="http://schemas.openxmlformats.org/drawingml/2006/main">
              <a:srgbClr val="236FE8"/>
            </a:solidFill>
          </c:spPr>
          <c:invertIfNegative val="0"/>
          <c:dLbls>
            <c:numFmt formatCode="0.000" sourceLinked="0"/>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275">
                    <a:solidFill>
                      <a:srgbClr val="0B1F3A"/>
                    </a:solidFill>
                    <a:latin typeface="Aptos"/>
                    <a:ea typeface="Aptos"/>
                    <a:cs typeface="Aptos"/>
                  </a:defRPr>
                </a:pPr>
              </a:p>
            </c:txPr>
            <c:dLblPos val="outEnd"/>
            <c:showLegendKey val="0"/>
            <c:showVal val="1"/>
            <c:showCatName val="0"/>
            <c:showSerName val="0"/>
            <c:showPercent val="0"/>
            <c:showBubbleSize val="0"/>
            <c:showLeaderLines val="0"/>
          </c:dLbls>
          <c:cat>
            <c:strLit>
              <c:ptCount val="6"/>
              <c:pt idx="0">
                <c:v>EfficientDet-320</c:v>
              </c:pt>
              <c:pt idx="1">
                <c:v>SSD MobileNet-320</c:v>
              </c:pt>
              <c:pt idx="2">
                <c:v>YOLOv8s-640</c:v>
              </c:pt>
              <c:pt idx="3">
                <c:v>YOLOv8s-416</c:v>
              </c:pt>
              <c:pt idx="4">
                <c:v>YOLOv8n-640</c:v>
              </c:pt>
              <c:pt idx="5">
                <c:v>YOLOv8n-416</c:v>
              </c:pt>
            </c:strLit>
          </c:cat>
          <c:val>
            <c:numLit>
              <c:formatCode>0.00</c:formatCode>
              <c:ptCount val="6"/>
              <c:pt idx="0">
                <c:v>0.168</c:v>
              </c:pt>
              <c:pt idx="1">
                <c:v>0.114</c:v>
              </c:pt>
              <c:pt idx="2">
                <c:v>0.133</c:v>
              </c:pt>
              <c:pt idx="3">
                <c:v>0.13</c:v>
              </c:pt>
              <c:pt idx="4">
                <c:v>0.101</c:v>
              </c:pt>
              <c:pt idx="5">
                <c:v>0.119</c:v>
              </c:pt>
            </c:numLit>
          </c:val>
        </c:ser>
        <c:dLbls>
          <c:dLblPos val="outEnd"/>
          <c:showLegendKey val="0"/>
          <c:showVal val="1"/>
          <c:showCatName val="0"/>
          <c:showSerName val="0"/>
          <c:showPercent val="0"/>
          <c:showBubbleSize val="0"/>
          <c:showLeaderLines val="0"/>
        </c:dLbls>
        <c:gapWidth val="58"/>
        <c:axId val="48650112"/>
        <c:axId val="48672768"/>
      </c:barChart>
      <c:catAx>
        <c:axId val="48650112"/>
        <c:scaling>
          <c:orientation val="minMax"/>
        </c:scaling>
        <c:delete val="0"/>
        <c:axPos val="l"/>
        <c:numFmt formatCode="General" sourceLinked="1"/>
        <c:majorTickMark val="none"/>
        <c:minorTickMark val="none"/>
        <c:tickLblPos val="nextTo"/>
        <c:spPr>
          <a:ln xmlns:a="http://schemas.openxmlformats.org/drawingml/2006/main" w="9525">
            <a:solidFill>
              <a:srgbClr val="D7DEE8"/>
            </a:solidFill>
          </a:ln>
        </c:spPr>
        <c:txPr>
          <a:bodyPr xmlns:a="http://schemas.openxmlformats.org/drawingml/2006/main" anchorCtr="1"/>
          <a:lstStyle xmlns:a="http://schemas.openxmlformats.org/drawingml/2006/main"/>
          <a:p xmlns:a="http://schemas.openxmlformats.org/drawingml/2006/main">
            <a:pPr>
              <a:defRPr sz="1425">
                <a:solidFill>
                  <a:srgbClr val="0B1F3A"/>
                </a:solidFill>
                <a:latin typeface="Aptos"/>
                <a:ea typeface="Aptos"/>
                <a:cs typeface="Aptos"/>
              </a:defRPr>
            </a:pPr>
          </a:p>
        </c:txPr>
        <c:crossAx val="48672768"/>
        <c:crosses val="autoZero"/>
        <c:lblAlgn val="ctr"/>
        <c:noMultiLvlLbl val="1"/>
        <c:lblOffset val="100"/>
      </c:catAx>
      <c:valAx>
        <c:axId val="48672768"/>
        <c:scaling>
          <c:orientation val="minMax"/>
          <c:max val="0.27"/>
          <c:min val="0"/>
        </c:scaling>
        <c:delete val="0"/>
        <c:axPos val="b"/>
        <c:majorGridlines>
          <c:spPr>
            <a:ln xmlns:a="http://schemas.openxmlformats.org/drawingml/2006/main" w="9525">
              <a:solidFill>
                <a:srgbClr val="D7DEE8"/>
              </a:solidFill>
            </a:ln>
          </c:spPr>
        </c:majorGridlines>
        <c:numFmt formatCode="0.0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174"/>
                </a:solidFill>
                <a:latin typeface="Aptos"/>
                <a:ea typeface="Aptos"/>
                <a:cs typeface="Aptos"/>
              </a:defRPr>
            </a:pPr>
          </a:p>
        </c:txPr>
        <c:crossAx val="48650112"/>
        <c:crosses val="autoZero"/>
        <c:crossBetween val="between"/>
        <c:majorUnit val="0.05"/>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500">
              <a:solidFill>
                <a:srgbClr val="0B1F3A"/>
              </a:solidFill>
              <a:latin typeface="Aptos"/>
              <a:ea typeface="Aptos"/>
              <a:cs typeface="Aptos"/>
            </a:defRPr>
          </a:pPr>
        </a:p>
      </c:txPr>
    </c:legend>
    <c:plotVisOnly val="1"/>
    <c:dispBlanksAs val="zero"/>
    <c:showDLblsOverMax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roundedCorners val="1"/>
  <c:style val="2"/>
  <c:chart>
    <c:autoTitleDeleted val="1"/>
    <c:plotArea>
      <c:barChart>
        <c:barDir val="bar"/>
        <c:grouping val="clustered"/>
        <c:varyColors val="0"/>
        <c:ser>
          <c:idx val="0"/>
          <c:order val="0"/>
          <c:tx>
            <c:v>Mean pipeline latency</c:v>
          </c:tx>
          <c:spPr>
            <a:solidFill xmlns:a="http://schemas.openxmlformats.org/drawingml/2006/main">
              <a:srgbClr val="DF750E"/>
            </a:solidFill>
          </c:spPr>
          <c:invertIfNegative val="0"/>
          <c:dPt>
            <c:idx val="1"/>
            <c:invertIfNegative val="0"/>
            <c:spPr>
              <a:solidFill xmlns:a="http://schemas.openxmlformats.org/drawingml/2006/main">
                <a:srgbClr val="ADB8C5"/>
              </a:solidFill>
            </c:spPr>
          </c:dPt>
          <c:dLbls>
            <c:numFmt formatCode="0.0" sourceLinked="0"/>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875" b="1">
                    <a:solidFill>
                      <a:srgbClr val="0B1F3A"/>
                    </a:solidFill>
                    <a:latin typeface="Aptos"/>
                    <a:ea typeface="Aptos"/>
                    <a:cs typeface="Aptos"/>
                  </a:defRPr>
                </a:pPr>
              </a:p>
            </c:txPr>
            <c:dLblPos val="outEnd"/>
            <c:showLegendKey val="0"/>
            <c:showVal val="1"/>
            <c:showCatName val="0"/>
            <c:showSerName val="0"/>
            <c:showPercent val="0"/>
            <c:showBubbleSize val="0"/>
            <c:showLeaderLines val="0"/>
          </c:dLbls>
          <c:cat>
            <c:strLit>
              <c:ptCount val="2"/>
              <c:pt idx="0">
                <c:v>Vectorized NumPy</c:v>
              </c:pt>
              <c:pt idx="1">
                <c:v>Python loops</c:v>
              </c:pt>
            </c:strLit>
          </c:cat>
          <c:val>
            <c:numLit>
              <c:formatCode>0</c:formatCode>
              <c:ptCount val="2"/>
              <c:pt idx="0">
                <c:v>57.049</c:v>
              </c:pt>
              <c:pt idx="1">
                <c:v>204.324</c:v>
              </c:pt>
            </c:numLit>
          </c:val>
        </c:ser>
        <c:dLbls>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0B1F3A"/>
                </a:solidFill>
                <a:latin typeface="Aptos"/>
                <a:ea typeface="Aptos"/>
                <a:cs typeface="Aptos"/>
              </a:defRPr>
            </a:pPr>
          </a:p>
        </c:txPr>
        <c:crossAx val="48672768"/>
        <c:crosses val="autoZero"/>
        <c:lblAlgn val="ctr"/>
        <c:noMultiLvlLbl val="1"/>
        <c:lblOffset val="100"/>
      </c:catAx>
      <c:valAx>
        <c:axId val="48672768"/>
        <c:scaling>
          <c:orientation val="minMax"/>
          <c:max val="240"/>
          <c:min val="0"/>
        </c:scaling>
        <c:delete val="0"/>
        <c:axPos val="b"/>
        <c:majorGridlines>
          <c:spPr>
            <a:ln xmlns:a="http://schemas.openxmlformats.org/drawingml/2006/main" w="9525">
              <a:solidFill>
                <a:srgbClr val="D7DEE8"/>
              </a:solidFill>
            </a:ln>
          </c:spPr>
        </c:majorGridlines>
        <c:title>
          <c:tx>
            <c:rich>
              <a:bodyPr xmlns:a="http://schemas.openxmlformats.org/drawingml/2006/main"/>
              <a:lstStyle xmlns:a="http://schemas.openxmlformats.org/drawingml/2006/main"/>
              <a:p xmlns:a="http://schemas.openxmlformats.org/drawingml/2006/main">
                <a:r>
                  <a:rPr sz="1500">
                    <a:solidFill>
                      <a:srgbClr val="526174"/>
                    </a:solidFill>
                    <a:latin typeface="Aptos"/>
                    <a:ea typeface="Aptos"/>
                    <a:cs typeface="Aptos"/>
                  </a:rPr>
                  <a:t>Mean pipeline latency (ms)</a:t>
                </a:r>
              </a:p>
            </c:rich>
          </c:tx>
          <c:overlay val="0"/>
          <c:txPr>
            <a:bodyPr xmlns:a="http://schemas.openxmlformats.org/drawingml/2006/main" anchorCtr="1"/>
            <a:lstStyle xmlns:a="http://schemas.openxmlformats.org/drawingml/2006/main"/>
            <a:p xmlns:a="http://schemas.openxmlformats.org/drawingml/2006/main">
              <a:pPr>
                <a:defRPr sz="1500">
                  <a:solidFill>
                    <a:srgbClr val="526174"/>
                  </a:solidFill>
                  <a:latin typeface="Aptos"/>
                  <a:ea typeface="Aptos"/>
                  <a:cs typeface="Aptos"/>
                </a:defRPr>
              </a:pPr>
            </a:p>
          </c:txPr>
        </c:title>
        <c:numFmt formatCode="0" sourceLinked="1"/>
        <c:majorTickMark val="none"/>
        <c:minorTickMark val="none"/>
        <c:tickLblPos val="nextTo"/>
        <c:spPr>
          <a:ln xmlns:a="http://schemas.openxmlformats.org/drawingml/2006/main" w="9525">
            <a:solidFill>
              <a:srgbClr val="D7DEE8"/>
            </a:solidFill>
          </a:ln>
        </c:spPr>
        <c:txPr>
          <a:bodyPr xmlns:a="http://schemas.openxmlformats.org/drawingml/2006/main" anchorCtr="1"/>
          <a:lstStyle xmlns:a="http://schemas.openxmlformats.org/drawingml/2006/main"/>
          <a:p xmlns:a="http://schemas.openxmlformats.org/drawingml/2006/main">
            <a:pPr>
              <a:defRPr sz="1425">
                <a:solidFill>
                  <a:srgbClr val="526174"/>
                </a:solidFill>
                <a:latin typeface="Aptos"/>
                <a:ea typeface="Aptos"/>
                <a:cs typeface="Aptos"/>
              </a:defRPr>
            </a:pPr>
          </a:p>
        </c:txPr>
        <c:crossAx val="48650112"/>
        <c:crosses val="autoZero"/>
        <c:crossBetween val="between"/>
        <c:majorUnit val="60"/>
      </c:valAx>
      <c:spPr>
        <a:solidFill xmlns:a="http://schemas.openxmlformats.org/drawingml/2006/main">
          <a:srgbClr val="FFFFFF"/>
        </a:solidFill>
      </c:spPr>
    </c:plotArea>
    <c:plotVisOnly val="1"/>
    <c:dispBlanksAs val="zero"/>
    <c:showDLblsOverMax val="1"/>
  </c:chart>
  <c:spPr>
    <a:solidFill xmlns:a="http://schemas.openxmlformats.org/drawingml/2006/main">
      <a:srgbClr val="FFFFFF"/>
    </a:solidFill>
  </c:spPr>
</c:chartSpace>
</file>

<file path=ppt/slides/charts/chart3.xml><?xml version="1.0" encoding="utf-8"?>
<c:chartSpace xmlns:c="http://schemas.openxmlformats.org/drawingml/2006/chart">
  <c:lang val="en-US"/>
  <c:roundedCorners val="1"/>
  <c:style val="2"/>
  <c:chart>
    <c:autoTitleDeleted val="1"/>
    <c:plotArea>
      <c:scatterChart>
        <c:scatterStyle val="lineMarker"/>
        <c:varyColors val="0"/>
        <c:ser>
          <c:idx val="0"/>
          <c:order val="0"/>
          <c:tx>
            <c:v>Sentinel</c:v>
          </c:tx>
          <c:spPr>
            <a:ln xmlns:a="http://schemas.openxmlformats.org/drawingml/2006/main" w="25718">
              <a:solidFill>
                <a:srgbClr val="DF750E"/>
              </a:solidFill>
            </a:ln>
          </c:spPr>
          <c:marker>
            <c:symbol val="none"/>
          </c:marker>
          <c:xVal>
            <c:numLit>
              <c:formatCode>General</c:formatCode>
              <c:ptCount val="33"/>
              <c:pt idx="0">
                <c:v>0.5</c:v>
              </c:pt>
              <c:pt idx="1">
                <c:v>1.5</c:v>
              </c:pt>
              <c:pt idx="2">
                <c:v>2.5</c:v>
              </c:pt>
              <c:pt idx="3">
                <c:v>3.5</c:v>
              </c:pt>
              <c:pt idx="4">
                <c:v>4.5</c:v>
              </c:pt>
              <c:pt idx="5">
                <c:v>5.5</c:v>
              </c:pt>
              <c:pt idx="6">
                <c:v>6.5</c:v>
              </c:pt>
              <c:pt idx="7">
                <c:v>7.5</c:v>
              </c:pt>
              <c:pt idx="8">
                <c:v>8.5</c:v>
              </c:pt>
              <c:pt idx="9">
                <c:v>9.5</c:v>
              </c:pt>
              <c:pt idx="10">
                <c:v>10.5</c:v>
              </c:pt>
              <c:pt idx="11">
                <c:v>11.5</c:v>
              </c:pt>
              <c:pt idx="12">
                <c:v>12.5</c:v>
              </c:pt>
              <c:pt idx="13">
                <c:v>13.5</c:v>
              </c:pt>
              <c:pt idx="14">
                <c:v>14.5</c:v>
              </c:pt>
              <c:pt idx="15">
                <c:v>15.5</c:v>
              </c:pt>
              <c:pt idx="16">
                <c:v>16.5</c:v>
              </c:pt>
              <c:pt idx="17">
                <c:v>17.5</c:v>
              </c:pt>
              <c:pt idx="18">
                <c:v>18.5</c:v>
              </c:pt>
              <c:pt idx="19">
                <c:v>19.5</c:v>
              </c:pt>
              <c:pt idx="20">
                <c:v>20.5</c:v>
              </c:pt>
              <c:pt idx="21">
                <c:v>21.5</c:v>
              </c:pt>
              <c:pt idx="22">
                <c:v>22.5</c:v>
              </c:pt>
              <c:pt idx="23">
                <c:v>23.5</c:v>
              </c:pt>
              <c:pt idx="24">
                <c:v>24.5</c:v>
              </c:pt>
              <c:pt idx="25">
                <c:v>25.5</c:v>
              </c:pt>
              <c:pt idx="26">
                <c:v>26.5</c:v>
              </c:pt>
              <c:pt idx="27">
                <c:v>27.5</c:v>
              </c:pt>
              <c:pt idx="28">
                <c:v>28.5</c:v>
              </c:pt>
              <c:pt idx="29">
                <c:v>29.5</c:v>
              </c:pt>
              <c:pt idx="30">
                <c:v>30.5</c:v>
              </c:pt>
              <c:pt idx="31">
                <c:v>31.5</c:v>
              </c:pt>
              <c:pt idx="32">
                <c:v>32.5</c:v>
              </c:pt>
            </c:numLit>
          </c:xVal>
          <c:yVal>
            <c:numLit>
              <c:formatCode>0</c:formatCode>
              <c:ptCount val="33"/>
              <c:pt idx="0">
                <c:v>31.613721206755642</c:v>
              </c:pt>
              <c:pt idx="1">
                <c:v>32.305978367745176</c:v>
              </c:pt>
              <c:pt idx="2">
                <c:v>32.41592393957583</c:v>
              </c:pt>
              <c:pt idx="3">
                <c:v>32.54411484653746</c:v>
              </c:pt>
              <c:pt idx="4">
                <c:v>32.21865254985381</c:v>
              </c:pt>
              <c:pt idx="5">
                <c:v>32.215468840463124</c:v>
              </c:pt>
              <c:pt idx="6">
                <c:v>32.098957689574924</c:v>
              </c:pt>
              <c:pt idx="7">
                <c:v>32.33272015965994</c:v>
              </c:pt>
              <c:pt idx="8">
                <c:v>32.80360264302412</c:v>
              </c:pt>
              <c:pt idx="9">
                <c:v>32.34766065274672</c:v>
              </c:pt>
              <c:pt idx="10">
                <c:v>32.39908317197051</c:v>
              </c:pt>
              <c:pt idx="11">
                <c:v>32.46197065493711</c:v>
              </c:pt>
              <c:pt idx="12">
                <c:v>32.60271627703819</c:v>
              </c:pt>
              <c:pt idx="13">
                <c:v>33.07452755864565</c:v>
              </c:pt>
              <c:pt idx="14">
                <c:v>32.369570051656005</c:v>
              </c:pt>
              <c:pt idx="15">
                <c:v>32.44589622265634</c:v>
              </c:pt>
              <c:pt idx="16">
                <c:v>32.54652506803357</c:v>
              </c:pt>
              <c:pt idx="17">
                <c:v>32.34165665611129</c:v>
              </c:pt>
              <c:pt idx="18">
                <c:v>32.19757361744329</c:v>
              </c:pt>
              <c:pt idx="19">
                <c:v>32.63291228756491</c:v>
              </c:pt>
              <c:pt idx="20">
                <c:v>32.36387548142603</c:v>
              </c:pt>
              <c:pt idx="21">
                <c:v>32.29369825306326</c:v>
              </c:pt>
              <c:pt idx="22">
                <c:v>32.604573931329384</c:v>
              </c:pt>
              <c:pt idx="23">
                <c:v>32.788387759544506</c:v>
              </c:pt>
              <c:pt idx="24">
                <c:v>33.15044666457963</c:v>
              </c:pt>
              <c:pt idx="25">
                <c:v>32.662292282396</c:v>
              </c:pt>
              <c:pt idx="26">
                <c:v>33.521575759565046</c:v>
              </c:pt>
              <c:pt idx="27">
                <c:v>35.783104233531766</c:v>
              </c:pt>
              <c:pt idx="28">
                <c:v>33.613791840720715</c:v>
              </c:pt>
              <c:pt idx="29">
                <c:v>33.66791369167702</c:v>
              </c:pt>
              <c:pt idx="30">
                <c:v>32.51818792009758</c:v>
              </c:pt>
              <c:pt idx="31">
                <c:v>31.88998395866163</c:v>
              </c:pt>
              <c:pt idx="32">
                <c:v>32.698209582910295</c:v>
              </c:pt>
            </c:numLit>
          </c:yVal>
        </c:ser>
        <c:ser>
          <c:idx val="1"/>
          <c:order val="1"/>
          <c:tx>
            <c:v>Scout</c:v>
          </c:tx>
          <c:spPr>
            <a:ln xmlns:a="http://schemas.openxmlformats.org/drawingml/2006/main" w="25718">
              <a:solidFill>
                <a:srgbClr val="236FE8"/>
              </a:solidFill>
            </a:ln>
          </c:spPr>
          <c:marker>
            <c:symbol val="none"/>
          </c:marker>
          <c:xVal>
            <c:numLit>
              <c:formatCode>General</c:formatCode>
              <c:ptCount val="33"/>
              <c:pt idx="0">
                <c:v>0.5</c:v>
              </c:pt>
              <c:pt idx="1">
                <c:v>1.5</c:v>
              </c:pt>
              <c:pt idx="2">
                <c:v>2.5</c:v>
              </c:pt>
              <c:pt idx="3">
                <c:v>3.5</c:v>
              </c:pt>
              <c:pt idx="4">
                <c:v>4.5</c:v>
              </c:pt>
              <c:pt idx="5">
                <c:v>5.5</c:v>
              </c:pt>
              <c:pt idx="6">
                <c:v>6.5</c:v>
              </c:pt>
              <c:pt idx="7">
                <c:v>7.5</c:v>
              </c:pt>
              <c:pt idx="8">
                <c:v>8.5</c:v>
              </c:pt>
              <c:pt idx="9">
                <c:v>9.5</c:v>
              </c:pt>
              <c:pt idx="10">
                <c:v>10.5</c:v>
              </c:pt>
              <c:pt idx="11">
                <c:v>11.5</c:v>
              </c:pt>
              <c:pt idx="12">
                <c:v>12.5</c:v>
              </c:pt>
              <c:pt idx="13">
                <c:v>13.5</c:v>
              </c:pt>
              <c:pt idx="14">
                <c:v>14.5</c:v>
              </c:pt>
              <c:pt idx="15">
                <c:v>15.5</c:v>
              </c:pt>
              <c:pt idx="16">
                <c:v>16.5</c:v>
              </c:pt>
              <c:pt idx="17">
                <c:v>17.5</c:v>
              </c:pt>
              <c:pt idx="18">
                <c:v>18.5</c:v>
              </c:pt>
              <c:pt idx="19">
                <c:v>19.5</c:v>
              </c:pt>
              <c:pt idx="20">
                <c:v>20.5</c:v>
              </c:pt>
              <c:pt idx="21">
                <c:v>21.5</c:v>
              </c:pt>
              <c:pt idx="22">
                <c:v>22.5</c:v>
              </c:pt>
              <c:pt idx="23">
                <c:v>23.5</c:v>
              </c:pt>
              <c:pt idx="24">
                <c:v>24.5</c:v>
              </c:pt>
              <c:pt idx="25">
                <c:v>25.5</c:v>
              </c:pt>
              <c:pt idx="26">
                <c:v>26.5</c:v>
              </c:pt>
              <c:pt idx="27">
                <c:v>27.5</c:v>
              </c:pt>
              <c:pt idx="28">
                <c:v>28.5</c:v>
              </c:pt>
              <c:pt idx="29">
                <c:v>29.5</c:v>
              </c:pt>
              <c:pt idx="30">
                <c:v>30.5</c:v>
              </c:pt>
              <c:pt idx="31">
                <c:v>31.5</c:v>
              </c:pt>
              <c:pt idx="32">
                <c:v>32.5</c:v>
              </c:pt>
            </c:numLit>
          </c:xVal>
          <c:yVal>
            <c:numLit>
              <c:formatCode>0</c:formatCode>
              <c:ptCount val="33"/>
              <c:pt idx="0">
                <c:v>40.95276603550064</c:v>
              </c:pt>
              <c:pt idx="1">
                <c:v>41.71520700172403</c:v>
              </c:pt>
              <c:pt idx="2">
                <c:v>41.94800669316205</c:v>
              </c:pt>
              <c:pt idx="3">
                <c:v>42.35497939106004</c:v>
              </c:pt>
              <c:pt idx="4">
                <c:v>41.55706277565974</c:v>
              </c:pt>
              <c:pt idx="5">
                <c:v>41.91458329522318</c:v>
              </c:pt>
              <c:pt idx="6">
                <c:v>42.068483515531256</c:v>
              </c:pt>
              <c:pt idx="7">
                <c:v>41.427908165529814</c:v>
              </c:pt>
              <c:pt idx="8">
                <c:v>41.627729500826746</c:v>
              </c:pt>
              <c:pt idx="9">
                <c:v>41.72778762495461</c:v>
              </c:pt>
              <c:pt idx="10">
                <c:v>42.64509145325447</c:v>
              </c:pt>
              <c:pt idx="11">
                <c:v>41.707542329739745</c:v>
              </c:pt>
              <c:pt idx="12">
                <c:v>42.016249706872244</c:v>
              </c:pt>
              <c:pt idx="13">
                <c:v>41.364695680644665</c:v>
              </c:pt>
              <c:pt idx="14">
                <c:v>41.91047348081047</c:v>
              </c:pt>
              <c:pt idx="15">
                <c:v>41.75088610314539</c:v>
              </c:pt>
              <c:pt idx="16">
                <c:v>41.437679476832876</c:v>
              </c:pt>
              <c:pt idx="17">
                <c:v>41.9778611021281</c:v>
              </c:pt>
              <c:pt idx="18">
                <c:v>42.24406105255597</c:v>
              </c:pt>
              <c:pt idx="19">
                <c:v>42.417625134958186</c:v>
              </c:pt>
              <c:pt idx="20">
                <c:v>41.56045216319102</c:v>
              </c:pt>
              <c:pt idx="21">
                <c:v>41.898150796568004</c:v>
              </c:pt>
              <c:pt idx="22">
                <c:v>41.99233563257069</c:v>
              </c:pt>
              <c:pt idx="23">
                <c:v>42.01280950658139</c:v>
              </c:pt>
              <c:pt idx="24">
                <c:v>42.03408233861389</c:v>
              </c:pt>
              <c:pt idx="25">
                <c:v>41.40161850929097</c:v>
              </c:pt>
              <c:pt idx="26">
                <c:v>42.18024992294634</c:v>
              </c:pt>
              <c:pt idx="27">
                <c:v>44.443843926618015</c:v>
              </c:pt>
              <c:pt idx="28">
                <c:v>48.56534405947638</c:v>
              </c:pt>
              <c:pt idx="29">
                <c:v>48.30215536269599</c:v>
              </c:pt>
              <c:pt idx="30">
                <c:v>45.25678082870883</c:v>
              </c:pt>
              <c:pt idx="31">
                <c:v>41.93869616022214</c:v>
              </c:pt>
              <c:pt idx="32">
                <c:v>41.49074129751284</c:v>
              </c:pt>
            </c:numLit>
          </c:yVal>
        </c:ser>
        <c:dLbls>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a:ln xmlns:a="http://schemas.openxmlformats.org/drawingml/2006/main" w="9525">
              <a:solidFill>
                <a:srgbClr val="D7DEE8"/>
              </a:solidFill>
            </a:ln>
          </c:spPr>
        </c:majorGridlines>
        <c:numFmt formatCode="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174"/>
                </a:solidFill>
                <a:latin typeface="Aptos"/>
                <a:ea typeface="Aptos"/>
                <a:cs typeface="Aptos"/>
              </a:defRPr>
            </a:pPr>
          </a:p>
        </c:txPr>
        <c:crossAx val="48650112"/>
        <c:crosses val="autoZero"/>
        <c:crossBetween val="midCat"/>
        <c:majorUnit val="20"/>
      </c:valAx>
      <c:valAx>
        <c:axId val="48650112"/>
        <c:scaling>
          <c:orientation val="minMax"/>
          <c:max val="33"/>
          <c:min val="0"/>
        </c:scaling>
        <c:delete val="0"/>
        <c:axPos val="b"/>
        <c:title>
          <c:tx>
            <c:rich>
              <a:bodyPr xmlns:a="http://schemas.openxmlformats.org/drawingml/2006/main"/>
              <a:lstStyle xmlns:a="http://schemas.openxmlformats.org/drawingml/2006/main"/>
              <a:p xmlns:a="http://schemas.openxmlformats.org/drawingml/2006/main">
                <a:r>
                  <a:rPr sz="1275">
                    <a:solidFill>
                      <a:srgbClr val="526174"/>
                    </a:solidFill>
                    <a:latin typeface="Aptos"/>
                    <a:ea typeface="Aptos"/>
                    <a:cs typeface="Aptos"/>
                  </a:rPr>
                  <a:t>Elapsed observation (min)</a:t>
                </a:r>
              </a:p>
            </c:rich>
          </c:tx>
          <c:overlay val="0"/>
          <c:txPr>
            <a:bodyPr xmlns:a="http://schemas.openxmlformats.org/drawingml/2006/main" anchorCtr="1"/>
            <a:lstStyle xmlns:a="http://schemas.openxmlformats.org/drawingml/2006/main"/>
            <a:p xmlns:a="http://schemas.openxmlformats.org/drawingml/2006/main">
              <a:pPr>
                <a:defRPr sz="1275">
                  <a:solidFill>
                    <a:srgbClr val="526174"/>
                  </a:solidFill>
                  <a:latin typeface="Aptos"/>
                  <a:ea typeface="Aptos"/>
                  <a:cs typeface="Aptos"/>
                </a:defRPr>
              </a:pPr>
            </a:p>
          </c:txPr>
        </c:title>
        <c:numFmt formatCode="General" sourceLinked="1"/>
        <c:majorTickMark val="none"/>
        <c:minorTickMark val="none"/>
        <c:tickLblPos val="nextTo"/>
        <c:spPr>
          <a:ln xmlns:a="http://schemas.openxmlformats.org/drawingml/2006/main" w="9525">
            <a:solidFill>
              <a:srgbClr val="D7DEE8"/>
            </a:solidFill>
          </a:ln>
        </c:spPr>
        <c:txPr>
          <a:bodyPr xmlns:a="http://schemas.openxmlformats.org/drawingml/2006/main" anchorCtr="1"/>
          <a:lstStyle xmlns:a="http://schemas.openxmlformats.org/drawingml/2006/main"/>
          <a:p xmlns:a="http://schemas.openxmlformats.org/drawingml/2006/main">
            <a:pPr>
              <a:defRPr sz="1350">
                <a:solidFill>
                  <a:srgbClr val="526174"/>
                </a:solidFill>
                <a:latin typeface="Aptos"/>
                <a:ea typeface="Aptos"/>
                <a:cs typeface="Aptos"/>
              </a:defRPr>
            </a:pPr>
          </a:p>
        </c:txPr>
        <c:crossAx val="48672768"/>
        <c:crosses val="autoZero"/>
        <c:crossBetween val="midCat"/>
        <c:majorUnit val="8"/>
      </c:valAx>
      <c:spPr>
        <a:solidFill xmlns:a="http://schemas.openxmlformats.org/drawingml/2006/main">
          <a:srgbClr val="FFFFFF"/>
        </a:solidFill>
      </c:spPr>
    </c:plotArea>
    <c:plotVisOnly val="1"/>
    <c:dispBlanksAs val="zero"/>
    <c:showDLblsOverMax val="1"/>
  </c:chart>
  <c:spPr>
    <a:solidFill xmlns:a="http://schemas.openxmlformats.org/drawingml/2006/main">
      <a:srgbClr val="FFFFFF"/>
    </a:solidFill>
  </c:spPr>
</c:chartSpace>
</file>

<file path=ppt/slides/charts/chart4.xml><?xml version="1.0" encoding="utf-8"?>
<c:chartSpace xmlns:c="http://schemas.openxmlformats.org/drawingml/2006/chart">
  <c:lang val="en-US"/>
  <c:roundedCorners val="1"/>
  <c:style val="2"/>
  <c:chart>
    <c:autoTitleDeleted val="1"/>
    <c:plotArea>
      <c:scatterChart>
        <c:scatterStyle val="lineMarker"/>
        <c:varyColors val="0"/>
        <c:ser>
          <c:idx val="0"/>
          <c:order val="0"/>
          <c:tx>
            <c:v>Sentinel</c:v>
          </c:tx>
          <c:spPr>
            <a:ln xmlns:a="http://schemas.openxmlformats.org/drawingml/2006/main" w="25718">
              <a:solidFill>
                <a:srgbClr val="DF750E"/>
              </a:solidFill>
            </a:ln>
          </c:spPr>
          <c:marker>
            <c:symbol val="none"/>
          </c:marker>
          <c:xVal>
            <c:numLit>
              <c:formatCode>General</c:formatCode>
              <c:ptCount val="33"/>
              <c:pt idx="0">
                <c:v>0.5</c:v>
              </c:pt>
              <c:pt idx="1">
                <c:v>1.5</c:v>
              </c:pt>
              <c:pt idx="2">
                <c:v>2.5</c:v>
              </c:pt>
              <c:pt idx="3">
                <c:v>3.5</c:v>
              </c:pt>
              <c:pt idx="4">
                <c:v>4.5</c:v>
              </c:pt>
              <c:pt idx="5">
                <c:v>5.5</c:v>
              </c:pt>
              <c:pt idx="6">
                <c:v>6.5</c:v>
              </c:pt>
              <c:pt idx="7">
                <c:v>7.5</c:v>
              </c:pt>
              <c:pt idx="8">
                <c:v>8.5</c:v>
              </c:pt>
              <c:pt idx="9">
                <c:v>9.5</c:v>
              </c:pt>
              <c:pt idx="10">
                <c:v>10.5</c:v>
              </c:pt>
              <c:pt idx="11">
                <c:v>11.5</c:v>
              </c:pt>
              <c:pt idx="12">
                <c:v>12.5</c:v>
              </c:pt>
              <c:pt idx="13">
                <c:v>13.5</c:v>
              </c:pt>
              <c:pt idx="14">
                <c:v>14.5</c:v>
              </c:pt>
              <c:pt idx="15">
                <c:v>15.5</c:v>
              </c:pt>
              <c:pt idx="16">
                <c:v>16.5</c:v>
              </c:pt>
              <c:pt idx="17">
                <c:v>17.5</c:v>
              </c:pt>
              <c:pt idx="18">
                <c:v>18.5</c:v>
              </c:pt>
              <c:pt idx="19">
                <c:v>19.5</c:v>
              </c:pt>
              <c:pt idx="20">
                <c:v>20.5</c:v>
              </c:pt>
              <c:pt idx="21">
                <c:v>21.5</c:v>
              </c:pt>
              <c:pt idx="22">
                <c:v>22.5</c:v>
              </c:pt>
              <c:pt idx="23">
                <c:v>23.5</c:v>
              </c:pt>
              <c:pt idx="24">
                <c:v>24.5</c:v>
              </c:pt>
              <c:pt idx="25">
                <c:v>25.5</c:v>
              </c:pt>
              <c:pt idx="26">
                <c:v>26.5</c:v>
              </c:pt>
              <c:pt idx="27">
                <c:v>27.5</c:v>
              </c:pt>
              <c:pt idx="28">
                <c:v>28.5</c:v>
              </c:pt>
              <c:pt idx="29">
                <c:v>29.5</c:v>
              </c:pt>
              <c:pt idx="30">
                <c:v>30.5</c:v>
              </c:pt>
              <c:pt idx="31">
                <c:v>31.5</c:v>
              </c:pt>
              <c:pt idx="32">
                <c:v>32.5</c:v>
              </c:pt>
            </c:numLit>
          </c:xVal>
          <c:yVal>
            <c:numLit>
              <c:formatCode>0</c:formatCode>
              <c:ptCount val="33"/>
              <c:pt idx="0">
                <c:v>2622.9919483418366</c:v>
              </c:pt>
              <c:pt idx="1">
                <c:v>2263.369763962766</c:v>
              </c:pt>
              <c:pt idx="2">
                <c:v>2262.1521809895835</c:v>
              </c:pt>
              <c:pt idx="3">
                <c:v>2261.2645670572915</c:v>
              </c:pt>
              <c:pt idx="4">
                <c:v>2260.777587890625</c:v>
              </c:pt>
              <c:pt idx="5">
                <c:v>2261.036376953125</c:v>
              </c:pt>
              <c:pt idx="6">
                <c:v>2261.0874837239585</c:v>
              </c:pt>
              <c:pt idx="7">
                <c:v>2260.3014322916665</c:v>
              </c:pt>
              <c:pt idx="8">
                <c:v>2259.677734375</c:v>
              </c:pt>
              <c:pt idx="9">
                <c:v>2259.1416015625</c:v>
              </c:pt>
              <c:pt idx="10">
                <c:v>2258.56005859375</c:v>
              </c:pt>
              <c:pt idx="11">
                <c:v>2257.4413248697915</c:v>
              </c:pt>
              <c:pt idx="12">
                <c:v>2257.537841796875</c:v>
              </c:pt>
              <c:pt idx="13">
                <c:v>2257.1531575520835</c:v>
              </c:pt>
              <c:pt idx="14">
                <c:v>2256.7294921875</c:v>
              </c:pt>
              <c:pt idx="15">
                <c:v>2256.48828125</c:v>
              </c:pt>
              <c:pt idx="16">
                <c:v>2256.043212890625</c:v>
              </c:pt>
              <c:pt idx="17">
                <c:v>2255.8404134114585</c:v>
              </c:pt>
              <c:pt idx="18">
                <c:v>2255.6649576822915</c:v>
              </c:pt>
              <c:pt idx="19">
                <c:v>2255.2850748697915</c:v>
              </c:pt>
              <c:pt idx="20">
                <c:v>2255.068115234375</c:v>
              </c:pt>
              <c:pt idx="21">
                <c:v>2254.7093098958335</c:v>
              </c:pt>
              <c:pt idx="22">
                <c:v>2254.5478515625</c:v>
              </c:pt>
              <c:pt idx="23">
                <c:v>2255.672607421875</c:v>
              </c:pt>
              <c:pt idx="24">
                <c:v>2255.1866048177085</c:v>
              </c:pt>
              <c:pt idx="25">
                <c:v>2254.2445475260415</c:v>
              </c:pt>
              <c:pt idx="26">
                <c:v>2253.5857747395835</c:v>
              </c:pt>
              <c:pt idx="27">
                <c:v>2214.7530924479165</c:v>
              </c:pt>
              <c:pt idx="28">
                <c:v>2213.4786783854165</c:v>
              </c:pt>
              <c:pt idx="29">
                <c:v>2212.07763671875</c:v>
              </c:pt>
              <c:pt idx="30">
                <c:v>2266.2096354166665</c:v>
              </c:pt>
              <c:pt idx="31">
                <c:v>2296.912841796875</c:v>
              </c:pt>
              <c:pt idx="32">
                <c:v>2222.5400390625</c:v>
              </c:pt>
            </c:numLit>
          </c:yVal>
        </c:ser>
        <c:ser>
          <c:idx val="1"/>
          <c:order val="1"/>
          <c:tx>
            <c:v>Scout</c:v>
          </c:tx>
          <c:spPr>
            <a:ln xmlns:a="http://schemas.openxmlformats.org/drawingml/2006/main" w="25718">
              <a:solidFill>
                <a:srgbClr val="236FE8"/>
              </a:solidFill>
            </a:ln>
          </c:spPr>
          <c:marker>
            <c:symbol val="none"/>
          </c:marker>
          <c:xVal>
            <c:numLit>
              <c:formatCode>General</c:formatCode>
              <c:ptCount val="33"/>
              <c:pt idx="0">
                <c:v>0.5</c:v>
              </c:pt>
              <c:pt idx="1">
                <c:v>1.5</c:v>
              </c:pt>
              <c:pt idx="2">
                <c:v>2.5</c:v>
              </c:pt>
              <c:pt idx="3">
                <c:v>3.5</c:v>
              </c:pt>
              <c:pt idx="4">
                <c:v>4.5</c:v>
              </c:pt>
              <c:pt idx="5">
                <c:v>5.5</c:v>
              </c:pt>
              <c:pt idx="6">
                <c:v>6.5</c:v>
              </c:pt>
              <c:pt idx="7">
                <c:v>7.5</c:v>
              </c:pt>
              <c:pt idx="8">
                <c:v>8.5</c:v>
              </c:pt>
              <c:pt idx="9">
                <c:v>9.5</c:v>
              </c:pt>
              <c:pt idx="10">
                <c:v>10.5</c:v>
              </c:pt>
              <c:pt idx="11">
                <c:v>11.5</c:v>
              </c:pt>
              <c:pt idx="12">
                <c:v>12.5</c:v>
              </c:pt>
              <c:pt idx="13">
                <c:v>13.5</c:v>
              </c:pt>
              <c:pt idx="14">
                <c:v>14.5</c:v>
              </c:pt>
              <c:pt idx="15">
                <c:v>15.5</c:v>
              </c:pt>
              <c:pt idx="16">
                <c:v>16.5</c:v>
              </c:pt>
              <c:pt idx="17">
                <c:v>17.5</c:v>
              </c:pt>
              <c:pt idx="18">
                <c:v>18.5</c:v>
              </c:pt>
              <c:pt idx="19">
                <c:v>19.5</c:v>
              </c:pt>
              <c:pt idx="20">
                <c:v>20.5</c:v>
              </c:pt>
              <c:pt idx="21">
                <c:v>21.5</c:v>
              </c:pt>
              <c:pt idx="22">
                <c:v>22.5</c:v>
              </c:pt>
              <c:pt idx="23">
                <c:v>23.5</c:v>
              </c:pt>
              <c:pt idx="24">
                <c:v>24.5</c:v>
              </c:pt>
              <c:pt idx="25">
                <c:v>25.5</c:v>
              </c:pt>
              <c:pt idx="26">
                <c:v>26.5</c:v>
              </c:pt>
              <c:pt idx="27">
                <c:v>27.5</c:v>
              </c:pt>
              <c:pt idx="28">
                <c:v>28.5</c:v>
              </c:pt>
              <c:pt idx="29">
                <c:v>29.5</c:v>
              </c:pt>
              <c:pt idx="30">
                <c:v>30.5</c:v>
              </c:pt>
              <c:pt idx="31">
                <c:v>31.5</c:v>
              </c:pt>
              <c:pt idx="32">
                <c:v>32.5</c:v>
              </c:pt>
            </c:numLit>
          </c:xVal>
          <c:yVal>
            <c:numLit>
              <c:formatCode>0</c:formatCode>
              <c:ptCount val="33"/>
              <c:pt idx="0">
                <c:v>5121.867598684211</c:v>
              </c:pt>
              <c:pt idx="1">
                <c:v>5112.178179824561</c:v>
              </c:pt>
              <c:pt idx="2">
                <c:v>5112.946477521929</c:v>
              </c:pt>
              <c:pt idx="3">
                <c:v>5108.503289473684</c:v>
              </c:pt>
              <c:pt idx="4">
                <c:v>5106.129534040178</c:v>
              </c:pt>
              <c:pt idx="5">
                <c:v>5103.277138157895</c:v>
              </c:pt>
              <c:pt idx="6">
                <c:v>5102.473615679824</c:v>
              </c:pt>
              <c:pt idx="7">
                <c:v>5100.582990679824</c:v>
              </c:pt>
              <c:pt idx="8">
                <c:v>5097.936197916667</c:v>
              </c:pt>
              <c:pt idx="9">
                <c:v>5094.592859100877</c:v>
              </c:pt>
              <c:pt idx="10">
                <c:v>5093.447299890351</c:v>
              </c:pt>
              <c:pt idx="11">
                <c:v>5091.470531798245</c:v>
              </c:pt>
              <c:pt idx="12">
                <c:v>5090.673270089285</c:v>
              </c:pt>
              <c:pt idx="13">
                <c:v>5087.061266447368</c:v>
              </c:pt>
              <c:pt idx="14">
                <c:v>5088.0604440789475</c:v>
              </c:pt>
              <c:pt idx="15">
                <c:v>5083.847793311404</c:v>
              </c:pt>
              <c:pt idx="16">
                <c:v>5082.100603070176</c:v>
              </c:pt>
              <c:pt idx="17">
                <c:v>5078.514322916667</c:v>
              </c:pt>
              <c:pt idx="18">
                <c:v>5077.317801339285</c:v>
              </c:pt>
              <c:pt idx="19">
                <c:v>5074.979509320176</c:v>
              </c:pt>
              <c:pt idx="20">
                <c:v>5074.357456140351</c:v>
              </c:pt>
              <c:pt idx="21">
                <c:v>5073.3456003289475</c:v>
              </c:pt>
              <c:pt idx="22">
                <c:v>5070.5771484375</c:v>
              </c:pt>
              <c:pt idx="23">
                <c:v>5067.673999451755</c:v>
              </c:pt>
              <c:pt idx="24">
                <c:v>5065.513500548245</c:v>
              </c:pt>
              <c:pt idx="25">
                <c:v>5066.426123903509</c:v>
              </c:pt>
              <c:pt idx="26">
                <c:v>5065.254248903509</c:v>
              </c:pt>
              <c:pt idx="27">
                <c:v>5005.109723772322</c:v>
              </c:pt>
              <c:pt idx="28">
                <c:v>4918.470668859649</c:v>
              </c:pt>
              <c:pt idx="29">
                <c:v>4917.914747807017</c:v>
              </c:pt>
              <c:pt idx="30">
                <c:v>4914.291598135965</c:v>
              </c:pt>
              <c:pt idx="31">
                <c:v>4911.405970982143</c:v>
              </c:pt>
              <c:pt idx="32">
                <c:v>4927.790364583333</c:v>
              </c:pt>
            </c:numLit>
          </c:yVal>
        </c:ser>
        <c:dLbls>
          <c:showLegendKey val="0"/>
          <c:showVal val="0"/>
          <c:showCatName val="0"/>
          <c:showSerName val="0"/>
          <c:showPercent val="0"/>
          <c:showBubbleSize val="0"/>
          <c:showLeaderLines val="0"/>
        </c:dLbls>
        <c:axId val="48650112"/>
        <c:axId val="48672768"/>
      </c:scatterChart>
      <c:valAx>
        <c:axId val="48672768"/>
        <c:scaling>
          <c:orientation val="minMax"/>
          <c:max val="6000"/>
          <c:min val="0"/>
        </c:scaling>
        <c:delete val="0"/>
        <c:axPos val="l"/>
        <c:majorGridlines>
          <c:spPr>
            <a:ln xmlns:a="http://schemas.openxmlformats.org/drawingml/2006/main" w="9525">
              <a:solidFill>
                <a:srgbClr val="D7DEE8"/>
              </a:solidFill>
            </a:ln>
          </c:spPr>
        </c:majorGridlines>
        <c:numFmt formatCode="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174"/>
                </a:solidFill>
                <a:latin typeface="Aptos"/>
                <a:ea typeface="Aptos"/>
                <a:cs typeface="Aptos"/>
              </a:defRPr>
            </a:pPr>
          </a:p>
        </c:txPr>
        <c:crossAx val="48650112"/>
        <c:crosses val="autoZero"/>
        <c:crossBetween val="midCat"/>
        <c:majorUnit val="2000"/>
      </c:valAx>
      <c:valAx>
        <c:axId val="48650112"/>
        <c:scaling>
          <c:orientation val="minMax"/>
          <c:max val="33"/>
          <c:min val="0"/>
        </c:scaling>
        <c:delete val="0"/>
        <c:axPos val="b"/>
        <c:title>
          <c:tx>
            <c:rich>
              <a:bodyPr xmlns:a="http://schemas.openxmlformats.org/drawingml/2006/main"/>
              <a:lstStyle xmlns:a="http://schemas.openxmlformats.org/drawingml/2006/main"/>
              <a:p xmlns:a="http://schemas.openxmlformats.org/drawingml/2006/main">
                <a:r>
                  <a:rPr sz="1275">
                    <a:solidFill>
                      <a:srgbClr val="526174"/>
                    </a:solidFill>
                    <a:latin typeface="Aptos"/>
                    <a:ea typeface="Aptos"/>
                    <a:cs typeface="Aptos"/>
                  </a:rPr>
                  <a:t>Elapsed observation (min)</a:t>
                </a:r>
              </a:p>
            </c:rich>
          </c:tx>
          <c:overlay val="0"/>
          <c:txPr>
            <a:bodyPr xmlns:a="http://schemas.openxmlformats.org/drawingml/2006/main" anchorCtr="1"/>
            <a:lstStyle xmlns:a="http://schemas.openxmlformats.org/drawingml/2006/main"/>
            <a:p xmlns:a="http://schemas.openxmlformats.org/drawingml/2006/main">
              <a:pPr>
                <a:defRPr sz="1275">
                  <a:solidFill>
                    <a:srgbClr val="526174"/>
                  </a:solidFill>
                  <a:latin typeface="Aptos"/>
                  <a:ea typeface="Aptos"/>
                  <a:cs typeface="Aptos"/>
                </a:defRPr>
              </a:pPr>
            </a:p>
          </c:txPr>
        </c:title>
        <c:numFmt formatCode="General" sourceLinked="1"/>
        <c:majorTickMark val="none"/>
        <c:minorTickMark val="none"/>
        <c:tickLblPos val="nextTo"/>
        <c:spPr>
          <a:ln xmlns:a="http://schemas.openxmlformats.org/drawingml/2006/main" w="9525">
            <a:solidFill>
              <a:srgbClr val="D7DEE8"/>
            </a:solidFill>
          </a:ln>
        </c:spPr>
        <c:txPr>
          <a:bodyPr xmlns:a="http://schemas.openxmlformats.org/drawingml/2006/main" anchorCtr="1"/>
          <a:lstStyle xmlns:a="http://schemas.openxmlformats.org/drawingml/2006/main"/>
          <a:p xmlns:a="http://schemas.openxmlformats.org/drawingml/2006/main">
            <a:pPr>
              <a:defRPr sz="1350">
                <a:solidFill>
                  <a:srgbClr val="526174"/>
                </a:solidFill>
                <a:latin typeface="Aptos"/>
                <a:ea typeface="Aptos"/>
                <a:cs typeface="Aptos"/>
              </a:defRPr>
            </a:pPr>
          </a:p>
        </c:txPr>
        <c:crossAx val="48672768"/>
        <c:crosses val="autoZero"/>
        <c:crossBetween val="midCat"/>
        <c:majorUnit val="8"/>
      </c:valAx>
      <c:spPr>
        <a:solidFill xmlns:a="http://schemas.openxmlformats.org/drawingml/2006/main">
          <a:srgbClr val="FFFFFF"/>
        </a:solidFill>
      </c:spPr>
    </c:plotArea>
    <c:plotVisOnly val="1"/>
    <c:dispBlanksAs val="zero"/>
    <c:showDLblsOverMax val="1"/>
  </c:chart>
  <c:spPr>
    <a:solidFill xmlns:a="http://schemas.openxmlformats.org/drawingml/2006/main">
      <a:srgbClr val="FFFFFF"/>
    </a:solidFill>
  </c:spPr>
</c:chartSpace>
</file>

<file path=ppt/slides/charts/chart5.xml><?xml version="1.0" encoding="utf-8"?>
<c:chartSpace xmlns:c="http://schemas.openxmlformats.org/drawingml/2006/chart">
  <c:lang val="en-US"/>
  <c:roundedCorners val="1"/>
  <c:style val="2"/>
  <c:chart>
    <c:autoTitleDeleted val="1"/>
    <c:plotArea>
      <c:scatterChart>
        <c:scatterStyle val="lineMarker"/>
        <c:varyColors val="0"/>
        <c:ser>
          <c:idx val="0"/>
          <c:order val="0"/>
          <c:tx>
            <c:v>Sentinel</c:v>
          </c:tx>
          <c:spPr>
            <a:ln xmlns:a="http://schemas.openxmlformats.org/drawingml/2006/main" w="25718">
              <a:solidFill>
                <a:srgbClr val="DF750E"/>
              </a:solidFill>
            </a:ln>
          </c:spPr>
          <c:marker>
            <c:symbol val="none"/>
          </c:marker>
          <c:xVal>
            <c:numLit>
              <c:formatCode>General</c:formatCode>
              <c:ptCount val="33"/>
              <c:pt idx="0">
                <c:v>0.5</c:v>
              </c:pt>
              <c:pt idx="1">
                <c:v>1.5</c:v>
              </c:pt>
              <c:pt idx="2">
                <c:v>2.5</c:v>
              </c:pt>
              <c:pt idx="3">
                <c:v>3.5</c:v>
              </c:pt>
              <c:pt idx="4">
                <c:v>4.5</c:v>
              </c:pt>
              <c:pt idx="5">
                <c:v>5.5</c:v>
              </c:pt>
              <c:pt idx="6">
                <c:v>6.5</c:v>
              </c:pt>
              <c:pt idx="7">
                <c:v>7.5</c:v>
              </c:pt>
              <c:pt idx="8">
                <c:v>8.5</c:v>
              </c:pt>
              <c:pt idx="9">
                <c:v>9.5</c:v>
              </c:pt>
              <c:pt idx="10">
                <c:v>10.5</c:v>
              </c:pt>
              <c:pt idx="11">
                <c:v>11.5</c:v>
              </c:pt>
              <c:pt idx="12">
                <c:v>12.5</c:v>
              </c:pt>
              <c:pt idx="13">
                <c:v>13.5</c:v>
              </c:pt>
              <c:pt idx="14">
                <c:v>14.5</c:v>
              </c:pt>
              <c:pt idx="15">
                <c:v>15.5</c:v>
              </c:pt>
              <c:pt idx="16">
                <c:v>16.5</c:v>
              </c:pt>
              <c:pt idx="17">
                <c:v>17.5</c:v>
              </c:pt>
              <c:pt idx="18">
                <c:v>18.5</c:v>
              </c:pt>
              <c:pt idx="19">
                <c:v>19.5</c:v>
              </c:pt>
              <c:pt idx="20">
                <c:v>20.5</c:v>
              </c:pt>
              <c:pt idx="21">
                <c:v>21.5</c:v>
              </c:pt>
              <c:pt idx="22">
                <c:v>22.5</c:v>
              </c:pt>
              <c:pt idx="23">
                <c:v>23.5</c:v>
              </c:pt>
              <c:pt idx="24">
                <c:v>24.5</c:v>
              </c:pt>
              <c:pt idx="25">
                <c:v>25.5</c:v>
              </c:pt>
              <c:pt idx="26">
                <c:v>26.5</c:v>
              </c:pt>
              <c:pt idx="27">
                <c:v>27.5</c:v>
              </c:pt>
              <c:pt idx="28">
                <c:v>28.5</c:v>
              </c:pt>
              <c:pt idx="29">
                <c:v>29.5</c:v>
              </c:pt>
              <c:pt idx="30">
                <c:v>30.5</c:v>
              </c:pt>
              <c:pt idx="31">
                <c:v>31.5</c:v>
              </c:pt>
              <c:pt idx="32">
                <c:v>32.5</c:v>
              </c:pt>
            </c:numLit>
          </c:xVal>
          <c:yVal>
            <c:numLit>
              <c:formatCode>0</c:formatCode>
              <c:ptCount val="33"/>
              <c:pt idx="0">
                <c:v>50</c:v>
              </c:pt>
              <c:pt idx="1">
                <c:v>50</c:v>
              </c:pt>
              <c:pt idx="2">
                <c:v>50</c:v>
              </c:pt>
              <c:pt idx="3">
                <c:v>50</c:v>
              </c:pt>
              <c:pt idx="4">
                <c:v>50</c:v>
              </c:pt>
              <c:pt idx="5">
                <c:v>50</c:v>
              </c:pt>
              <c:pt idx="6">
                <c:v>50</c:v>
              </c:pt>
              <c:pt idx="7">
                <c:v>50</c:v>
              </c:pt>
              <c:pt idx="8">
                <c:v>50</c:v>
              </c:pt>
              <c:pt idx="9">
                <c:v>50</c:v>
              </c:pt>
              <c:pt idx="10">
                <c:v>50</c:v>
              </c:pt>
              <c:pt idx="11">
                <c:v>50</c:v>
              </c:pt>
              <c:pt idx="12">
                <c:v>50</c:v>
              </c:pt>
              <c:pt idx="13">
                <c:v>50.041666666666664</c:v>
              </c:pt>
              <c:pt idx="14">
                <c:v>50</c:v>
              </c:pt>
              <c:pt idx="15">
                <c:v>50</c:v>
              </c:pt>
              <c:pt idx="16">
                <c:v>50</c:v>
              </c:pt>
              <c:pt idx="17">
                <c:v>50</c:v>
              </c:pt>
              <c:pt idx="18">
                <c:v>50</c:v>
              </c:pt>
              <c:pt idx="19">
                <c:v>50</c:v>
              </c:pt>
              <c:pt idx="20">
                <c:v>50</c:v>
              </c:pt>
              <c:pt idx="21">
                <c:v>50</c:v>
              </c:pt>
              <c:pt idx="22">
                <c:v>50</c:v>
              </c:pt>
              <c:pt idx="23">
                <c:v>50</c:v>
              </c:pt>
              <c:pt idx="24">
                <c:v>50</c:v>
              </c:pt>
              <c:pt idx="25">
                <c:v>50</c:v>
              </c:pt>
              <c:pt idx="26">
                <c:v>50</c:v>
              </c:pt>
              <c:pt idx="27">
                <c:v>50</c:v>
              </c:pt>
              <c:pt idx="28">
                <c:v>50</c:v>
              </c:pt>
              <c:pt idx="29">
                <c:v>50</c:v>
              </c:pt>
              <c:pt idx="30">
                <c:v>50</c:v>
              </c:pt>
              <c:pt idx="31">
                <c:v>50</c:v>
              </c:pt>
              <c:pt idx="32">
                <c:v>50</c:v>
              </c:pt>
            </c:numLit>
          </c:yVal>
        </c:ser>
        <c:ser>
          <c:idx val="1"/>
          <c:order val="1"/>
          <c:tx>
            <c:v>Scout</c:v>
          </c:tx>
          <c:spPr>
            <a:ln xmlns:a="http://schemas.openxmlformats.org/drawingml/2006/main" w="25718">
              <a:solidFill>
                <a:srgbClr val="236FE8"/>
              </a:solidFill>
            </a:ln>
          </c:spPr>
          <c:marker>
            <c:symbol val="none"/>
          </c:marker>
          <c:xVal>
            <c:numLit>
              <c:formatCode>General</c:formatCode>
              <c:ptCount val="33"/>
              <c:pt idx="0">
                <c:v>0.5</c:v>
              </c:pt>
              <c:pt idx="1">
                <c:v>1.5</c:v>
              </c:pt>
              <c:pt idx="2">
                <c:v>2.5</c:v>
              </c:pt>
              <c:pt idx="3">
                <c:v>3.5</c:v>
              </c:pt>
              <c:pt idx="4">
                <c:v>4.5</c:v>
              </c:pt>
              <c:pt idx="5">
                <c:v>5.5</c:v>
              </c:pt>
              <c:pt idx="6">
                <c:v>6.5</c:v>
              </c:pt>
              <c:pt idx="7">
                <c:v>7.5</c:v>
              </c:pt>
              <c:pt idx="8">
                <c:v>8.5</c:v>
              </c:pt>
              <c:pt idx="9">
                <c:v>9.5</c:v>
              </c:pt>
              <c:pt idx="10">
                <c:v>10.5</c:v>
              </c:pt>
              <c:pt idx="11">
                <c:v>11.5</c:v>
              </c:pt>
              <c:pt idx="12">
                <c:v>12.5</c:v>
              </c:pt>
              <c:pt idx="13">
                <c:v>13.5</c:v>
              </c:pt>
              <c:pt idx="14">
                <c:v>14.5</c:v>
              </c:pt>
              <c:pt idx="15">
                <c:v>15.5</c:v>
              </c:pt>
              <c:pt idx="16">
                <c:v>16.5</c:v>
              </c:pt>
              <c:pt idx="17">
                <c:v>17.5</c:v>
              </c:pt>
              <c:pt idx="18">
                <c:v>18.5</c:v>
              </c:pt>
              <c:pt idx="19">
                <c:v>19.5</c:v>
              </c:pt>
              <c:pt idx="20">
                <c:v>20.5</c:v>
              </c:pt>
              <c:pt idx="21">
                <c:v>21.5</c:v>
              </c:pt>
              <c:pt idx="22">
                <c:v>22.5</c:v>
              </c:pt>
              <c:pt idx="23">
                <c:v>23.5</c:v>
              </c:pt>
              <c:pt idx="24">
                <c:v>24.5</c:v>
              </c:pt>
              <c:pt idx="25">
                <c:v>25.5</c:v>
              </c:pt>
              <c:pt idx="26">
                <c:v>26.5</c:v>
              </c:pt>
              <c:pt idx="27">
                <c:v>27.5</c:v>
              </c:pt>
              <c:pt idx="28">
                <c:v>28.5</c:v>
              </c:pt>
              <c:pt idx="29">
                <c:v>29.5</c:v>
              </c:pt>
              <c:pt idx="30">
                <c:v>30.5</c:v>
              </c:pt>
              <c:pt idx="31">
                <c:v>31.5</c:v>
              </c:pt>
              <c:pt idx="32">
                <c:v>32.5</c:v>
              </c:pt>
            </c:numLit>
          </c:xVal>
          <c:yVal>
            <c:numLit>
              <c:formatCode>0</c:formatCode>
              <c:ptCount val="33"/>
              <c:pt idx="0">
                <c:v>43.90038596491232</c:v>
              </c:pt>
              <c:pt idx="1">
                <c:v>44.60877192982456</c:v>
              </c:pt>
              <c:pt idx="2">
                <c:v>44.70877192982458</c:v>
              </c:pt>
              <c:pt idx="3">
                <c:v>45.26666666666667</c:v>
              </c:pt>
              <c:pt idx="4">
                <c:v>44.84642857142859</c:v>
              </c:pt>
              <c:pt idx="5">
                <c:v>44.60350877192985</c:v>
              </c:pt>
              <c:pt idx="6">
                <c:v>44.7105263157895</c:v>
              </c:pt>
              <c:pt idx="7">
                <c:v>44.696491228070194</c:v>
              </c:pt>
              <c:pt idx="8">
                <c:v>44.761403508771956</c:v>
              </c:pt>
              <c:pt idx="9">
                <c:v>44.743859649122825</c:v>
              </c:pt>
              <c:pt idx="10">
                <c:v>44.72807017543862</c:v>
              </c:pt>
              <c:pt idx="11">
                <c:v>44.526315789473706</c:v>
              </c:pt>
              <c:pt idx="12">
                <c:v>44.737500000000004</c:v>
              </c:pt>
              <c:pt idx="13">
                <c:v>44.82631578947368</c:v>
              </c:pt>
              <c:pt idx="14">
                <c:v>44.75964912280702</c:v>
              </c:pt>
              <c:pt idx="15">
                <c:v>44.9438596491228</c:v>
              </c:pt>
              <c:pt idx="16">
                <c:v>44.79122807017544</c:v>
              </c:pt>
              <c:pt idx="17">
                <c:v>44.829824561403505</c:v>
              </c:pt>
              <c:pt idx="18">
                <c:v>44.90714285714285</c:v>
              </c:pt>
              <c:pt idx="19">
                <c:v>44.83157894736844</c:v>
              </c:pt>
              <c:pt idx="20">
                <c:v>44.71929824561405</c:v>
              </c:pt>
              <c:pt idx="21">
                <c:v>44.5824561403509</c:v>
              </c:pt>
              <c:pt idx="22">
                <c:v>44.47678571428573</c:v>
              </c:pt>
              <c:pt idx="23">
                <c:v>44.52280701754389</c:v>
              </c:pt>
              <c:pt idx="24">
                <c:v>44.57719298245616</c:v>
              </c:pt>
              <c:pt idx="25">
                <c:v>44.69473684210528</c:v>
              </c:pt>
              <c:pt idx="26">
                <c:v>44.55087719298248</c:v>
              </c:pt>
              <c:pt idx="27">
                <c:v>45.21428571428571</c:v>
              </c:pt>
              <c:pt idx="28">
                <c:v>46.93333333333332</c:v>
              </c:pt>
              <c:pt idx="29">
                <c:v>47.15087719298244</c:v>
              </c:pt>
              <c:pt idx="30">
                <c:v>46.429824561403514</c:v>
              </c:pt>
              <c:pt idx="31">
                <c:v>44.48392857142859</c:v>
              </c:pt>
              <c:pt idx="32">
                <c:v>44.5882</c:v>
              </c:pt>
            </c:numLit>
          </c:yVal>
        </c:ser>
        <c:dLbls>
          <c:showLegendKey val="0"/>
          <c:showVal val="0"/>
          <c:showCatName val="0"/>
          <c:showSerName val="0"/>
          <c:showPercent val="0"/>
          <c:showBubbleSize val="0"/>
          <c:showLeaderLines val="0"/>
        </c:dLbls>
        <c:axId val="48650112"/>
        <c:axId val="48672768"/>
      </c:scatterChart>
      <c:valAx>
        <c:axId val="48672768"/>
        <c:scaling>
          <c:orientation val="minMax"/>
          <c:max val="54"/>
          <c:min val="40"/>
        </c:scaling>
        <c:delete val="0"/>
        <c:axPos val="l"/>
        <c:majorGridlines>
          <c:spPr>
            <a:ln xmlns:a="http://schemas.openxmlformats.org/drawingml/2006/main" w="9525">
              <a:solidFill>
                <a:srgbClr val="D7DEE8"/>
              </a:solidFill>
            </a:ln>
          </c:spPr>
        </c:majorGridlines>
        <c:numFmt formatCode="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174"/>
                </a:solidFill>
                <a:latin typeface="Aptos"/>
                <a:ea typeface="Aptos"/>
                <a:cs typeface="Aptos"/>
              </a:defRPr>
            </a:pPr>
          </a:p>
        </c:txPr>
        <c:crossAx val="48650112"/>
        <c:crosses val="autoZero"/>
        <c:crossBetween val="midCat"/>
        <c:majorUnit val="4"/>
      </c:valAx>
      <c:valAx>
        <c:axId val="48650112"/>
        <c:scaling>
          <c:orientation val="minMax"/>
          <c:max val="33"/>
          <c:min val="0"/>
        </c:scaling>
        <c:delete val="0"/>
        <c:axPos val="b"/>
        <c:title>
          <c:tx>
            <c:rich>
              <a:bodyPr xmlns:a="http://schemas.openxmlformats.org/drawingml/2006/main"/>
              <a:lstStyle xmlns:a="http://schemas.openxmlformats.org/drawingml/2006/main"/>
              <a:p xmlns:a="http://schemas.openxmlformats.org/drawingml/2006/main">
                <a:r>
                  <a:rPr sz="1275">
                    <a:solidFill>
                      <a:srgbClr val="526174"/>
                    </a:solidFill>
                    <a:latin typeface="Aptos"/>
                    <a:ea typeface="Aptos"/>
                    <a:cs typeface="Aptos"/>
                  </a:rPr>
                  <a:t>Elapsed observation (min)</a:t>
                </a:r>
              </a:p>
            </c:rich>
          </c:tx>
          <c:overlay val="0"/>
          <c:txPr>
            <a:bodyPr xmlns:a="http://schemas.openxmlformats.org/drawingml/2006/main" anchorCtr="1"/>
            <a:lstStyle xmlns:a="http://schemas.openxmlformats.org/drawingml/2006/main"/>
            <a:p xmlns:a="http://schemas.openxmlformats.org/drawingml/2006/main">
              <a:pPr>
                <a:defRPr sz="1275">
                  <a:solidFill>
                    <a:srgbClr val="526174"/>
                  </a:solidFill>
                  <a:latin typeface="Aptos"/>
                  <a:ea typeface="Aptos"/>
                  <a:cs typeface="Aptos"/>
                </a:defRPr>
              </a:pPr>
            </a:p>
          </c:txPr>
        </c:title>
        <c:numFmt formatCode="General" sourceLinked="1"/>
        <c:majorTickMark val="none"/>
        <c:minorTickMark val="none"/>
        <c:tickLblPos val="nextTo"/>
        <c:spPr>
          <a:ln xmlns:a="http://schemas.openxmlformats.org/drawingml/2006/main" w="9525">
            <a:solidFill>
              <a:srgbClr val="D7DEE8"/>
            </a:solidFill>
          </a:ln>
        </c:spPr>
        <c:txPr>
          <a:bodyPr xmlns:a="http://schemas.openxmlformats.org/drawingml/2006/main" anchorCtr="1"/>
          <a:lstStyle xmlns:a="http://schemas.openxmlformats.org/drawingml/2006/main"/>
          <a:p xmlns:a="http://schemas.openxmlformats.org/drawingml/2006/main">
            <a:pPr>
              <a:defRPr sz="1350">
                <a:solidFill>
                  <a:srgbClr val="526174"/>
                </a:solidFill>
                <a:latin typeface="Aptos"/>
                <a:ea typeface="Aptos"/>
                <a:cs typeface="Aptos"/>
              </a:defRPr>
            </a:pPr>
          </a:p>
        </c:txPr>
        <c:crossAx val="48672768"/>
        <c:crosses val="autoZero"/>
        <c:crossBetween val="midCat"/>
        <c:majorUnit val="8"/>
      </c:valAx>
      <c:spPr>
        <a:solidFill xmlns:a="http://schemas.openxmlformats.org/drawingml/2006/main">
          <a:srgbClr val="FFFFFF"/>
        </a:solidFill>
      </c:spPr>
    </c:plotArea>
    <c:plotVisOnly val="1"/>
    <c:dispBlanksAs val="zero"/>
    <c:showDLblsOverMax val="1"/>
  </c:chart>
  <c:spPr>
    <a:solidFill xmlns:a="http://schemas.openxmlformats.org/drawingml/2006/main">
      <a:srgbClr val="FFFFFF"/>
    </a:solidFill>
  </c:spPr>
</c:chartSpace>
</file>

<file path=ppt/slides/charts/chart6.xml><?xml version="1.0" encoding="utf-8"?>
<c:chartSpace xmlns:c="http://schemas.openxmlformats.org/drawingml/2006/chart">
  <c:lang val="en-US"/>
  <c:roundedCorners val="1"/>
  <c:style val="2"/>
  <c:chart>
    <c:autoTitleDeleted val="1"/>
    <c:plotArea>
      <c:scatterChart>
        <c:scatterStyle val="lineMarker"/>
        <c:varyColors val="0"/>
        <c:ser>
          <c:idx val="0"/>
          <c:order val="0"/>
          <c:tx>
            <c:v>Sentinel</c:v>
          </c:tx>
          <c:spPr>
            <a:ln xmlns:a="http://schemas.openxmlformats.org/drawingml/2006/main" w="25718">
              <a:solidFill>
                <a:srgbClr val="DF750E"/>
              </a:solidFill>
            </a:ln>
          </c:spPr>
          <c:marker>
            <c:symbol val="none"/>
          </c:marker>
          <c:xVal>
            <c:numLit>
              <c:formatCode>General</c:formatCode>
              <c:ptCount val="5"/>
              <c:pt idx="0">
                <c:v>0</c:v>
              </c:pt>
              <c:pt idx="1">
                <c:v>32.24473825001667</c:v>
              </c:pt>
              <c:pt idx="2">
                <c:v>32.26567947916667</c:v>
              </c:pt>
              <c:pt idx="3">
                <c:v>32.28660646605</c:v>
              </c:pt>
              <c:pt idx="4">
                <c:v>32.328483833499995</c:v>
              </c:pt>
            </c:numLit>
          </c:xVal>
          <c:yVal>
            <c:numLit>
              <c:formatCode>0.0</c:formatCode>
              <c:ptCount val="5"/>
              <c:pt idx="0">
                <c:v>0</c:v>
              </c:pt>
              <c:pt idx="1">
                <c:v>0</c:v>
              </c:pt>
              <c:pt idx="2">
                <c:v>0.12109375</c:v>
              </c:pt>
              <c:pt idx="3">
                <c:v>0.921875</c:v>
              </c:pt>
              <c:pt idx="4">
                <c:v>0.921875</c:v>
              </c:pt>
            </c:numLit>
          </c:yVal>
        </c:ser>
        <c:ser>
          <c:idx val="1"/>
          <c:order val="1"/>
          <c:tx>
            <c:v>Scout</c:v>
          </c:tx>
          <c:spPr>
            <a:ln xmlns:a="http://schemas.openxmlformats.org/drawingml/2006/main" w="25718">
              <a:solidFill>
                <a:srgbClr val="236FE8"/>
              </a:solidFill>
            </a:ln>
          </c:spPr>
          <c:marker>
            <c:symbol val="none"/>
          </c:marker>
          <c:xVal>
            <c:numLit>
              <c:formatCode>General</c:formatCode>
              <c:ptCount val="2"/>
              <c:pt idx="0">
                <c:v>0</c:v>
              </c:pt>
              <c:pt idx="1">
                <c:v>32.24727243346667</c:v>
              </c:pt>
            </c:numLit>
          </c:xVal>
          <c:yVal>
            <c:numLit>
              <c:formatCode>0.0</c:formatCode>
              <c:ptCount val="2"/>
              <c:pt idx="0">
                <c:v>0</c:v>
              </c:pt>
              <c:pt idx="1">
                <c:v>0</c:v>
              </c:pt>
            </c:numLit>
          </c:yVal>
        </c:ser>
        <c:dLbls>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7DEE8"/>
              </a:solidFill>
            </a:ln>
          </c:spPr>
        </c:majorGridlines>
        <c:numFmt formatCode="0.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174"/>
                </a:solidFill>
                <a:latin typeface="Aptos"/>
                <a:ea typeface="Aptos"/>
                <a:cs typeface="Aptos"/>
              </a:defRPr>
            </a:pPr>
          </a:p>
        </c:txPr>
        <c:crossAx val="48650112"/>
        <c:crosses val="autoZero"/>
        <c:crossBetween val="midCat"/>
        <c:majorUnit val="0.5"/>
      </c:valAx>
      <c:valAx>
        <c:axId val="48650112"/>
        <c:scaling>
          <c:orientation val="minMax"/>
          <c:max val="33"/>
          <c:min val="0"/>
        </c:scaling>
        <c:delete val="0"/>
        <c:axPos val="b"/>
        <c:title>
          <c:tx>
            <c:rich>
              <a:bodyPr xmlns:a="http://schemas.openxmlformats.org/drawingml/2006/main"/>
              <a:lstStyle xmlns:a="http://schemas.openxmlformats.org/drawingml/2006/main"/>
              <a:p xmlns:a="http://schemas.openxmlformats.org/drawingml/2006/main">
                <a:r>
                  <a:rPr sz="1275">
                    <a:solidFill>
                      <a:srgbClr val="526174"/>
                    </a:solidFill>
                    <a:latin typeface="Aptos"/>
                    <a:ea typeface="Aptos"/>
                    <a:cs typeface="Aptos"/>
                  </a:rPr>
                  <a:t>Elapsed observation (min)</a:t>
                </a:r>
              </a:p>
            </c:rich>
          </c:tx>
          <c:overlay val="0"/>
          <c:txPr>
            <a:bodyPr xmlns:a="http://schemas.openxmlformats.org/drawingml/2006/main" anchorCtr="1"/>
            <a:lstStyle xmlns:a="http://schemas.openxmlformats.org/drawingml/2006/main"/>
            <a:p xmlns:a="http://schemas.openxmlformats.org/drawingml/2006/main">
              <a:pPr>
                <a:defRPr sz="1275">
                  <a:solidFill>
                    <a:srgbClr val="526174"/>
                  </a:solidFill>
                  <a:latin typeface="Aptos"/>
                  <a:ea typeface="Aptos"/>
                  <a:cs typeface="Aptos"/>
                </a:defRPr>
              </a:pPr>
            </a:p>
          </c:txPr>
        </c:title>
        <c:numFmt formatCode="General" sourceLinked="1"/>
        <c:majorTickMark val="none"/>
        <c:minorTickMark val="none"/>
        <c:tickLblPos val="nextTo"/>
        <c:spPr>
          <a:ln xmlns:a="http://schemas.openxmlformats.org/drawingml/2006/main" w="9525">
            <a:solidFill>
              <a:srgbClr val="D7DEE8"/>
            </a:solidFill>
          </a:ln>
        </c:spPr>
        <c:txPr>
          <a:bodyPr xmlns:a="http://schemas.openxmlformats.org/drawingml/2006/main" anchorCtr="1"/>
          <a:lstStyle xmlns:a="http://schemas.openxmlformats.org/drawingml/2006/main"/>
          <a:p xmlns:a="http://schemas.openxmlformats.org/drawingml/2006/main">
            <a:pPr>
              <a:defRPr sz="1350">
                <a:solidFill>
                  <a:srgbClr val="526174"/>
                </a:solidFill>
                <a:latin typeface="Aptos"/>
                <a:ea typeface="Aptos"/>
                <a:cs typeface="Aptos"/>
              </a:defRPr>
            </a:pPr>
          </a:p>
        </c:txPr>
        <c:crossAx val="48672768"/>
        <c:crosses val="autoZero"/>
        <c:crossBetween val="midCat"/>
        <c:majorUnit val="8"/>
      </c:valAx>
      <c:spPr>
        <a:solidFill xmlns:a="http://schemas.openxmlformats.org/drawingml/2006/main">
          <a:srgbClr val="FFFFFF"/>
        </a:solidFill>
      </c:spPr>
    </c:plotArea>
    <c:plotVisOnly val="1"/>
    <c:dispBlanksAs val="zero"/>
    <c:showDLblsOverMax val="1"/>
  </c:chart>
  <c:spPr>
    <a:solidFill xmlns:a="http://schemas.openxmlformats.org/drawingml/2006/main">
      <a:srgbClr val="FFFFFF"/>
    </a:solidFill>
  </c:spPr>
</c:chartSpace>
</file>

<file path=ppt/slides/charts/chart7.xml><?xml version="1.0" encoding="utf-8"?>
<c:chartSpace xmlns:c="http://schemas.openxmlformats.org/drawingml/2006/chart">
  <c:lang val="en-US"/>
  <c:roundedCorners val="1"/>
  <c:style val="2"/>
  <c:chart>
    <c:autoTitleDeleted val="1"/>
    <c:plotArea>
      <c:barChart>
        <c:barDir val="bar"/>
        <c:grouping val="clustered"/>
        <c:varyColors val="0"/>
        <c:ser>
          <c:idx val="0"/>
          <c:order val="0"/>
          <c:tx>
            <c:v>Observed expected outcomes</c:v>
          </c:tx>
          <c:spPr>
            <a:solidFill xmlns:a="http://schemas.openxmlformats.org/drawingml/2006/main">
              <a:srgbClr val="DF750E"/>
            </a:solidFill>
          </c:spPr>
          <c:invertIfNegative val="0"/>
          <c:dLbls>
            <c:numFmt formatCode="0" sourceLinked="0"/>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2175" b="1">
                    <a:solidFill>
                      <a:srgbClr val="0B1F3A"/>
                    </a:solidFill>
                    <a:latin typeface="Aptos"/>
                    <a:ea typeface="Aptos"/>
                    <a:cs typeface="Aptos"/>
                  </a:defRPr>
                </a:pPr>
              </a:p>
            </c:txPr>
            <c:dLblPos val="outEnd"/>
            <c:showLegendKey val="0"/>
            <c:showVal val="1"/>
            <c:showCatName val="0"/>
            <c:showSerName val="0"/>
            <c:showPercent val="0"/>
            <c:showBubbleSize val="0"/>
            <c:showLeaderLines val="0"/>
          </c:dLbls>
          <c:cat>
            <c:strLit>
              <c:ptCount val="4"/>
              <c:pt idx="0">
                <c:v>Stale stream: ERROR (n=5)</c:v>
              </c:pt>
              <c:pt idx="1">
                <c:v>No ROS frame: ERROR (n=5)</c:v>
              </c:pt>
              <c:pt idx="2">
                <c:v>Unlit requests: rejected (n=6)</c:v>
              </c:pt>
              <c:pt idx="3">
                <c:v>Strong flame: confirmed (n=13)</c:v>
              </c:pt>
            </c:strLit>
          </c:cat>
          <c:val>
            <c:numLit>
              <c:formatCode>0</c:formatCode>
              <c:ptCount val="4"/>
              <c:pt idx="0">
                <c:v>5</c:v>
              </c:pt>
              <c:pt idx="1">
                <c:v>5</c:v>
              </c:pt>
              <c:pt idx="2">
                <c:v>6</c:v>
              </c:pt>
              <c:pt idx="3">
                <c:v>13</c:v>
              </c:pt>
            </c:numLit>
          </c:val>
        </c:ser>
        <c:dLbls>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0B1F3A"/>
                </a:solidFill>
                <a:latin typeface="Aptos"/>
                <a:ea typeface="Aptos"/>
                <a:cs typeface="Aptos"/>
              </a:defRPr>
            </a:pPr>
          </a:p>
        </c:txPr>
        <c:crossAx val="48672768"/>
        <c:crosses val="autoZero"/>
        <c:lblAlgn val="ctr"/>
        <c:noMultiLvlLbl val="1"/>
        <c:lblOffset val="100"/>
      </c:catAx>
      <c:valAx>
        <c:axId val="48672768"/>
        <c:scaling>
          <c:orientation val="minMax"/>
          <c:max val="14"/>
          <c:min val="0"/>
        </c:scaling>
        <c:delete val="0"/>
        <c:axPos val="b"/>
        <c:majorGridlines>
          <c:spPr>
            <a:ln xmlns:a="http://schemas.openxmlformats.org/drawingml/2006/main" w="9525">
              <a:solidFill>
                <a:srgbClr val="D7DEE8"/>
              </a:solidFill>
            </a:ln>
          </c:spPr>
        </c:majorGridlines>
        <c:title>
          <c:tx>
            <c:rich>
              <a:bodyPr xmlns:a="http://schemas.openxmlformats.org/drawingml/2006/main"/>
              <a:lstStyle xmlns:a="http://schemas.openxmlformats.org/drawingml/2006/main"/>
              <a:p xmlns:a="http://schemas.openxmlformats.org/drawingml/2006/main">
                <a:r>
                  <a:rPr sz="1500">
                    <a:solidFill>
                      <a:srgbClr val="526174"/>
                    </a:solidFill>
                    <a:latin typeface="Aptos"/>
                    <a:ea typeface="Aptos"/>
                    <a:cs typeface="Aptos"/>
                  </a:rPr>
                  <a:t>Event count in each separate trial</a:t>
                </a:r>
              </a:p>
            </c:rich>
          </c:tx>
          <c:overlay val="0"/>
          <c:txPr>
            <a:bodyPr xmlns:a="http://schemas.openxmlformats.org/drawingml/2006/main" anchorCtr="1"/>
            <a:lstStyle xmlns:a="http://schemas.openxmlformats.org/drawingml/2006/main"/>
            <a:p xmlns:a="http://schemas.openxmlformats.org/drawingml/2006/main">
              <a:pPr>
                <a:defRPr sz="1500">
                  <a:solidFill>
                    <a:srgbClr val="526174"/>
                  </a:solidFill>
                  <a:latin typeface="Aptos"/>
                  <a:ea typeface="Aptos"/>
                  <a:cs typeface="Aptos"/>
                </a:defRPr>
              </a:pPr>
            </a:p>
          </c:txPr>
        </c:title>
        <c:numFmt formatCode="0" sourceLinked="1"/>
        <c:majorTickMark val="none"/>
        <c:minorTickMark val="none"/>
        <c:tickLblPos val="nextTo"/>
        <c:spPr>
          <a:ln xmlns:a="http://schemas.openxmlformats.org/drawingml/2006/main" w="9525">
            <a:solidFill>
              <a:srgbClr val="D7DEE8"/>
            </a:solidFill>
          </a:ln>
        </c:spPr>
        <c:txPr>
          <a:bodyPr xmlns:a="http://schemas.openxmlformats.org/drawingml/2006/main" anchorCtr="1"/>
          <a:lstStyle xmlns:a="http://schemas.openxmlformats.org/drawingml/2006/main"/>
          <a:p xmlns:a="http://schemas.openxmlformats.org/drawingml/2006/main">
            <a:pPr>
              <a:defRPr sz="1425">
                <a:solidFill>
                  <a:srgbClr val="526174"/>
                </a:solidFill>
                <a:latin typeface="Aptos"/>
                <a:ea typeface="Aptos"/>
                <a:cs typeface="Aptos"/>
              </a:defRPr>
            </a:pPr>
          </a:p>
        </c:txPr>
        <c:crossAx val="48650112"/>
        <c:crosses val="autoZero"/>
        <c:crossBetween val="between"/>
        <c:majorUnit val="4"/>
      </c:valAx>
      <c:spPr>
        <a:solidFill xmlns:a="http://schemas.openxmlformats.org/drawingml/2006/main">
          <a:srgbClr val="FFFFFF"/>
        </a:solidFill>
      </c:spPr>
    </c:plotArea>
    <c:plotVisOnly val="1"/>
    <c:dispBlanksAs val="zero"/>
    <c:showDLblsOverMax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5A82C88C-0454-4368-89A3-67343ECAF79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1F3A"/>
          </a:solidFill>
          <a:ln xmlns:a="http://schemas.openxmlformats.org/drawingml/2006/main" w="0">
            <a:noFill/>
          </a:ln>
        </p:spPr>
      </p:sp>
      <p:pic>
        <p:nvPicPr>
          <p:cNvPr id="2" name="Picture 1">
            <a:extLst xmlns:a="http://schemas.openxmlformats.org/drawingml/2006/main">
              <a:ext uri="{FF2B5EF4-FFF2-40B4-BE49-F238E27FC236}">
                <a16:creationId xmlns:a16="http://schemas.microsoft.com/office/drawing/2014/main" id="{B8F37394-C999-4902-9871-5B1C4038C134}"/>
              </a:ext>
            </a:extLst>
          </p:cNvPr>
          <p:cNvPicPr>
            <a:picLocks xmlns:a="http://schemas.openxmlformats.org/drawingml/2006/main" noChangeAspect="1"/>
          </p:cNvPicPr>
          <p:nvPr/>
        </p:nvPicPr>
        <p:blipFill>
          <a:blip xmlns:r="http://schemas.openxmlformats.org/officeDocument/2006/relationships" xmlns:a="http://schemas.openxmlformats.org/drawingml/2006/main" r:embed="R6950f2f32e2e4e70"/>
          <a:stretch xmlns:a="http://schemas.openxmlformats.org/drawingml/2006/main"/>
        </p:blipFill>
        <p:spPr>
          <a:xfrm xmlns:a="http://schemas.openxmlformats.org/drawingml/2006/main">
            <a:off x="723900" y="514350"/>
            <a:ext cx="1219200" cy="1219200"/>
          </a:xfrm>
          <a:prstGeom xmlns:a="http://schemas.openxmlformats.org/drawingml/2006/main" prst="rect">
            <a:avLst/>
          </a:prstGeom>
        </p:spPr>
      </p:pic>
      <p:sp>
        <p:nvSpPr>
          <p:cNvPr id="3" name="Rectangle 2">
            <a:extLst xmlns:a="http://schemas.openxmlformats.org/drawingml/2006/main">
              <a:ext uri="{FF2B5EF4-FFF2-40B4-BE49-F238E27FC236}">
                <a16:creationId xmlns:a16="http://schemas.microsoft.com/office/drawing/2014/main" id="{E94ADFB3-1180-473A-A2E9-DC9535C72C60}"/>
              </a:ext>
            </a:extLst>
          </p:cNvPr>
          <p:cNvSpPr>
            <a:spLocks xmlns:a="http://schemas.openxmlformats.org/drawingml/2006/main" noGrp="1"/>
          </p:cNvSpPr>
          <p:nvPr/>
        </p:nvSpPr>
        <p:spPr>
          <a:xfrm xmlns:a="http://schemas.openxmlformats.org/drawingml/2006/main">
            <a:off x="2152650" y="64770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i="0">
                <a:solidFill>
                  <a:srgbClr val="0B1F3A"/>
                </a:solidFill>
                <a:latin typeface="Aptos"/>
                <a:ea typeface="Aptos"/>
                <a:cs typeface="Aptos"/>
              </a:defRPr>
            </a:defPPr>
          </a:lstStyle>
          <a:p xmlns:a="http://schemas.openxmlformats.org/drawingml/2006/main">
            <a:pPr algn="l">
              <a:lnSpc>
                <a:spcPct val="100000"/>
              </a:lnSpc>
              <a:buNone/>
              <a:defRPr sz="1725" b="1" i="0">
                <a:solidFill>
                  <a:srgbClr val="0B1F3A"/>
                </a:solidFill>
                <a:latin typeface="Aptos"/>
                <a:ea typeface="Aptos"/>
                <a:cs typeface="Aptos"/>
              </a:defRPr>
            </a:pPr>
            <a:r>
              <a:rPr sz="1725" b="1" i="0">
                <a:solidFill>
                  <a:srgbClr val="0B1F3A"/>
                </a:solidFill>
                <a:latin typeface="Aptos"/>
                <a:ea typeface="Aptos"/>
                <a:cs typeface="Aptos"/>
              </a:rPr>
              <a:t>UNIVERSITY OF MESSINA</a:t>
            </a:r>
          </a:p>
        </p:txBody>
      </p:sp>
      <p:sp>
        <p:nvSpPr>
          <p:cNvPr id="4" name="Rectangle 3">
            <a:extLst xmlns:a="http://schemas.openxmlformats.org/drawingml/2006/main">
              <a:ext uri="{FF2B5EF4-FFF2-40B4-BE49-F238E27FC236}">
                <a16:creationId xmlns:a16="http://schemas.microsoft.com/office/drawing/2014/main" id="{E57726F9-7BE2-403B-88E9-ABE0759D4D00}"/>
              </a:ext>
            </a:extLst>
          </p:cNvPr>
          <p:cNvSpPr>
            <a:spLocks xmlns:a="http://schemas.openxmlformats.org/drawingml/2006/main" noGrp="1"/>
          </p:cNvSpPr>
          <p:nvPr/>
        </p:nvSpPr>
        <p:spPr>
          <a:xfrm xmlns:a="http://schemas.openxmlformats.org/drawingml/2006/main">
            <a:off x="2152650" y="100965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i="0">
                <a:solidFill>
                  <a:srgbClr val="5B6675"/>
                </a:solidFill>
                <a:latin typeface="Aptos"/>
                <a:ea typeface="Aptos"/>
                <a:cs typeface="Aptos"/>
              </a:defRPr>
            </a:defPPr>
          </a:lstStyle>
          <a:p xmlns:a="http://schemas.openxmlformats.org/drawingml/2006/main">
            <a:pPr algn="l">
              <a:lnSpc>
                <a:spcPct val="100000"/>
              </a:lnSpc>
              <a:buNone/>
              <a:defRPr sz="1350" b="0" i="0">
                <a:solidFill>
                  <a:srgbClr val="5B6675"/>
                </a:solidFill>
                <a:latin typeface="Aptos"/>
                <a:ea typeface="Aptos"/>
                <a:cs typeface="Aptos"/>
              </a:defRPr>
            </a:pPr>
            <a:r>
              <a:rPr sz="1350" b="0" i="0">
                <a:solidFill>
                  <a:srgbClr val="5B6675"/>
                </a:solidFill>
                <a:latin typeface="Aptos"/>
                <a:ea typeface="Aptos"/>
                <a:cs typeface="Aptos"/>
              </a:rPr>
              <a:t>Bachelor's Degree in Computer Science L31 | Data Analysis</a:t>
            </a:r>
          </a:p>
        </p:txBody>
      </p:sp>
      <p:sp>
        <p:nvSpPr>
          <p:cNvPr id="5" name="Straight Connector 4">
            <a:extLst xmlns:a="http://schemas.openxmlformats.org/drawingml/2006/main">
              <a:ext uri="{FF2B5EF4-FFF2-40B4-BE49-F238E27FC236}">
                <a16:creationId xmlns:a16="http://schemas.microsoft.com/office/drawing/2014/main" id="{097BEA91-4B82-4E16-B30C-3761EC45B247}"/>
              </a:ext>
            </a:extLst>
          </p:cNvPr>
          <p:cNvSpPr>
            <a:spLocks xmlns:a="http://schemas.openxmlformats.org/drawingml/2006/main" noGrp="1"/>
          </p:cNvSpPr>
          <p:nvPr/>
        </p:nvSpPr>
        <p:spPr>
          <a:xfrm xmlns:a="http://schemas.openxmlformats.org/drawingml/2006/main">
            <a:off x="723900" y="1867978"/>
            <a:ext cx="10744200" cy="0"/>
          </a:xfrm>
          <a:prstGeom xmlns:a="http://schemas.openxmlformats.org/drawingml/2006/main" prst="line">
            <a:avLst/>
          </a:prstGeom>
          <a:noFill xmlns:a="http://schemas.openxmlformats.org/drawingml/2006/main"/>
          <a:ln xmlns:a="http://schemas.openxmlformats.org/drawingml/2006/main" w="19050">
            <a:solidFill>
              <a:srgbClr val="D7DEE8"/>
            </a:solidFill>
            <a:prstDash val="solid"/>
          </a:ln>
        </p:spPr>
      </p:sp>
      <p:sp>
        <p:nvSpPr>
          <p:cNvPr id="6" name="Rectangle 5">
            <a:extLst xmlns:a="http://schemas.openxmlformats.org/drawingml/2006/main">
              <a:ext uri="{FF2B5EF4-FFF2-40B4-BE49-F238E27FC236}">
                <a16:creationId xmlns:a16="http://schemas.microsoft.com/office/drawing/2014/main" id="{701579FF-AF1B-4985-8431-5CDA91A5B583}"/>
              </a:ext>
            </a:extLst>
          </p:cNvPr>
          <p:cNvSpPr>
            <a:spLocks xmlns:a="http://schemas.openxmlformats.org/drawingml/2006/main" noGrp="1"/>
          </p:cNvSpPr>
          <p:nvPr/>
        </p:nvSpPr>
        <p:spPr>
          <a:xfrm xmlns:a="http://schemas.openxmlformats.org/drawingml/2006/main">
            <a:off x="723900" y="2133600"/>
            <a:ext cx="107442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i="0">
                <a:solidFill>
                  <a:srgbClr val="0B1F3A"/>
                </a:solidFill>
                <a:latin typeface="Aptos"/>
                <a:ea typeface="Aptos"/>
                <a:cs typeface="Aptos"/>
              </a:defRPr>
            </a:defPPr>
          </a:lstStyle>
          <a:p xmlns:a="http://schemas.openxmlformats.org/drawingml/2006/main">
            <a:pPr>
              <a:buNone/>
              <a:defRPr sz="3750" b="1" i="0">
                <a:solidFill>
                  <a:srgbClr val="0B1F3A"/>
                </a:solidFill>
                <a:latin typeface="Aptos"/>
                <a:ea typeface="Aptos"/>
                <a:cs typeface="Aptos"/>
              </a:defRPr>
            </a:pPr>
            <a:r>
              <a:rPr sz="3750" b="1" i="0">
                <a:solidFill>
                  <a:srgbClr val="0B1F3A"/>
                </a:solidFill>
                <a:latin typeface="Aptos"/>
                <a:ea typeface="Aptos"/>
                <a:cs typeface="Aptos"/>
              </a:rPr>
              <a:t>Tiered Edge AI Architecture for Cooperative</a:t>
            </a:r>
          </a:p>
          <a:p xmlns:a="http://schemas.openxmlformats.org/drawingml/2006/main">
            <a:pPr algn="l">
              <a:lnSpc>
                <a:spcPct val="100000"/>
              </a:lnSpc>
              <a:buNone/>
              <a:defRPr sz="3750" b="1" i="0">
                <a:solidFill>
                  <a:srgbClr val="0B1F3A"/>
                </a:solidFill>
                <a:latin typeface="Aptos"/>
                <a:ea typeface="Aptos"/>
                <a:cs typeface="Aptos"/>
              </a:defRPr>
            </a:pPr>
            <a:r>
              <a:rPr sz="3750" b="1">
                <a:solidFill>
                  <a:srgbClr val="0B1F3A"/>
                </a:solidFill>
                <a:latin typeface="Aptos"/>
                <a:ea typeface="Aptos"/>
                <a:cs typeface="Aptos"/>
              </a:rPr>
              <a:t>UAV-Based Industrial Fire Detection</a:t>
            </a:r>
            <a:endParaRPr sz="4125" b="1" i="0">
              <a:solidFill>
                <a:srgbClr val="0B1F3A"/>
              </a:solidFill>
              <a:latin typeface="Aptos"/>
              <a:ea typeface="Aptos"/>
              <a:cs typeface="Aptos"/>
            </a:endParaRPr>
          </a:p>
        </p:txBody>
      </p:sp>
      <p:sp>
        <p:nvSpPr>
          <p:cNvPr id="7" name="Rectangle 6">
            <a:extLst xmlns:a="http://schemas.openxmlformats.org/drawingml/2006/main">
              <a:ext uri="{FF2B5EF4-FFF2-40B4-BE49-F238E27FC236}">
                <a16:creationId xmlns:a16="http://schemas.microsoft.com/office/drawing/2014/main" id="{17476F3D-E4FB-4C16-97D3-7CFE235CB195}"/>
              </a:ext>
            </a:extLst>
          </p:cNvPr>
          <p:cNvSpPr>
            <a:spLocks xmlns:a="http://schemas.openxmlformats.org/drawingml/2006/main" noGrp="1"/>
          </p:cNvSpPr>
          <p:nvPr/>
        </p:nvSpPr>
        <p:spPr>
          <a:xfrm xmlns:a="http://schemas.openxmlformats.org/drawingml/2006/main">
            <a:off x="723900" y="2876550"/>
            <a:ext cx="10191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i="0">
                <a:solidFill>
                  <a:srgbClr val="172033"/>
                </a:solidFill>
                <a:latin typeface="Aptos"/>
                <a:ea typeface="Aptos"/>
                <a:cs typeface="Aptos"/>
              </a:defRPr>
            </a:defPPr>
          </a:lstStyle>
          <a:p xmlns:a="http://schemas.openxmlformats.org/drawingml/2006/main">
            <a:pPr algn="l">
              <a:lnSpc>
                <a:spcPct val="100000"/>
              </a:lnSpc>
              <a:buNone/>
              <a:defRPr sz="3225" b="1" i="0">
                <a:solidFill>
                  <a:srgbClr val="172033"/>
                </a:solidFill>
                <a:latin typeface="Aptos"/>
                <a:ea typeface="Aptos"/>
                <a:cs typeface="Aptos"/>
              </a:defRPr>
            </a:pPr>
            <a:endParaRPr sz="3225" b="1" i="0">
              <a:solidFill>
                <a:srgbClr val="172033"/>
              </a:solidFill>
              <a:latin typeface="Aptos"/>
              <a:ea typeface="Aptos"/>
              <a:cs typeface="Aptos"/>
            </a:endParaRPr>
          </a:p>
        </p:txBody>
      </p:sp>
      <p:sp>
        <p:nvSpPr>
          <p:cNvPr id="8" name="Rectangle 7">
            <a:extLst xmlns:a="http://schemas.openxmlformats.org/drawingml/2006/main">
              <a:ext uri="{FF2B5EF4-FFF2-40B4-BE49-F238E27FC236}">
                <a16:creationId xmlns:a16="http://schemas.microsoft.com/office/drawing/2014/main" id="{578A691C-330C-46EC-9D91-61FAEA3E2040}"/>
              </a:ext>
            </a:extLst>
          </p:cNvPr>
          <p:cNvSpPr>
            <a:spLocks xmlns:a="http://schemas.openxmlformats.org/drawingml/2006/main" noGrp="1"/>
          </p:cNvSpPr>
          <p:nvPr/>
        </p:nvSpPr>
        <p:spPr>
          <a:xfrm xmlns:a="http://schemas.openxmlformats.org/drawingml/2006/main">
            <a:off x="723900" y="4238625"/>
            <a:ext cx="1619250" cy="76200"/>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9" name="Rectangle 8">
            <a:extLst xmlns:a="http://schemas.openxmlformats.org/drawingml/2006/main">
              <a:ext uri="{FF2B5EF4-FFF2-40B4-BE49-F238E27FC236}">
                <a16:creationId xmlns:a16="http://schemas.microsoft.com/office/drawing/2014/main" id="{263CDBEE-C5BE-456F-BA4B-87097D8C2558}"/>
              </a:ext>
            </a:extLst>
          </p:cNvPr>
          <p:cNvSpPr>
            <a:spLocks xmlns:a="http://schemas.openxmlformats.org/drawingml/2006/main" noGrp="1"/>
          </p:cNvSpPr>
          <p:nvPr/>
        </p:nvSpPr>
        <p:spPr>
          <a:xfrm xmlns:a="http://schemas.openxmlformats.org/drawingml/2006/main">
            <a:off x="2343150" y="4238625"/>
            <a:ext cx="1619250" cy="76200"/>
          </a:xfrm>
          <a:prstGeom xmlns:a="http://schemas.openxmlformats.org/drawingml/2006/main" prst="rect">
            <a:avLst/>
          </a:prstGeom>
          <a:solidFill xmlns:a="http://schemas.openxmlformats.org/drawingml/2006/main">
            <a:srgbClr val="1F6FEB"/>
          </a:solidFill>
          <a:ln xmlns:a="http://schemas.openxmlformats.org/drawingml/2006/main" w="0">
            <a:noFill/>
          </a:ln>
        </p:spPr>
      </p:sp>
      <p:sp>
        <p:nvSpPr>
          <p:cNvPr id="10" name="Rectangle 9">
            <a:extLst xmlns:a="http://schemas.openxmlformats.org/drawingml/2006/main">
              <a:ext uri="{FF2B5EF4-FFF2-40B4-BE49-F238E27FC236}">
                <a16:creationId xmlns:a16="http://schemas.microsoft.com/office/drawing/2014/main" id="{80FEF770-9AEE-4F2D-BAB8-66B98F4332AC}"/>
              </a:ext>
            </a:extLst>
          </p:cNvPr>
          <p:cNvSpPr>
            <a:spLocks xmlns:a="http://schemas.openxmlformats.org/drawingml/2006/main" noGrp="1"/>
          </p:cNvSpPr>
          <p:nvPr/>
        </p:nvSpPr>
        <p:spPr>
          <a:xfrm xmlns:a="http://schemas.openxmlformats.org/drawingml/2006/main">
            <a:off x="723900" y="47815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i="0">
                <a:solidFill>
                  <a:srgbClr val="172033"/>
                </a:solidFill>
                <a:latin typeface="Aptos"/>
                <a:ea typeface="Aptos"/>
                <a:cs typeface="Aptos"/>
              </a:defRPr>
            </a:defPPr>
          </a:lstStyle>
          <a:p xmlns:a="http://schemas.openxmlformats.org/drawingml/2006/main">
            <a:pPr algn="l">
              <a:lnSpc>
                <a:spcPct val="100000"/>
              </a:lnSpc>
              <a:buNone/>
              <a:defRPr sz="1875" b="1" i="0">
                <a:solidFill>
                  <a:srgbClr val="172033"/>
                </a:solidFill>
                <a:latin typeface="Aptos"/>
                <a:ea typeface="Aptos"/>
                <a:cs typeface="Aptos"/>
              </a:defRPr>
            </a:pPr>
            <a:r>
              <a:rPr sz="1875" b="1" i="0">
                <a:solidFill>
                  <a:srgbClr val="172033"/>
                </a:solidFill>
                <a:latin typeface="Aptos"/>
                <a:ea typeface="Aptos"/>
                <a:cs typeface="Aptos"/>
              </a:rPr>
              <a:t>Candidate : Mohammadamin Jahanimajd</a:t>
            </a:r>
          </a:p>
        </p:txBody>
      </p:sp>
      <p:sp>
        <p:nvSpPr>
          <p:cNvPr id="11" name="Rectangle 10">
            <a:extLst xmlns:a="http://schemas.openxmlformats.org/drawingml/2006/main">
              <a:ext uri="{FF2B5EF4-FFF2-40B4-BE49-F238E27FC236}">
                <a16:creationId xmlns:a16="http://schemas.microsoft.com/office/drawing/2014/main" id="{F61B3314-60EE-46D3-9EA4-0E5ACB186485}"/>
              </a:ext>
            </a:extLst>
          </p:cNvPr>
          <p:cNvSpPr>
            <a:spLocks xmlns:a="http://schemas.openxmlformats.org/drawingml/2006/main" noGrp="1"/>
          </p:cNvSpPr>
          <p:nvPr/>
        </p:nvSpPr>
        <p:spPr>
          <a:xfrm xmlns:a="http://schemas.openxmlformats.org/drawingml/2006/main">
            <a:off x="723900" y="52197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i="0">
                <a:solidFill>
                  <a:srgbClr val="5B6675"/>
                </a:solidFill>
                <a:latin typeface="Aptos"/>
                <a:ea typeface="Aptos"/>
                <a:cs typeface="Aptos"/>
              </a:defRPr>
            </a:defPPr>
          </a:lstStyle>
          <a:p xmlns:a="http://schemas.openxmlformats.org/drawingml/2006/main">
            <a:pPr algn="l">
              <a:lnSpc>
                <a:spcPct val="100000"/>
              </a:lnSpc>
              <a:buNone/>
              <a:defRPr sz="1500" b="0" i="0">
                <a:solidFill>
                  <a:srgbClr val="5B6675"/>
                </a:solidFill>
                <a:latin typeface="Aptos"/>
                <a:ea typeface="Aptos"/>
                <a:cs typeface="Aptos"/>
              </a:defRPr>
            </a:pPr>
            <a:r>
              <a:rPr b="1" i="0">
                <a:solidFill>
                  <a:srgbClr val="5B6675"/>
                </a:solidFill>
                <a:latin typeface="Aptos"/>
                <a:ea typeface="Aptos"/>
                <a:cs typeface="Aptos"/>
              </a:rPr>
              <a:t>Supervisor: Prof. Giovanni Merlino</a:t>
            </a:r>
          </a:p>
        </p:txBody>
      </p:sp>
      <p:sp>
        <p:nvSpPr>
          <p:cNvPr id="12" name="Rectangle 11">
            <a:extLst xmlns:a="http://schemas.openxmlformats.org/drawingml/2006/main">
              <a:ext uri="{FF2B5EF4-FFF2-40B4-BE49-F238E27FC236}">
                <a16:creationId xmlns:a16="http://schemas.microsoft.com/office/drawing/2014/main" id="{A2A2FA6C-7E06-4D2E-8488-0646BFD46070}"/>
              </a:ext>
            </a:extLst>
          </p:cNvPr>
          <p:cNvSpPr>
            <a:spLocks xmlns:a="http://schemas.openxmlformats.org/drawingml/2006/main" noGrp="1"/>
          </p:cNvSpPr>
          <p:nvPr/>
        </p:nvSpPr>
        <p:spPr>
          <a:xfrm xmlns:a="http://schemas.openxmlformats.org/drawingml/2006/main">
            <a:off x="723900" y="58483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i="0">
                <a:solidFill>
                  <a:srgbClr val="5B6675"/>
                </a:solidFill>
                <a:latin typeface="Aptos"/>
                <a:ea typeface="Aptos"/>
                <a:cs typeface="Aptos"/>
              </a:defRPr>
            </a:defPPr>
          </a:lstStyle>
          <a:p xmlns:a="http://schemas.openxmlformats.org/drawingml/2006/main">
            <a:pPr algn="l">
              <a:lnSpc>
                <a:spcPct val="100000"/>
              </a:lnSpc>
              <a:buNone/>
              <a:defRPr sz="1350" b="0" i="0">
                <a:solidFill>
                  <a:srgbClr val="5B6675"/>
                </a:solidFill>
                <a:latin typeface="Aptos"/>
                <a:ea typeface="Aptos"/>
                <a:cs typeface="Aptos"/>
              </a:defRPr>
            </a:pPr>
            <a:r>
              <a:rPr sz="1350" b="0" i="0">
                <a:solidFill>
                  <a:srgbClr val="5B6675"/>
                </a:solidFill>
                <a:latin typeface="Aptos"/>
                <a:ea typeface="Aptos"/>
                <a:cs typeface="Aptos"/>
              </a:rPr>
              <a:t>Academic Year 2025/2026</a:t>
            </a:r>
          </a:p>
        </p:txBody>
      </p:sp>
      <p:sp>
        <p:nvSpPr>
          <p:cNvPr id="15" name="Rectangle 14">
            <a:extLst xmlns:a="http://schemas.openxmlformats.org/drawingml/2006/main">
              <a:ext uri="{FF2B5EF4-FFF2-40B4-BE49-F238E27FC236}">
                <a16:creationId xmlns:a16="http://schemas.microsoft.com/office/drawing/2014/main" id="{CC337112-726D-4DEF-A51C-08A618D36195}"/>
              </a:ext>
            </a:extLst>
          </p:cNvPr>
          <p:cNvSpPr>
            <a:spLocks xmlns:a="http://schemas.openxmlformats.org/drawingml/2006/main" noGrp="1"/>
          </p:cNvSpPr>
          <p:nvPr/>
        </p:nvSpPr>
        <p:spPr>
          <a:xfrm xmlns:a="http://schemas.openxmlformats.org/drawingml/2006/main">
            <a:off x="723900" y="3686175"/>
            <a:ext cx="10744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B1F3A"/>
                </a:solidFill>
                <a:latin typeface="Aptos"/>
                <a:ea typeface="Aptos"/>
                <a:cs typeface="Aptos"/>
              </a:defRPr>
            </a:defPPr>
          </a:lstStyle>
          <a:p xmlns:a="http://schemas.openxmlformats.org/drawingml/2006/main">
            <a:pPr algn="l">
              <a:buNone/>
              <a:defRPr sz="2025" b="1">
                <a:solidFill>
                  <a:srgbClr val="0B1F3A"/>
                </a:solidFill>
                <a:latin typeface="Aptos"/>
                <a:ea typeface="Aptos"/>
                <a:cs typeface="Aptos"/>
              </a:defRPr>
            </a:pPr>
            <a:r>
              <a:rPr sz="2025" b="1">
                <a:solidFill>
                  <a:srgbClr val="0B1F3A"/>
                </a:solidFill>
                <a:latin typeface="Aptos"/>
                <a:ea typeface="Aptos"/>
                <a:cs typeface="Aptos"/>
              </a:rPr>
              <a:t>An onboard Sentinel-Scout system prototype</a:t>
            </a:r>
          </a:p>
        </p:txBody>
      </p:sp>
    </p:spTree>
    <p:extLst>
      <p:ext uri="{BB962C8B-B14F-4D97-AF65-F5344CB8AC3E}">
        <p14:creationId xmlns:p14="http://schemas.microsoft.com/office/powerpoint/2010/main" val="1015365554"/>
      </p:ext>
    </p:extLst>
  </p:cSld>
</p:sld>
</file>

<file path=ppt/slides/slide2.xml><?xml version="1.0" encoding="utf-8"?>
<p:sld xmlns:p="http://schemas.openxmlformats.org/presentationml/2006/main">
  <p:cSld>
    <p:bg>
      <p:bgPr>
        <a:solidFill xmlns:a="http://schemas.openxmlformats.org/drawingml/2006/main">
          <a:srgbClr val="0B1F3A"/>
        </a:solidFill>
      </p:bgPr>
    </p:bg>
    <p:spTree>
      <p:nvGrpSpPr>
        <p:cNvPr id="1" name=""/>
        <p:cNvGrpSpPr/>
        <p:nvPr/>
      </p:nvGrpSpPr>
      <p:grpSpPr>
        <a:xfrm xmlns:a="http://schemas.openxmlformats.org/drawingml/2006/main"/>
      </p:grpSpPr>
      <p:sp>
        <p:nvSpPr>
          <p:cNvPr id="22" name="Rectangle 21">
            <a:extLst xmlns:a="http://schemas.openxmlformats.org/drawingml/2006/main">
              <a:ext uri="{FF2B5EF4-FFF2-40B4-BE49-F238E27FC236}">
                <a16:creationId xmlns:a16="http://schemas.microsoft.com/office/drawing/2014/main" id="{F1E9A1AD-5A30-4297-9A8A-503BE5E0B3D6}"/>
              </a:ext>
            </a:extLst>
          </p:cNvPr>
          <p:cNvSpPr>
            <a:spLocks xmlns:a="http://schemas.openxmlformats.org/drawingml/2006/main" noGrp="1"/>
          </p:cNvSpPr>
          <p:nvPr/>
        </p:nvSpPr>
        <p:spPr>
          <a:xfrm xmlns:a="http://schemas.openxmlformats.org/drawingml/2006/main">
            <a:off x="609600" y="3619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i="0">
                <a:solidFill>
                  <a:srgbClr val="FFFFFF"/>
                </a:solidFill>
                <a:latin typeface="Aptos"/>
                <a:ea typeface="Aptos"/>
                <a:cs typeface="Aptos"/>
              </a:defRPr>
            </a:defPPr>
          </a:lstStyle>
          <a:p xmlns:a="http://schemas.openxmlformats.org/drawingml/2006/main">
            <a:pPr algn="l">
              <a:lnSpc>
                <a:spcPct val="100000"/>
              </a:lnSpc>
              <a:buNone/>
              <a:defRPr sz="2925" b="1" i="0">
                <a:solidFill>
                  <a:srgbClr val="FFFFFF"/>
                </a:solidFill>
                <a:latin typeface="Aptos"/>
                <a:ea typeface="Aptos"/>
                <a:cs typeface="Aptos"/>
              </a:defRPr>
            </a:pPr>
            <a:r>
              <a:rPr sz="2925" b="1" i="0">
                <a:solidFill>
                  <a:srgbClr val="FFFFFF"/>
                </a:solidFill>
                <a:latin typeface="Aptos"/>
                <a:ea typeface="Aptos"/>
                <a:cs typeface="Aptos"/>
              </a:rPr>
              <a:t>Two-UAV platform and resource constraints</a:t>
            </a:r>
          </a:p>
        </p:txBody>
      </p:sp>
      <p:sp>
        <p:nvSpPr>
          <p:cNvPr id="2" name="Rectangle 1">
            <a:extLst xmlns:a="http://schemas.openxmlformats.org/drawingml/2006/main">
              <a:ext uri="{FF2B5EF4-FFF2-40B4-BE49-F238E27FC236}">
                <a16:creationId xmlns:a16="http://schemas.microsoft.com/office/drawing/2014/main" id="{FD41542D-E7CA-4F2F-B544-8C653AF6CAB3}"/>
              </a:ext>
            </a:extLst>
          </p:cNvPr>
          <p:cNvSpPr>
            <a:spLocks xmlns:a="http://schemas.openxmlformats.org/drawingml/2006/main" noGrp="1"/>
          </p:cNvSpPr>
          <p:nvPr/>
        </p:nvSpPr>
        <p:spPr>
          <a:xfrm xmlns:a="http://schemas.openxmlformats.org/drawingml/2006/main">
            <a:off x="609600" y="9334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i="0">
                <a:solidFill>
                  <a:srgbClr val="B9CCE0"/>
                </a:solidFill>
                <a:latin typeface="Aptos"/>
                <a:ea typeface="Aptos"/>
                <a:cs typeface="Aptos"/>
              </a:defRPr>
            </a:defPPr>
          </a:lstStyle>
          <a:p xmlns:a="http://schemas.openxmlformats.org/drawingml/2006/main">
            <a:pPr algn="l">
              <a:lnSpc>
                <a:spcPct val="100000"/>
              </a:lnSpc>
              <a:buNone/>
              <a:defRPr sz="1500" b="0" i="0">
                <a:solidFill>
                  <a:srgbClr val="B9CCE0"/>
                </a:solidFill>
                <a:latin typeface="Aptos"/>
                <a:ea typeface="Aptos"/>
                <a:cs typeface="Aptos"/>
              </a:defRPr>
            </a:pPr>
            <a:r>
              <a:rPr sz="1500" b="0" i="0">
                <a:solidFill>
                  <a:srgbClr val="B9CCE0"/>
                </a:solidFill>
                <a:latin typeface="Aptos"/>
                <a:ea typeface="Aptos"/>
                <a:cs typeface="Aptos"/>
              </a:rPr>
              <a:t>Heterogeneous onboard platforms with separate detection and verification roles</a:t>
            </a:r>
          </a:p>
        </p:txBody>
      </p:sp>
      <p:sp>
        <p:nvSpPr>
          <p:cNvPr id="3" name="Straight Connector 2">
            <a:extLst xmlns:a="http://schemas.openxmlformats.org/drawingml/2006/main">
              <a:ext uri="{FF2B5EF4-FFF2-40B4-BE49-F238E27FC236}">
                <a16:creationId xmlns:a16="http://schemas.microsoft.com/office/drawing/2014/main" id="{4998BC9A-EFCA-490E-88C1-A31D30368EC6}"/>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noFill xmlns:a="http://schemas.openxmlformats.org/drawingml/2006/main"/>
          <a:ln xmlns:a="http://schemas.openxmlformats.org/drawingml/2006/main" w="9525">
            <a:solidFill>
              <a:srgbClr val="35506F"/>
            </a:solidFill>
            <a:prstDash val="solid"/>
          </a:ln>
        </p:spPr>
      </p:sp>
      <p:sp>
        <p:nvSpPr>
          <p:cNvPr id="4" name="Rectangle 3">
            <a:extLst xmlns:a="http://schemas.openxmlformats.org/drawingml/2006/main">
              <a:ext uri="{FF2B5EF4-FFF2-40B4-BE49-F238E27FC236}">
                <a16:creationId xmlns:a16="http://schemas.microsoft.com/office/drawing/2014/main" id="{FF8EFF0D-8417-498E-A2EE-6CAC45832429}"/>
              </a:ext>
            </a:extLst>
          </p:cNvPr>
          <p:cNvSpPr>
            <a:spLocks xmlns:a="http://schemas.openxmlformats.org/drawingml/2006/main" noGrp="1"/>
          </p:cNvSpPr>
          <p:nvPr/>
        </p:nvSpPr>
        <p:spPr>
          <a:xfrm xmlns:a="http://schemas.openxmlformats.org/drawingml/2006/main">
            <a:off x="609600" y="14382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i="0">
                <a:solidFill>
                  <a:srgbClr val="F28C28"/>
                </a:solidFill>
                <a:latin typeface="Aptos"/>
                <a:ea typeface="Aptos"/>
                <a:cs typeface="Aptos"/>
              </a:defRPr>
            </a:defPPr>
          </a:lstStyle>
          <a:p xmlns:a="http://schemas.openxmlformats.org/drawingml/2006/main">
            <a:pPr algn="l">
              <a:lnSpc>
                <a:spcPct val="100000"/>
              </a:lnSpc>
              <a:buNone/>
              <a:defRPr sz="1725" b="1" i="0">
                <a:solidFill>
                  <a:srgbClr val="F28C28"/>
                </a:solidFill>
                <a:latin typeface="Aptos"/>
                <a:ea typeface="Aptos"/>
                <a:cs typeface="Aptos"/>
              </a:defRPr>
            </a:pPr>
            <a:r>
              <a:rPr sz="1725" b="1" i="0">
                <a:solidFill>
                  <a:srgbClr val="F28C28"/>
                </a:solidFill>
                <a:latin typeface="Aptos"/>
                <a:ea typeface="Aptos"/>
                <a:cs typeface="Aptos"/>
              </a:rPr>
              <a:t>SENTINEL</a:t>
            </a:r>
          </a:p>
        </p:txBody>
      </p:sp>
      <p:sp>
        <p:nvSpPr>
          <p:cNvPr id="5" name="Rectangle 4">
            <a:extLst xmlns:a="http://schemas.openxmlformats.org/drawingml/2006/main">
              <a:ext uri="{FF2B5EF4-FFF2-40B4-BE49-F238E27FC236}">
                <a16:creationId xmlns:a16="http://schemas.microsoft.com/office/drawing/2014/main" id="{DAA22540-00D6-4D41-B5D6-7F95CECD9F19}"/>
              </a:ext>
            </a:extLst>
          </p:cNvPr>
          <p:cNvSpPr>
            <a:spLocks xmlns:a="http://schemas.openxmlformats.org/drawingml/2006/main" noGrp="1"/>
          </p:cNvSpPr>
          <p:nvPr/>
        </p:nvSpPr>
        <p:spPr>
          <a:xfrm xmlns:a="http://schemas.openxmlformats.org/drawingml/2006/main">
            <a:off x="2190750" y="1438275"/>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i="0">
                <a:solidFill>
                  <a:srgbClr val="FFFFFF"/>
                </a:solidFill>
                <a:latin typeface="Aptos"/>
                <a:ea typeface="Aptos"/>
                <a:cs typeface="Aptos"/>
              </a:defRPr>
            </a:defPPr>
          </a:lstStyle>
          <a:p xmlns:a="http://schemas.openxmlformats.org/drawingml/2006/main">
            <a:pPr algn="l">
              <a:lnSpc>
                <a:spcPct val="100000"/>
              </a:lnSpc>
              <a:buNone/>
              <a:defRPr sz="1650" b="0" i="0">
                <a:solidFill>
                  <a:srgbClr val="FFFFFF"/>
                </a:solidFill>
                <a:latin typeface="Aptos"/>
                <a:ea typeface="Aptos"/>
                <a:cs typeface="Aptos"/>
              </a:defRPr>
            </a:pPr>
            <a:r>
              <a:rPr sz="1650" b="0" i="0">
                <a:solidFill>
                  <a:srgbClr val="FFFFFF"/>
                </a:solidFill>
                <a:latin typeface="Aptos"/>
                <a:ea typeface="Aptos"/>
                <a:cs typeface="Aptos"/>
              </a:rPr>
              <a:t>Customized X500 V2</a:t>
            </a:r>
          </a:p>
        </p:txBody>
      </p:sp>
      <p:sp>
        <p:nvSpPr>
          <p:cNvPr id="6" name="Rectangle 5">
            <a:extLst xmlns:a="http://schemas.openxmlformats.org/drawingml/2006/main">
              <a:ext uri="{FF2B5EF4-FFF2-40B4-BE49-F238E27FC236}">
                <a16:creationId xmlns:a16="http://schemas.microsoft.com/office/drawing/2014/main" id="{AFA2CCA5-E705-4388-8FE8-8535F764110C}"/>
              </a:ext>
            </a:extLst>
          </p:cNvPr>
          <p:cNvSpPr>
            <a:spLocks xmlns:a="http://schemas.openxmlformats.org/drawingml/2006/main" noGrp="1"/>
          </p:cNvSpPr>
          <p:nvPr/>
        </p:nvSpPr>
        <p:spPr>
          <a:xfrm xmlns:a="http://schemas.openxmlformats.org/drawingml/2006/main">
            <a:off x="6324600" y="14382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i="0">
                <a:solidFill>
                  <a:srgbClr val="61A0FF"/>
                </a:solidFill>
                <a:latin typeface="Aptos"/>
                <a:ea typeface="Aptos"/>
                <a:cs typeface="Aptos"/>
              </a:defRPr>
            </a:defPPr>
          </a:lstStyle>
          <a:p xmlns:a="http://schemas.openxmlformats.org/drawingml/2006/main">
            <a:pPr algn="l">
              <a:lnSpc>
                <a:spcPct val="100000"/>
              </a:lnSpc>
              <a:buNone/>
              <a:defRPr sz="1725" b="1" i="0">
                <a:solidFill>
                  <a:srgbClr val="61A0FF"/>
                </a:solidFill>
                <a:latin typeface="Aptos"/>
                <a:ea typeface="Aptos"/>
                <a:cs typeface="Aptos"/>
              </a:defRPr>
            </a:pPr>
            <a:r>
              <a:rPr sz="1725" b="1" i="0">
                <a:solidFill>
                  <a:srgbClr val="61A0FF"/>
                </a:solidFill>
                <a:latin typeface="Aptos"/>
                <a:ea typeface="Aptos"/>
                <a:cs typeface="Aptos"/>
              </a:rPr>
              <a:t>SCOUT</a:t>
            </a:r>
          </a:p>
        </p:txBody>
      </p:sp>
      <p:sp>
        <p:nvSpPr>
          <p:cNvPr id="7" name="Rectangle 6">
            <a:extLst xmlns:a="http://schemas.openxmlformats.org/drawingml/2006/main">
              <a:ext uri="{FF2B5EF4-FFF2-40B4-BE49-F238E27FC236}">
                <a16:creationId xmlns:a16="http://schemas.microsoft.com/office/drawing/2014/main" id="{CF91685E-AB2C-4942-8BB5-F7258DB60B4C}"/>
              </a:ext>
            </a:extLst>
          </p:cNvPr>
          <p:cNvSpPr>
            <a:spLocks xmlns:a="http://schemas.openxmlformats.org/drawingml/2006/main" noGrp="1"/>
          </p:cNvSpPr>
          <p:nvPr/>
        </p:nvSpPr>
        <p:spPr>
          <a:xfrm xmlns:a="http://schemas.openxmlformats.org/drawingml/2006/main">
            <a:off x="7543800" y="1438275"/>
            <a:ext cx="403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i="0">
                <a:solidFill>
                  <a:srgbClr val="FFFFFF"/>
                </a:solidFill>
                <a:latin typeface="Aptos"/>
                <a:ea typeface="Aptos"/>
                <a:cs typeface="Aptos"/>
              </a:defRPr>
            </a:defPPr>
          </a:lstStyle>
          <a:p xmlns:a="http://schemas.openxmlformats.org/drawingml/2006/main">
            <a:pPr algn="l">
              <a:lnSpc>
                <a:spcPct val="100000"/>
              </a:lnSpc>
              <a:buNone/>
              <a:defRPr sz="1650" b="0" i="0">
                <a:solidFill>
                  <a:srgbClr val="FFFFFF"/>
                </a:solidFill>
                <a:latin typeface="Aptos"/>
                <a:ea typeface="Aptos"/>
                <a:cs typeface="Aptos"/>
              </a:defRPr>
            </a:pPr>
            <a:r>
              <a:rPr sz="1650" b="0" i="0">
                <a:solidFill>
                  <a:srgbClr val="FFFFFF"/>
                </a:solidFill>
                <a:latin typeface="Aptos"/>
                <a:ea typeface="Aptos"/>
                <a:cs typeface="Aptos"/>
              </a:rPr>
              <a:t>ModalAI development platform</a:t>
            </a:r>
          </a:p>
        </p:txBody>
      </p:sp>
      <p:sp>
        <p:nvSpPr>
          <p:cNvPr id="8" name="Rectangle 7">
            <a:extLst xmlns:a="http://schemas.openxmlformats.org/drawingml/2006/main">
              <a:ext uri="{FF2B5EF4-FFF2-40B4-BE49-F238E27FC236}">
                <a16:creationId xmlns:a16="http://schemas.microsoft.com/office/drawing/2014/main" id="{501E9723-10A7-4329-BFE6-D964BF4B6801}"/>
              </a:ext>
            </a:extLst>
          </p:cNvPr>
          <p:cNvSpPr>
            <a:spLocks xmlns:a="http://schemas.openxmlformats.org/drawingml/2006/main" noGrp="1"/>
          </p:cNvSpPr>
          <p:nvPr/>
        </p:nvSpPr>
        <p:spPr>
          <a:xfrm xmlns:a="http://schemas.openxmlformats.org/drawingml/2006/main">
            <a:off x="609600" y="1809750"/>
            <a:ext cx="5257800" cy="2952750"/>
          </a:xfrm>
          <a:prstGeom xmlns:a="http://schemas.openxmlformats.org/drawingml/2006/main" prst="rect">
            <a:avLst/>
          </a:prstGeom>
          <a:solidFill xmlns:a="http://schemas.openxmlformats.org/drawingml/2006/main">
            <a:srgbClr val="102B4C"/>
          </a:solidFill>
          <a:ln xmlns:a="http://schemas.openxmlformats.org/drawingml/2006/main" w="9525">
            <a:solidFill>
              <a:srgbClr val="F28C28"/>
            </a:solidFill>
          </a:ln>
        </p:spPr>
      </p:sp>
      <p:sp>
        <p:nvSpPr>
          <p:cNvPr id="9" name="Rectangle 8">
            <a:extLst xmlns:a="http://schemas.openxmlformats.org/drawingml/2006/main">
              <a:ext uri="{FF2B5EF4-FFF2-40B4-BE49-F238E27FC236}">
                <a16:creationId xmlns:a16="http://schemas.microsoft.com/office/drawing/2014/main" id="{863F0528-3A97-4090-B6FE-07BE27422E65}"/>
              </a:ext>
            </a:extLst>
          </p:cNvPr>
          <p:cNvSpPr>
            <a:spLocks xmlns:a="http://schemas.openxmlformats.org/drawingml/2006/main" noGrp="1"/>
          </p:cNvSpPr>
          <p:nvPr/>
        </p:nvSpPr>
        <p:spPr>
          <a:xfrm xmlns:a="http://schemas.openxmlformats.org/drawingml/2006/main">
            <a:off x="6324600" y="1809750"/>
            <a:ext cx="5257800" cy="2952750"/>
          </a:xfrm>
          <a:prstGeom xmlns:a="http://schemas.openxmlformats.org/drawingml/2006/main" prst="rect">
            <a:avLst/>
          </a:prstGeom>
          <a:solidFill xmlns:a="http://schemas.openxmlformats.org/drawingml/2006/main">
            <a:srgbClr val="102B4C"/>
          </a:solidFill>
          <a:ln xmlns:a="http://schemas.openxmlformats.org/drawingml/2006/main" w="9525">
            <a:solidFill>
              <a:srgbClr val="61A0FF"/>
            </a:solidFill>
          </a:ln>
        </p:spPr>
      </p:sp>
      <p:sp>
        <p:nvSpPr>
          <p:cNvPr id="12" name="Rectangle 11">
            <a:extLst xmlns:a="http://schemas.openxmlformats.org/drawingml/2006/main">
              <a:ext uri="{FF2B5EF4-FFF2-40B4-BE49-F238E27FC236}">
                <a16:creationId xmlns:a16="http://schemas.microsoft.com/office/drawing/2014/main" id="{3A656A38-987F-404A-8809-7887B7DECA46}"/>
              </a:ext>
            </a:extLst>
          </p:cNvPr>
          <p:cNvSpPr>
            <a:spLocks xmlns:a="http://schemas.openxmlformats.org/drawingml/2006/main" noGrp="1"/>
          </p:cNvSpPr>
          <p:nvPr/>
        </p:nvSpPr>
        <p:spPr>
          <a:xfrm xmlns:a="http://schemas.openxmlformats.org/drawingml/2006/main">
            <a:off x="609600" y="4933950"/>
            <a:ext cx="525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i="0">
                <a:solidFill>
                  <a:srgbClr val="F28C28"/>
                </a:solidFill>
                <a:latin typeface="Aptos"/>
                <a:ea typeface="Aptos"/>
                <a:cs typeface="Aptos"/>
              </a:defRPr>
            </a:defPPr>
          </a:lstStyle>
          <a:p xmlns:a="http://schemas.openxmlformats.org/drawingml/2006/main">
            <a:pPr algn="ctr">
              <a:lnSpc>
                <a:spcPct val="100000"/>
              </a:lnSpc>
              <a:buNone/>
              <a:defRPr sz="1650" b="1" i="0">
                <a:solidFill>
                  <a:srgbClr val="F28C28"/>
                </a:solidFill>
                <a:latin typeface="Aptos"/>
                <a:ea typeface="Aptos"/>
                <a:cs typeface="Aptos"/>
              </a:defRPr>
            </a:pPr>
            <a:r>
              <a:rPr sz="1650" b="1" i="0">
                <a:solidFill>
                  <a:srgbClr val="F28C28"/>
                </a:solidFill>
                <a:latin typeface="Aptos"/>
                <a:ea typeface="Aptos"/>
                <a:cs typeface="Aptos"/>
              </a:rPr>
              <a:t>Continuous detection role</a:t>
            </a:r>
          </a:p>
        </p:txBody>
      </p:sp>
      <p:sp>
        <p:nvSpPr>
          <p:cNvPr id="13" name="Rectangle 12">
            <a:extLst xmlns:a="http://schemas.openxmlformats.org/drawingml/2006/main">
              <a:ext uri="{FF2B5EF4-FFF2-40B4-BE49-F238E27FC236}">
                <a16:creationId xmlns:a16="http://schemas.microsoft.com/office/drawing/2014/main" id="{43AB0EE9-FE97-4F96-8BFD-08E36D56891B}"/>
              </a:ext>
            </a:extLst>
          </p:cNvPr>
          <p:cNvSpPr>
            <a:spLocks xmlns:a="http://schemas.openxmlformats.org/drawingml/2006/main" noGrp="1"/>
          </p:cNvSpPr>
          <p:nvPr/>
        </p:nvSpPr>
        <p:spPr>
          <a:xfrm xmlns:a="http://schemas.openxmlformats.org/drawingml/2006/main">
            <a:off x="685800" y="5248275"/>
            <a:ext cx="5105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0" i="0">
                <a:solidFill>
                  <a:srgbClr val="FFFFFF"/>
                </a:solidFill>
                <a:latin typeface="Aptos"/>
                <a:ea typeface="Aptos"/>
                <a:cs typeface="Aptos"/>
              </a:defRPr>
            </a:defPPr>
          </a:lstStyle>
          <a:p xmlns:a="http://schemas.openxmlformats.org/drawingml/2006/main">
            <a:pPr algn="ctr">
              <a:lnSpc>
                <a:spcPct val="100000"/>
              </a:lnSpc>
              <a:buNone/>
              <a:defRPr sz="1275" b="0" i="0">
                <a:solidFill>
                  <a:srgbClr val="FFFFFF"/>
                </a:solidFill>
                <a:latin typeface="Aptos"/>
                <a:ea typeface="Aptos"/>
                <a:cs typeface="Aptos"/>
              </a:defRPr>
            </a:pPr>
            <a:r>
              <a:rPr sz="1225" b="0" i="0">
                <a:solidFill>
                  <a:srgbClr val="FFFFFF"/>
                </a:solidFill>
                <a:latin typeface="Aptos"/>
                <a:ea typeface="Aptos"/>
                <a:cs typeface="Aptos"/>
              </a:rPr>
              <a:t>D435i stereo hardware + Jetson Nano for onboard RGB inference</a:t>
            </a:r>
          </a:p>
        </p:txBody>
      </p:sp>
      <p:sp>
        <p:nvSpPr>
          <p:cNvPr id="14" name="Rectangle 13">
            <a:extLst xmlns:a="http://schemas.openxmlformats.org/drawingml/2006/main">
              <a:ext uri="{FF2B5EF4-FFF2-40B4-BE49-F238E27FC236}">
                <a16:creationId xmlns:a16="http://schemas.microsoft.com/office/drawing/2014/main" id="{0E6F3704-65FD-4991-BCFD-DF83234926A7}"/>
              </a:ext>
            </a:extLst>
          </p:cNvPr>
          <p:cNvSpPr>
            <a:spLocks xmlns:a="http://schemas.openxmlformats.org/drawingml/2006/main" noGrp="1"/>
          </p:cNvSpPr>
          <p:nvPr/>
        </p:nvSpPr>
        <p:spPr>
          <a:xfrm xmlns:a="http://schemas.openxmlformats.org/drawingml/2006/main">
            <a:off x="685800" y="5534025"/>
            <a:ext cx="5105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00" b="0" i="0">
                <a:solidFill>
                  <a:srgbClr val="B9CCE0"/>
                </a:solidFill>
                <a:latin typeface="Aptos"/>
                <a:ea typeface="Aptos"/>
                <a:cs typeface="Aptos"/>
              </a:defRPr>
            </a:defPPr>
          </a:lstStyle>
          <a:p xmlns:a="http://schemas.openxmlformats.org/drawingml/2006/main">
            <a:pPr algn="ctr">
              <a:lnSpc>
                <a:spcPct val="100000"/>
              </a:lnSpc>
              <a:buNone/>
              <a:defRPr sz="1200" b="0" i="0">
                <a:solidFill>
                  <a:srgbClr val="B9CCE0"/>
                </a:solidFill>
                <a:latin typeface="Aptos"/>
                <a:ea typeface="Aptos"/>
                <a:cs typeface="Aptos"/>
              </a:defRPr>
            </a:pPr>
            <a:r>
              <a:rPr sz="1150" b="0" i="0">
                <a:solidFill>
                  <a:srgbClr val="B9CCE0"/>
                </a:solidFill>
                <a:latin typeface="Aptos"/>
                <a:ea typeface="Aptos"/>
                <a:cs typeface="Aptos"/>
              </a:rPr>
              <a:t>Larger X500 frame carries the sensing, compute and battery package</a:t>
            </a:r>
          </a:p>
        </p:txBody>
      </p:sp>
      <p:sp>
        <p:nvSpPr>
          <p:cNvPr id="15" name="Rectangle 14">
            <a:extLst xmlns:a="http://schemas.openxmlformats.org/drawingml/2006/main">
              <a:ext uri="{FF2B5EF4-FFF2-40B4-BE49-F238E27FC236}">
                <a16:creationId xmlns:a16="http://schemas.microsoft.com/office/drawing/2014/main" id="{5CEC1E57-9B15-4BDA-A61F-BE6EBB6F45E5}"/>
              </a:ext>
            </a:extLst>
          </p:cNvPr>
          <p:cNvSpPr>
            <a:spLocks xmlns:a="http://schemas.openxmlformats.org/drawingml/2006/main" noGrp="1"/>
          </p:cNvSpPr>
          <p:nvPr/>
        </p:nvSpPr>
        <p:spPr>
          <a:xfrm xmlns:a="http://schemas.openxmlformats.org/drawingml/2006/main">
            <a:off x="6324600" y="4933950"/>
            <a:ext cx="525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i="0">
                <a:solidFill>
                  <a:srgbClr val="61A0FF"/>
                </a:solidFill>
                <a:latin typeface="Aptos"/>
                <a:ea typeface="Aptos"/>
                <a:cs typeface="Aptos"/>
              </a:defRPr>
            </a:defPPr>
          </a:lstStyle>
          <a:p xmlns:a="http://schemas.openxmlformats.org/drawingml/2006/main">
            <a:pPr algn="ctr">
              <a:lnSpc>
                <a:spcPct val="100000"/>
              </a:lnSpc>
              <a:buNone/>
              <a:defRPr sz="1650" b="1" i="0">
                <a:solidFill>
                  <a:srgbClr val="61A0FF"/>
                </a:solidFill>
                <a:latin typeface="Aptos"/>
                <a:ea typeface="Aptos"/>
                <a:cs typeface="Aptos"/>
              </a:defRPr>
            </a:pPr>
            <a:r>
              <a:rPr sz="1650" b="1" i="0">
                <a:solidFill>
                  <a:srgbClr val="61A0FF"/>
                </a:solidFill>
                <a:latin typeface="Aptos"/>
                <a:ea typeface="Aptos"/>
                <a:cs typeface="Aptos"/>
              </a:rPr>
              <a:t>On-demand close verification</a:t>
            </a:r>
          </a:p>
        </p:txBody>
      </p:sp>
      <p:sp>
        <p:nvSpPr>
          <p:cNvPr id="16" name="Rectangle 15">
            <a:extLst xmlns:a="http://schemas.openxmlformats.org/drawingml/2006/main">
              <a:ext uri="{FF2B5EF4-FFF2-40B4-BE49-F238E27FC236}">
                <a16:creationId xmlns:a16="http://schemas.microsoft.com/office/drawing/2014/main" id="{85A00E6F-B9E7-426B-9709-438910D75B00}"/>
              </a:ext>
            </a:extLst>
          </p:cNvPr>
          <p:cNvSpPr>
            <a:spLocks xmlns:a="http://schemas.openxmlformats.org/drawingml/2006/main" noGrp="1"/>
          </p:cNvSpPr>
          <p:nvPr/>
        </p:nvSpPr>
        <p:spPr>
          <a:xfrm xmlns:a="http://schemas.openxmlformats.org/drawingml/2006/main">
            <a:off x="6400800" y="5248275"/>
            <a:ext cx="5105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0" i="0">
                <a:solidFill>
                  <a:srgbClr val="FFFFFF"/>
                </a:solidFill>
                <a:latin typeface="Aptos"/>
                <a:ea typeface="Aptos"/>
                <a:cs typeface="Aptos"/>
              </a:defRPr>
            </a:defPPr>
          </a:lstStyle>
          <a:p xmlns:a="http://schemas.openxmlformats.org/drawingml/2006/main">
            <a:pPr algn="ctr">
              <a:lnSpc>
                <a:spcPct val="100000"/>
              </a:lnSpc>
              <a:buNone/>
              <a:defRPr sz="1275" b="0" i="0">
                <a:solidFill>
                  <a:srgbClr val="FFFFFF"/>
                </a:solidFill>
                <a:latin typeface="Aptos"/>
                <a:ea typeface="Aptos"/>
                <a:cs typeface="Aptos"/>
              </a:defRPr>
            </a:pPr>
            <a:r>
              <a:rPr sz="1225" b="0" i="0">
                <a:solidFill>
                  <a:srgbClr val="FFFFFF"/>
                </a:solidFill>
                <a:latin typeface="Aptos"/>
                <a:ea typeface="Aptos"/>
                <a:cs typeface="Aptos"/>
              </a:rPr>
              <a:t>High-resolution Sony camera + VOXL 2 for independent inspection</a:t>
            </a:r>
          </a:p>
        </p:txBody>
      </p:sp>
      <p:sp>
        <p:nvSpPr>
          <p:cNvPr id="17" name="Rectangle 16">
            <a:extLst xmlns:a="http://schemas.openxmlformats.org/drawingml/2006/main">
              <a:ext uri="{FF2B5EF4-FFF2-40B4-BE49-F238E27FC236}">
                <a16:creationId xmlns:a16="http://schemas.microsoft.com/office/drawing/2014/main" id="{BA229AD7-52F1-42FF-B6A6-3B2BDD5EEB01}"/>
              </a:ext>
            </a:extLst>
          </p:cNvPr>
          <p:cNvSpPr>
            <a:spLocks xmlns:a="http://schemas.openxmlformats.org/drawingml/2006/main" noGrp="1"/>
          </p:cNvSpPr>
          <p:nvPr/>
        </p:nvSpPr>
        <p:spPr>
          <a:xfrm xmlns:a="http://schemas.openxmlformats.org/drawingml/2006/main">
            <a:off x="6400800" y="5534025"/>
            <a:ext cx="5105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00" b="0" i="0">
                <a:solidFill>
                  <a:srgbClr val="B9CCE0"/>
                </a:solidFill>
                <a:latin typeface="Aptos"/>
                <a:ea typeface="Aptos"/>
                <a:cs typeface="Aptos"/>
              </a:defRPr>
            </a:defPPr>
          </a:lstStyle>
          <a:p xmlns:a="http://schemas.openxmlformats.org/drawingml/2006/main">
            <a:pPr algn="ctr">
              <a:lnSpc>
                <a:spcPct val="100000"/>
              </a:lnSpc>
              <a:buNone/>
              <a:defRPr sz="1200" b="0" i="0">
                <a:solidFill>
                  <a:srgbClr val="B9CCE0"/>
                </a:solidFill>
                <a:latin typeface="Aptos"/>
                <a:ea typeface="Aptos"/>
                <a:cs typeface="Aptos"/>
              </a:defRPr>
            </a:pPr>
            <a:r>
              <a:rPr sz="1150" b="0" i="0">
                <a:solidFill>
                  <a:srgbClr val="B9CCE0"/>
                </a:solidFill>
                <a:latin typeface="Aptos"/>
                <a:ea typeface="Aptos"/>
                <a:cs typeface="Aptos"/>
              </a:rPr>
              <a:t>Compact platform for intended targeted inspection</a:t>
            </a:r>
          </a:p>
        </p:txBody>
      </p:sp>
      <p:sp>
        <p:nvSpPr>
          <p:cNvPr id="18" name="Straight Connector 17">
            <a:extLst xmlns:a="http://schemas.openxmlformats.org/drawingml/2006/main">
              <a:ext uri="{FF2B5EF4-FFF2-40B4-BE49-F238E27FC236}">
                <a16:creationId xmlns:a16="http://schemas.microsoft.com/office/drawing/2014/main" id="{167EBB43-5C9B-43BD-B79A-F7B1D6C39CA2}"/>
              </a:ext>
            </a:extLst>
          </p:cNvPr>
          <p:cNvSpPr>
            <a:spLocks xmlns:a="http://schemas.openxmlformats.org/drawingml/2006/main" noGrp="1"/>
          </p:cNvSpPr>
          <p:nvPr/>
        </p:nvSpPr>
        <p:spPr>
          <a:xfrm xmlns:a="http://schemas.openxmlformats.org/drawingml/2006/main">
            <a:off x="609600" y="5962650"/>
            <a:ext cx="10972800" cy="0"/>
          </a:xfrm>
          <a:prstGeom xmlns:a="http://schemas.openxmlformats.org/drawingml/2006/main" prst="line">
            <a:avLst/>
          </a:prstGeom>
          <a:noFill xmlns:a="http://schemas.openxmlformats.org/drawingml/2006/main"/>
          <a:ln xmlns:a="http://schemas.openxmlformats.org/drawingml/2006/main" w="9525">
            <a:solidFill>
              <a:srgbClr val="35506F"/>
            </a:solidFill>
            <a:prstDash val="solid"/>
          </a:ln>
        </p:spPr>
      </p:sp>
      <p:sp>
        <p:nvSpPr>
          <p:cNvPr id="21" name="Rectangle 20">
            <a:extLst xmlns:a="http://schemas.openxmlformats.org/drawingml/2006/main">
              <a:ext uri="{FF2B5EF4-FFF2-40B4-BE49-F238E27FC236}">
                <a16:creationId xmlns:a16="http://schemas.microsoft.com/office/drawing/2014/main" id="{9D66B054-9AA6-4553-8A2A-F0C77E4DC07A}"/>
              </a:ext>
            </a:extLst>
          </p:cNvPr>
          <p:cNvSpPr>
            <a:spLocks xmlns:a="http://schemas.openxmlformats.org/drawingml/2006/main" noGrp="1"/>
          </p:cNvSpPr>
          <p:nvPr/>
        </p:nvSpPr>
        <p:spPr>
          <a:xfrm xmlns:a="http://schemas.openxmlformats.org/drawingml/2006/main">
            <a:off x="11201400" y="6572250"/>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i="0">
                <a:solidFill>
                  <a:srgbClr val="8FA5BC"/>
                </a:solidFill>
                <a:latin typeface="Aptos"/>
                <a:ea typeface="Aptos"/>
                <a:cs typeface="Aptos"/>
              </a:defRPr>
            </a:defPPr>
          </a:lstStyle>
          <a:p xmlns:a="http://schemas.openxmlformats.org/drawingml/2006/main">
            <a:pPr algn="r">
              <a:lnSpc>
                <a:spcPct val="100000"/>
              </a:lnSpc>
              <a:buNone/>
              <a:defRPr sz="900" b="0" i="0">
                <a:solidFill>
                  <a:srgbClr val="8FA5BC"/>
                </a:solidFill>
                <a:latin typeface="Aptos"/>
                <a:ea typeface="Aptos"/>
                <a:cs typeface="Aptos"/>
              </a:defRPr>
            </a:pPr>
            <a:r>
              <a:rPr sz="900" b="0" i="0">
                <a:solidFill>
                  <a:srgbClr val="8FA5BC"/>
                </a:solidFill>
                <a:latin typeface="Aptos"/>
                <a:ea typeface="Aptos"/>
                <a:cs typeface="Aptos"/>
              </a:rPr>
              <a:t>2</a:t>
            </a:r>
          </a:p>
        </p:txBody>
      </p:sp>
      <p:pic>
        <p:nvPicPr>
          <p:cNvPr id="19" name="Sentinel dimension-final GIF">
            <a:extLst xmlns:a="http://schemas.openxmlformats.org/drawingml/2006/main">
              <a:ext uri="{FF2B5EF4-FFF2-40B4-BE49-F238E27FC236}">
                <a16:creationId xmlns:a16="http://schemas.microsoft.com/office/drawing/2014/main" id="{5D5E4288-BBFE-4D90-A9E4-60815053F43A}"/>
              </a:ext>
            </a:extLst>
          </p:cNvPr>
          <p:cNvPicPr>
            <a:picLocks xmlns:a="http://schemas.openxmlformats.org/drawingml/2006/main" noChangeAspect="1"/>
          </p:cNvPicPr>
          <p:nvPr/>
        </p:nvPicPr>
        <p:blipFill>
          <a:blip xmlns:r="http://schemas.openxmlformats.org/officeDocument/2006/relationships" xmlns:a="http://schemas.openxmlformats.org/drawingml/2006/main" r:embed="R2f3169c91e85474c"/>
          <a:stretch xmlns:a="http://schemas.openxmlformats.org/drawingml/2006/main">
            <a:fillRect l="0" t="0" r="0" b="0"/>
          </a:stretch>
        </p:blipFill>
        <p:spPr>
          <a:xfrm xmlns:a="http://schemas.openxmlformats.org/drawingml/2006/main">
            <a:off x="681567" y="1847850"/>
            <a:ext cx="5113867" cy="2876550"/>
          </a:xfrm>
          <a:prstGeom xmlns:a="http://schemas.openxmlformats.org/drawingml/2006/main" prst="rect">
            <a:avLst/>
          </a:prstGeom>
          <a:ln xmlns:a="http://schemas.openxmlformats.org/drawingml/2006/main" w="10160">
            <a:solidFill>
              <a:srgbClr val="D6DEE6"/>
            </a:solidFill>
          </a:ln>
        </p:spPr>
      </p:pic>
      <p:pic>
        <p:nvPicPr>
          <p:cNvPr id="24" name="Scout dimension-final GIF">
            <a:extLst xmlns:a="http://schemas.openxmlformats.org/drawingml/2006/main">
              <a:ext uri="{FF2B5EF4-FFF2-40B4-BE49-F238E27FC236}">
                <a16:creationId xmlns:a16="http://schemas.microsoft.com/office/drawing/2014/main" id="{BA6CB7CC-72D4-4944-9397-8A2D0F66C13C}"/>
              </a:ext>
            </a:extLst>
          </p:cNvPr>
          <p:cNvPicPr>
            <a:picLocks xmlns:a="http://schemas.openxmlformats.org/drawingml/2006/main" noChangeAspect="1"/>
          </p:cNvPicPr>
          <p:nvPr/>
        </p:nvPicPr>
        <p:blipFill>
          <a:blip xmlns:r="http://schemas.openxmlformats.org/officeDocument/2006/relationships" xmlns:a="http://schemas.openxmlformats.org/drawingml/2006/main" r:embed="R59e15668d6a3451e"/>
          <a:stretch xmlns:a="http://schemas.openxmlformats.org/drawingml/2006/main">
            <a:fillRect l="0" t="0" r="0" b="0"/>
          </a:stretch>
        </p:blipFill>
        <p:spPr>
          <a:xfrm xmlns:a="http://schemas.openxmlformats.org/drawingml/2006/main">
            <a:off x="6396567" y="1847850"/>
            <a:ext cx="5113867" cy="2876550"/>
          </a:xfrm>
          <a:prstGeom xmlns:a="http://schemas.openxmlformats.org/drawingml/2006/main" prst="rect">
            <a:avLst/>
          </a:prstGeom>
          <a:ln xmlns:a="http://schemas.openxmlformats.org/drawingml/2006/main" w="10160">
            <a:solidFill>
              <a:srgbClr val="D6DEE6"/>
            </a:solidFill>
          </a:ln>
        </p:spPr>
      </p:pic>
    </p:spTree>
    <p:extLst>
      <p:ext uri="{BB962C8B-B14F-4D97-AF65-F5344CB8AC3E}">
        <p14:creationId xmlns:p14="http://schemas.microsoft.com/office/powerpoint/2010/main" val="16640991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2" name="Straight Arrow Connector 21">
            <a:extLst xmlns:a="http://schemas.openxmlformats.org/drawingml/2006/main">
              <a:ext uri="{FF2B5EF4-FFF2-40B4-BE49-F238E27FC236}">
                <a16:creationId xmlns:a16="http://schemas.microsoft.com/office/drawing/2014/main" id="{397672C4-8FC9-41A7-B946-42C35D403BCC}"/>
              </a:ext>
            </a:extLst>
          </p:cNvPr>
          <p:cNvCxnSpPr>
            <a:stCxn xmlns:a="http://schemas.openxmlformats.org/drawingml/2006/main" id="21" idx="3"/>
            <a:endCxn xmlns:a="http://schemas.openxmlformats.org/drawingml/2006/main" id="20" idx="1"/>
          </p:cNvCxnSpPr>
          <p:nvPr/>
        </p:nvCxnSpPr>
        <p:spPr>
          <a:xfrm xmlns:a="http://schemas.openxmlformats.org/drawingml/2006/main">
            <a:off x="2009775" y="4595813"/>
            <a:ext cx="3981450" cy="0"/>
          </a:xfrm>
          <a:prstGeom xmlns:a="http://schemas.openxmlformats.org/drawingml/2006/main" prst="straightConnector1">
            <a:avLst/>
          </a:prstGeom>
          <a:ln xmlns:a="http://schemas.openxmlformats.org/drawingml/2006/main" w="19050">
            <a:solidFill>
              <a:srgbClr val="236FE8"/>
            </a:solidFill>
            <a:headEnd type="triangle" w="sm" len="sm"/>
          </a:ln>
        </p:spPr>
      </p:cxnSp>
      <p:cxnSp>
        <p:nvCxnSpPr>
          <p:cNvPr id="17" name="Straight Arrow Connector 16">
            <a:extLst xmlns:a="http://schemas.openxmlformats.org/drawingml/2006/main">
              <a:ext uri="{FF2B5EF4-FFF2-40B4-BE49-F238E27FC236}">
                <a16:creationId xmlns:a16="http://schemas.microsoft.com/office/drawing/2014/main" id="{3C9CD45D-F915-4C0B-A530-6D48E8570B99}"/>
              </a:ext>
            </a:extLst>
          </p:cNvPr>
          <p:cNvCxnSpPr>
            <a:stCxn xmlns:a="http://schemas.openxmlformats.org/drawingml/2006/main" id="16" idx="1"/>
            <a:endCxn xmlns:a="http://schemas.openxmlformats.org/drawingml/2006/main" id="15" idx="3"/>
          </p:cNvCxnSpPr>
          <p:nvPr/>
        </p:nvCxnSpPr>
        <p:spPr>
          <a:xfrm xmlns:a="http://schemas.openxmlformats.org/drawingml/2006/main" flipH="1">
            <a:off x="2009775" y="3167063"/>
            <a:ext cx="3981450" cy="0"/>
          </a:xfrm>
          <a:prstGeom xmlns:a="http://schemas.openxmlformats.org/drawingml/2006/main" prst="straightConnector1">
            <a:avLst/>
          </a:prstGeom>
          <a:ln xmlns:a="http://schemas.openxmlformats.org/drawingml/2006/main" w="19050">
            <a:solidFill>
              <a:srgbClr val="DF750E"/>
            </a:solidFill>
            <a:headEnd type="triangle" w="sm" len="sm"/>
          </a:ln>
        </p:spPr>
      </p:cxnSp>
      <p:sp>
        <p:nvSpPr>
          <p:cNvPr id="31" name="Straight Connector 30">
            <a:extLst xmlns:a="http://schemas.openxmlformats.org/drawingml/2006/main">
              <a:ext uri="{FF2B5EF4-FFF2-40B4-BE49-F238E27FC236}">
                <a16:creationId xmlns:a16="http://schemas.microsoft.com/office/drawing/2014/main" id="{6876F0C6-27A7-4F27-94EA-431554C4B8FF}"/>
              </a:ext>
            </a:extLst>
          </p:cNvPr>
          <p:cNvSpPr>
            <a:spLocks xmlns:a="http://schemas.openxmlformats.org/drawingml/2006/main" noGrp="1"/>
          </p:cNvSpPr>
          <p:nvPr/>
        </p:nvSpPr>
        <p:spPr>
          <a:xfrm xmlns:a="http://schemas.openxmlformats.org/drawingml/2006/main">
            <a:off x="0" y="47625"/>
            <a:ext cx="12192000" cy="0"/>
          </a:xfrm>
          <a:prstGeom xmlns:a="http://schemas.openxmlformats.org/drawingml/2006/main" prst="line">
            <a:avLst/>
          </a:prstGeom>
          <a:ln xmlns:a="http://schemas.openxmlformats.org/drawingml/2006/main" w="95250">
            <a:solidFill>
              <a:srgbClr val="0B1F3A"/>
            </a:solidFill>
            <a:prstDash val="solid"/>
          </a:ln>
        </p:spPr>
      </p:sp>
      <p:sp>
        <p:nvSpPr>
          <p:cNvPr id="2" name="Rectangle 1">
            <a:extLst xmlns:a="http://schemas.openxmlformats.org/drawingml/2006/main">
              <a:ext uri="{FF2B5EF4-FFF2-40B4-BE49-F238E27FC236}">
                <a16:creationId xmlns:a16="http://schemas.microsoft.com/office/drawing/2014/main" id="{565E7DA6-261F-4267-A2D4-33B1C56BFE09}"/>
              </a:ext>
            </a:extLst>
          </p:cNvPr>
          <p:cNvSpPr>
            <a:spLocks xmlns:a="http://schemas.openxmlformats.org/drawingml/2006/main" noGrp="1"/>
          </p:cNvSpPr>
          <p:nvPr/>
        </p:nvSpPr>
        <p:spPr>
          <a:xfrm xmlns:a="http://schemas.openxmlformats.org/drawingml/2006/main">
            <a:off x="609600" y="2952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B1F3A"/>
                </a:solidFill>
                <a:latin typeface="Aptos"/>
                <a:ea typeface="Aptos"/>
                <a:cs typeface="Aptos"/>
              </a:defRPr>
            </a:defPPr>
          </a:lstStyle>
          <a:p xmlns:a="http://schemas.openxmlformats.org/drawingml/2006/main">
            <a:pPr algn="l">
              <a:buNone/>
              <a:defRPr sz="3000" b="1">
                <a:solidFill>
                  <a:srgbClr val="0B1F3A"/>
                </a:solidFill>
                <a:latin typeface="Aptos"/>
                <a:ea typeface="Aptos"/>
                <a:cs typeface="Aptos"/>
              </a:defRPr>
            </a:pPr>
            <a:r>
              <a:rPr sz="3000" b="1">
                <a:solidFill>
                  <a:srgbClr val="0B1F3A"/>
                </a:solidFill>
                <a:latin typeface="Aptos"/>
                <a:ea typeface="Aptos"/>
                <a:cs typeface="Aptos"/>
              </a:rPr>
              <a:t>Correlated decisions and fault containment</a:t>
            </a:r>
          </a:p>
        </p:txBody>
      </p:sp>
      <p:sp>
        <p:nvSpPr>
          <p:cNvPr id="3" name="Rectangle 2">
            <a:extLst xmlns:a="http://schemas.openxmlformats.org/drawingml/2006/main">
              <a:ext uri="{FF2B5EF4-FFF2-40B4-BE49-F238E27FC236}">
                <a16:creationId xmlns:a16="http://schemas.microsoft.com/office/drawing/2014/main" id="{7EF01DC1-3835-4565-BFEB-592A2A4A4A15}"/>
              </a:ext>
            </a:extLst>
          </p:cNvPr>
          <p:cNvSpPr>
            <a:spLocks xmlns:a="http://schemas.openxmlformats.org/drawingml/2006/main" noGrp="1"/>
          </p:cNvSpPr>
          <p:nvPr/>
        </p:nvSpPr>
        <p:spPr>
          <a:xfrm xmlns:a="http://schemas.openxmlformats.org/drawingml/2006/main">
            <a:off x="609600" y="8667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174"/>
                </a:solidFill>
                <a:latin typeface="Aptos"/>
                <a:ea typeface="Aptos"/>
                <a:cs typeface="Aptos"/>
              </a:defRPr>
            </a:defPPr>
          </a:lstStyle>
          <a:p xmlns:a="http://schemas.openxmlformats.org/drawingml/2006/main">
            <a:pPr algn="l">
              <a:buNone/>
              <a:defRPr sz="1500" b="0">
                <a:solidFill>
                  <a:srgbClr val="526174"/>
                </a:solidFill>
                <a:latin typeface="Aptos"/>
                <a:ea typeface="Aptos"/>
                <a:cs typeface="Aptos"/>
              </a:defRPr>
            </a:pPr>
            <a:r>
              <a:rPr sz="1500" b="0">
                <a:solidFill>
                  <a:srgbClr val="526174"/>
                </a:solidFill>
                <a:latin typeface="Aptos"/>
                <a:ea typeface="Aptos"/>
                <a:cs typeface="Aptos"/>
              </a:rPr>
              <a:t>Three-frame gating, independent verification and one terminal decision per event</a:t>
            </a:r>
          </a:p>
        </p:txBody>
      </p:sp>
      <p:sp>
        <p:nvSpPr>
          <p:cNvPr id="4" name="Straight Connector 3">
            <a:extLst xmlns:a="http://schemas.openxmlformats.org/drawingml/2006/main">
              <a:ext uri="{FF2B5EF4-FFF2-40B4-BE49-F238E27FC236}">
                <a16:creationId xmlns:a16="http://schemas.microsoft.com/office/drawing/2014/main" id="{7251AC98-DFA7-4E9C-A0F3-925CC564CCEE}"/>
              </a:ext>
            </a:extLst>
          </p:cNvPr>
          <p:cNvSpPr>
            <a:spLocks xmlns:a="http://schemas.openxmlformats.org/drawingml/2006/main" noGrp="1"/>
          </p:cNvSpPr>
          <p:nvPr/>
        </p:nvSpPr>
        <p:spPr>
          <a:xfrm xmlns:a="http://schemas.openxmlformats.org/drawingml/2006/main">
            <a:off x="609600" y="1266825"/>
            <a:ext cx="10972800" cy="0"/>
          </a:xfrm>
          <a:prstGeom xmlns:a="http://schemas.openxmlformats.org/drawingml/2006/main" prst="line">
            <a:avLst/>
          </a:prstGeom>
          <a:ln xmlns:a="http://schemas.openxmlformats.org/drawingml/2006/main" w="9525">
            <a:solidFill>
              <a:srgbClr val="D7DEE8"/>
            </a:solidFill>
            <a:prstDash val="solid"/>
          </a:ln>
        </p:spPr>
      </p:sp>
      <p:sp>
        <p:nvSpPr>
          <p:cNvPr id="6" name="Rectangle 5">
            <a:extLst xmlns:a="http://schemas.openxmlformats.org/drawingml/2006/main">
              <a:ext uri="{FF2B5EF4-FFF2-40B4-BE49-F238E27FC236}">
                <a16:creationId xmlns:a16="http://schemas.microsoft.com/office/drawing/2014/main" id="{0E0C04AF-54C9-46BB-9F91-3C09E516109A}"/>
              </a:ext>
            </a:extLst>
          </p:cNvPr>
          <p:cNvSpPr>
            <a:spLocks xmlns:a="http://schemas.openxmlformats.org/drawingml/2006/main" noGrp="1"/>
          </p:cNvSpPr>
          <p:nvPr/>
        </p:nvSpPr>
        <p:spPr>
          <a:xfrm xmlns:a="http://schemas.openxmlformats.org/drawingml/2006/main">
            <a:off x="11144250" y="65436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526174"/>
                </a:solidFill>
                <a:latin typeface="Aptos"/>
                <a:ea typeface="Aptos"/>
                <a:cs typeface="Aptos"/>
              </a:defRPr>
            </a:defPPr>
          </a:lstStyle>
          <a:p xmlns:a="http://schemas.openxmlformats.org/drawingml/2006/main">
            <a:pPr algn="r">
              <a:buNone/>
              <a:defRPr sz="975" b="0">
                <a:solidFill>
                  <a:srgbClr val="526174"/>
                </a:solidFill>
                <a:latin typeface="Aptos"/>
                <a:ea typeface="Aptos"/>
                <a:cs typeface="Aptos"/>
              </a:defRPr>
            </a:pPr>
            <a:r>
              <a:rPr sz="975" b="0">
                <a:solidFill>
                  <a:srgbClr val="526174"/>
                </a:solidFill>
                <a:latin typeface="Aptos"/>
                <a:ea typeface="Aptos"/>
                <a:cs typeface="Aptos"/>
              </a:rPr>
              <a:t>3</a:t>
            </a:r>
          </a:p>
        </p:txBody>
      </p:sp>
      <p:sp>
        <p:nvSpPr>
          <p:cNvPr id="7" name="Rectangle 6">
            <a:extLst xmlns:a="http://schemas.openxmlformats.org/drawingml/2006/main">
              <a:ext uri="{FF2B5EF4-FFF2-40B4-BE49-F238E27FC236}">
                <a16:creationId xmlns:a16="http://schemas.microsoft.com/office/drawing/2014/main" id="{448540F9-C08A-432B-8F78-3D5CE8EC68C2}"/>
              </a:ext>
            </a:extLst>
          </p:cNvPr>
          <p:cNvSpPr>
            <a:spLocks xmlns:a="http://schemas.openxmlformats.org/drawingml/2006/main" noGrp="1"/>
          </p:cNvSpPr>
          <p:nvPr/>
        </p:nvSpPr>
        <p:spPr>
          <a:xfrm xmlns:a="http://schemas.openxmlformats.org/drawingml/2006/main">
            <a:off x="904875" y="1562100"/>
            <a:ext cx="2190750" cy="476250"/>
          </a:xfrm>
          <a:prstGeom xmlns:a="http://schemas.openxmlformats.org/drawingml/2006/main" prst="rect">
            <a:avLst/>
          </a:prstGeom>
          <a:solidFill xmlns:a="http://schemas.openxmlformats.org/drawingml/2006/main">
            <a:srgbClr val="FFFFFF"/>
          </a:solidFill>
          <a:ln xmlns:a="http://schemas.openxmlformats.org/drawingml/2006/main" w="19050">
            <a:solidFill>
              <a:srgbClr val="DF750E"/>
            </a:solidFill>
          </a:ln>
        </p:spPr>
      </p:sp>
      <p:sp>
        <p:nvSpPr>
          <p:cNvPr id="8" name="Rectangle 7">
            <a:extLst xmlns:a="http://schemas.openxmlformats.org/drawingml/2006/main">
              <a:ext uri="{FF2B5EF4-FFF2-40B4-BE49-F238E27FC236}">
                <a16:creationId xmlns:a16="http://schemas.microsoft.com/office/drawing/2014/main" id="{59BFD02E-F61B-417C-885A-02048E4AFD7B}"/>
              </a:ext>
            </a:extLst>
          </p:cNvPr>
          <p:cNvSpPr>
            <a:spLocks xmlns:a="http://schemas.openxmlformats.org/drawingml/2006/main" noGrp="1"/>
          </p:cNvSpPr>
          <p:nvPr/>
        </p:nvSpPr>
        <p:spPr>
          <a:xfrm xmlns:a="http://schemas.openxmlformats.org/drawingml/2006/main">
            <a:off x="981075" y="1647825"/>
            <a:ext cx="2038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DF750E"/>
                </a:solidFill>
                <a:latin typeface="Aptos"/>
                <a:ea typeface="Aptos"/>
                <a:cs typeface="Aptos"/>
              </a:defRPr>
            </a:defPPr>
          </a:lstStyle>
          <a:p xmlns:a="http://schemas.openxmlformats.org/drawingml/2006/main">
            <a:pPr algn="ctr">
              <a:buNone/>
              <a:defRPr sz="1800" b="1">
                <a:solidFill>
                  <a:srgbClr val="DF750E"/>
                </a:solidFill>
                <a:latin typeface="Aptos"/>
                <a:ea typeface="Aptos"/>
                <a:cs typeface="Aptos"/>
              </a:defRPr>
            </a:pPr>
            <a:r>
              <a:rPr sz="1800" b="1">
                <a:solidFill>
                  <a:srgbClr val="DF750E"/>
                </a:solidFill>
                <a:latin typeface="Aptos"/>
                <a:ea typeface="Aptos"/>
                <a:cs typeface="Aptos"/>
              </a:rPr>
              <a:t>Sentinel</a:t>
            </a:r>
          </a:p>
        </p:txBody>
      </p:sp>
      <p:sp>
        <p:nvSpPr>
          <p:cNvPr id="9" name="Rectangle 8">
            <a:extLst xmlns:a="http://schemas.openxmlformats.org/drawingml/2006/main">
              <a:ext uri="{FF2B5EF4-FFF2-40B4-BE49-F238E27FC236}">
                <a16:creationId xmlns:a16="http://schemas.microsoft.com/office/drawing/2014/main" id="{5728E2C2-1755-48C5-AEC4-DB576722409F}"/>
              </a:ext>
            </a:extLst>
          </p:cNvPr>
          <p:cNvSpPr>
            <a:spLocks xmlns:a="http://schemas.openxmlformats.org/drawingml/2006/main" noGrp="1"/>
          </p:cNvSpPr>
          <p:nvPr/>
        </p:nvSpPr>
        <p:spPr>
          <a:xfrm xmlns:a="http://schemas.openxmlformats.org/drawingml/2006/main">
            <a:off x="4895850" y="1562100"/>
            <a:ext cx="2190750" cy="476250"/>
          </a:xfrm>
          <a:prstGeom xmlns:a="http://schemas.openxmlformats.org/drawingml/2006/main" prst="rect">
            <a:avLst/>
          </a:prstGeom>
          <a:solidFill xmlns:a="http://schemas.openxmlformats.org/drawingml/2006/main">
            <a:srgbClr val="FFFFFF"/>
          </a:solidFill>
          <a:ln xmlns:a="http://schemas.openxmlformats.org/drawingml/2006/main" w="19050">
            <a:solidFill>
              <a:srgbClr val="236FE8"/>
            </a:solidFill>
          </a:ln>
        </p:spPr>
      </p:sp>
      <p:sp>
        <p:nvSpPr>
          <p:cNvPr id="10" name="Rectangle 9">
            <a:extLst xmlns:a="http://schemas.openxmlformats.org/drawingml/2006/main">
              <a:ext uri="{FF2B5EF4-FFF2-40B4-BE49-F238E27FC236}">
                <a16:creationId xmlns:a16="http://schemas.microsoft.com/office/drawing/2014/main" id="{5249A4C6-A360-4722-859F-B8B1D2922856}"/>
              </a:ext>
            </a:extLst>
          </p:cNvPr>
          <p:cNvSpPr>
            <a:spLocks xmlns:a="http://schemas.openxmlformats.org/drawingml/2006/main" noGrp="1"/>
          </p:cNvSpPr>
          <p:nvPr/>
        </p:nvSpPr>
        <p:spPr>
          <a:xfrm xmlns:a="http://schemas.openxmlformats.org/drawingml/2006/main">
            <a:off x="4972050" y="1647825"/>
            <a:ext cx="2038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236FE8"/>
                </a:solidFill>
                <a:latin typeface="Aptos"/>
                <a:ea typeface="Aptos"/>
                <a:cs typeface="Aptos"/>
              </a:defRPr>
            </a:defPPr>
          </a:lstStyle>
          <a:p xmlns:a="http://schemas.openxmlformats.org/drawingml/2006/main">
            <a:pPr algn="ctr">
              <a:buNone/>
              <a:defRPr sz="1800" b="1">
                <a:solidFill>
                  <a:srgbClr val="236FE8"/>
                </a:solidFill>
                <a:latin typeface="Aptos"/>
                <a:ea typeface="Aptos"/>
                <a:cs typeface="Aptos"/>
              </a:defRPr>
            </a:pPr>
            <a:r>
              <a:rPr sz="1800" b="1">
                <a:solidFill>
                  <a:srgbClr val="236FE8"/>
                </a:solidFill>
                <a:latin typeface="Aptos"/>
                <a:ea typeface="Aptos"/>
                <a:cs typeface="Aptos"/>
              </a:rPr>
              <a:t>Scout</a:t>
            </a:r>
          </a:p>
        </p:txBody>
      </p:sp>
      <p:sp>
        <p:nvSpPr>
          <p:cNvPr id="11" name="Straight Connector 10">
            <a:extLst xmlns:a="http://schemas.openxmlformats.org/drawingml/2006/main">
              <a:ext uri="{FF2B5EF4-FFF2-40B4-BE49-F238E27FC236}">
                <a16:creationId xmlns:a16="http://schemas.microsoft.com/office/drawing/2014/main" id="{6E63E141-BF53-4231-8DC7-36CA3AA8C6B7}"/>
              </a:ext>
            </a:extLst>
          </p:cNvPr>
          <p:cNvSpPr>
            <a:spLocks xmlns:a="http://schemas.openxmlformats.org/drawingml/2006/main" noGrp="1"/>
          </p:cNvSpPr>
          <p:nvPr/>
        </p:nvSpPr>
        <p:spPr>
          <a:xfrm xmlns:a="http://schemas.openxmlformats.org/drawingml/2006/main">
            <a:off x="2000250" y="2047875"/>
            <a:ext cx="0" cy="2857500"/>
          </a:xfrm>
          <a:prstGeom xmlns:a="http://schemas.openxmlformats.org/drawingml/2006/main" prst="line">
            <a:avLst/>
          </a:prstGeom>
          <a:ln xmlns:a="http://schemas.openxmlformats.org/drawingml/2006/main" w="19050">
            <a:solidFill>
              <a:srgbClr val="D7DEE8"/>
            </a:solidFill>
            <a:prstDash val="solid"/>
          </a:ln>
        </p:spPr>
      </p:sp>
      <p:sp>
        <p:nvSpPr>
          <p:cNvPr id="12" name="Straight Connector 11">
            <a:extLst xmlns:a="http://schemas.openxmlformats.org/drawingml/2006/main">
              <a:ext uri="{FF2B5EF4-FFF2-40B4-BE49-F238E27FC236}">
                <a16:creationId xmlns:a16="http://schemas.microsoft.com/office/drawing/2014/main" id="{ADDB5C54-CC19-4AAD-BE49-F3ADDA718760}"/>
              </a:ext>
            </a:extLst>
          </p:cNvPr>
          <p:cNvSpPr>
            <a:spLocks xmlns:a="http://schemas.openxmlformats.org/drawingml/2006/main" noGrp="1"/>
          </p:cNvSpPr>
          <p:nvPr/>
        </p:nvSpPr>
        <p:spPr>
          <a:xfrm xmlns:a="http://schemas.openxmlformats.org/drawingml/2006/main">
            <a:off x="5991225" y="2047875"/>
            <a:ext cx="0" cy="2857500"/>
          </a:xfrm>
          <a:prstGeom xmlns:a="http://schemas.openxmlformats.org/drawingml/2006/main" prst="line">
            <a:avLst/>
          </a:prstGeom>
          <a:ln xmlns:a="http://schemas.openxmlformats.org/drawingml/2006/main" w="19050">
            <a:solidFill>
              <a:srgbClr val="D7DEE8"/>
            </a:solidFill>
            <a:prstDash val="solid"/>
          </a:ln>
        </p:spPr>
      </p:sp>
      <p:sp>
        <p:nvSpPr>
          <p:cNvPr id="13" name="Rectangle 12">
            <a:extLst xmlns:a="http://schemas.openxmlformats.org/drawingml/2006/main">
              <a:ext uri="{FF2B5EF4-FFF2-40B4-BE49-F238E27FC236}">
                <a16:creationId xmlns:a16="http://schemas.microsoft.com/office/drawing/2014/main" id="{546B2611-9D29-46A9-A41B-F31E87CD5934}"/>
              </a:ext>
            </a:extLst>
          </p:cNvPr>
          <p:cNvSpPr>
            <a:spLocks xmlns:a="http://schemas.openxmlformats.org/drawingml/2006/main" noGrp="1"/>
          </p:cNvSpPr>
          <p:nvPr/>
        </p:nvSpPr>
        <p:spPr>
          <a:xfrm xmlns:a="http://schemas.openxmlformats.org/drawingml/2006/main">
            <a:off x="723900" y="2266950"/>
            <a:ext cx="266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DF750E"/>
                </a:solidFill>
                <a:latin typeface="Aptos"/>
                <a:ea typeface="Aptos"/>
                <a:cs typeface="Aptos"/>
              </a:defRPr>
            </a:defPPr>
          </a:lstStyle>
          <a:p xmlns:a="http://schemas.openxmlformats.org/drawingml/2006/main">
            <a:pPr algn="l">
              <a:buNone/>
              <a:defRPr sz="1650" b="1">
                <a:solidFill>
                  <a:srgbClr val="DF750E"/>
                </a:solidFill>
                <a:latin typeface="Aptos"/>
                <a:ea typeface="Aptos"/>
                <a:cs typeface="Aptos"/>
              </a:defRPr>
            </a:pPr>
            <a:r>
              <a:rPr sz="1650" b="1">
                <a:solidFill>
                  <a:srgbClr val="DF750E"/>
                </a:solidFill>
                <a:latin typeface="Aptos"/>
                <a:ea typeface="Aptos"/>
                <a:cs typeface="Aptos"/>
              </a:rPr>
              <a:t>3 qualifying observations</a:t>
            </a:r>
          </a:p>
        </p:txBody>
      </p:sp>
      <p:sp>
        <p:nvSpPr>
          <p:cNvPr id="14" name="Rectangle 13">
            <a:extLst xmlns:a="http://schemas.openxmlformats.org/drawingml/2006/main">
              <a:ext uri="{FF2B5EF4-FFF2-40B4-BE49-F238E27FC236}">
                <a16:creationId xmlns:a16="http://schemas.microsoft.com/office/drawing/2014/main" id="{C01EA043-3AAF-4C55-93E6-DDBB1BBEDF8D}"/>
              </a:ext>
            </a:extLst>
          </p:cNvPr>
          <p:cNvSpPr>
            <a:spLocks xmlns:a="http://schemas.openxmlformats.org/drawingml/2006/main" noGrp="1"/>
          </p:cNvSpPr>
          <p:nvPr/>
        </p:nvSpPr>
        <p:spPr>
          <a:xfrm xmlns:a="http://schemas.openxmlformats.org/drawingml/2006/main">
            <a:off x="2619375" y="27622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1F3A"/>
                </a:solidFill>
                <a:latin typeface="Aptos"/>
                <a:ea typeface="Aptos"/>
                <a:cs typeface="Aptos"/>
              </a:defRPr>
            </a:defPPr>
          </a:lstStyle>
          <a:p xmlns:a="http://schemas.openxmlformats.org/drawingml/2006/main">
            <a:pPr algn="l">
              <a:buNone/>
              <a:defRPr sz="1800" b="1">
                <a:solidFill>
                  <a:srgbClr val="0B1F3A"/>
                </a:solidFill>
                <a:latin typeface="Aptos"/>
                <a:ea typeface="Aptos"/>
                <a:cs typeface="Aptos"/>
              </a:defRPr>
            </a:pPr>
            <a:r>
              <a:rPr sz="1800" b="1">
                <a:solidFill>
                  <a:srgbClr val="0B1F3A"/>
                </a:solidFill>
                <a:latin typeface="Aptos"/>
                <a:ea typeface="Aptos"/>
                <a:cs typeface="Aptos"/>
              </a:rPr>
              <a:t>HazardAlert + event_id</a:t>
            </a:r>
          </a:p>
        </p:txBody>
      </p:sp>
      <p:sp>
        <p:nvSpPr>
          <p:cNvPr id="15" name="Rectangle 14">
            <a:extLst xmlns:a="http://schemas.openxmlformats.org/drawingml/2006/main">
              <a:ext uri="{FF2B5EF4-FFF2-40B4-BE49-F238E27FC236}">
                <a16:creationId xmlns:a16="http://schemas.microsoft.com/office/drawing/2014/main" id="{257CBADF-BB6B-4392-83C3-F2CAE976EB27}"/>
              </a:ext>
            </a:extLst>
          </p:cNvPr>
          <p:cNvSpPr>
            <a:spLocks xmlns:a="http://schemas.openxmlformats.org/drawingml/2006/main" noGrp="1"/>
          </p:cNvSpPr>
          <p:nvPr/>
        </p:nvSpPr>
        <p:spPr>
          <a:xfrm xmlns:a="http://schemas.openxmlformats.org/drawingml/2006/main">
            <a:off x="2000250" y="3162300"/>
            <a:ext cx="9525" cy="9525"/>
          </a:xfrm>
          <a:prstGeom xmlns:a="http://schemas.openxmlformats.org/drawingml/2006/main" prst="rect">
            <a:avLst/>
          </a:prstGeom>
          <a:noFill xmlns:a="http://schemas.openxmlformats.org/drawingml/2006/main"/>
          <a:ln xmlns:a="http://schemas.openxmlformats.org/drawingml/2006/main" w="0">
            <a:noFill/>
          </a:ln>
        </p:spPr>
      </p:sp>
      <p:sp>
        <p:nvSpPr>
          <p:cNvPr id="16" name="Rectangle 15">
            <a:extLst xmlns:a="http://schemas.openxmlformats.org/drawingml/2006/main">
              <a:ext uri="{FF2B5EF4-FFF2-40B4-BE49-F238E27FC236}">
                <a16:creationId xmlns:a16="http://schemas.microsoft.com/office/drawing/2014/main" id="{7A5B1683-9584-451D-ADD5-4448EC524774}"/>
              </a:ext>
            </a:extLst>
          </p:cNvPr>
          <p:cNvSpPr>
            <a:spLocks xmlns:a="http://schemas.openxmlformats.org/drawingml/2006/main" noGrp="1"/>
          </p:cNvSpPr>
          <p:nvPr/>
        </p:nvSpPr>
        <p:spPr>
          <a:xfrm xmlns:a="http://schemas.openxmlformats.org/drawingml/2006/main">
            <a:off x="5991225" y="3162300"/>
            <a:ext cx="9525" cy="9525"/>
          </a:xfrm>
          <a:prstGeom xmlns:a="http://schemas.openxmlformats.org/drawingml/2006/main" prst="rect">
            <a:avLst/>
          </a:prstGeom>
          <a:noFill xmlns:a="http://schemas.openxmlformats.org/drawingml/2006/main"/>
          <a:ln xmlns:a="http://schemas.openxmlformats.org/drawingml/2006/main" w="0">
            <a:noFill/>
          </a:ln>
        </p:spPr>
      </p:sp>
      <p:sp>
        <p:nvSpPr>
          <p:cNvPr id="18" name="Rectangle 17">
            <a:extLst xmlns:a="http://schemas.openxmlformats.org/drawingml/2006/main">
              <a:ext uri="{FF2B5EF4-FFF2-40B4-BE49-F238E27FC236}">
                <a16:creationId xmlns:a16="http://schemas.microsoft.com/office/drawing/2014/main" id="{CEE175C2-FC30-4BE7-AAF3-03A44B4EE605}"/>
              </a:ext>
            </a:extLst>
          </p:cNvPr>
          <p:cNvSpPr>
            <a:spLocks xmlns:a="http://schemas.openxmlformats.org/drawingml/2006/main" noGrp="1"/>
          </p:cNvSpPr>
          <p:nvPr/>
        </p:nvSpPr>
        <p:spPr>
          <a:xfrm xmlns:a="http://schemas.openxmlformats.org/drawingml/2006/main">
            <a:off x="3752850" y="3381375"/>
            <a:ext cx="373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236FE8"/>
                </a:solidFill>
                <a:latin typeface="Aptos"/>
                <a:ea typeface="Aptos"/>
                <a:cs typeface="Aptos"/>
              </a:defRPr>
            </a:defPPr>
          </a:lstStyle>
          <a:p xmlns:a="http://schemas.openxmlformats.org/drawingml/2006/main">
            <a:pPr algn="ctr">
              <a:buNone/>
              <a:defRPr sz="1650" b="0">
                <a:solidFill>
                  <a:srgbClr val="236FE8"/>
                </a:solidFill>
                <a:latin typeface="Aptos"/>
                <a:ea typeface="Aptos"/>
                <a:cs typeface="Aptos"/>
              </a:defRPr>
            </a:pPr>
            <a:r>
              <a:rPr sz="1650" b="0">
                <a:solidFill>
                  <a:srgbClr val="236FE8"/>
                </a:solidFill>
                <a:latin typeface="Aptos"/>
                <a:ea typeface="Aptos"/>
                <a:cs typeface="Aptos"/>
              </a:rPr>
              <a:t>Fresh local frame</a:t>
            </a:r>
          </a:p>
          <a:p xmlns:a="http://schemas.openxmlformats.org/drawingml/2006/main">
            <a:pPr algn="ctr">
              <a:buNone/>
              <a:defRPr sz="1650" b="0">
                <a:solidFill>
                  <a:srgbClr val="236FE8"/>
                </a:solidFill>
                <a:latin typeface="Aptos"/>
                <a:ea typeface="Aptos"/>
                <a:cs typeface="Aptos"/>
              </a:defRPr>
            </a:pPr>
            <a:r>
              <a:rPr sz="1650" b="0">
                <a:solidFill>
                  <a:srgbClr val="236FE8"/>
                </a:solidFill>
                <a:latin typeface="Aptos"/>
                <a:ea typeface="Aptos"/>
                <a:cs typeface="Aptos"/>
              </a:rPr>
              <a:t>Independent full-frame inference</a:t>
            </a:r>
          </a:p>
        </p:txBody>
      </p:sp>
      <p:sp>
        <p:nvSpPr>
          <p:cNvPr id="19" name="Rectangle 18">
            <a:extLst xmlns:a="http://schemas.openxmlformats.org/drawingml/2006/main">
              <a:ext uri="{FF2B5EF4-FFF2-40B4-BE49-F238E27FC236}">
                <a16:creationId xmlns:a16="http://schemas.microsoft.com/office/drawing/2014/main" id="{98F60518-61BC-4879-89D3-6C4CC2B89134}"/>
              </a:ext>
            </a:extLst>
          </p:cNvPr>
          <p:cNvSpPr>
            <a:spLocks xmlns:a="http://schemas.openxmlformats.org/drawingml/2006/main" noGrp="1"/>
          </p:cNvSpPr>
          <p:nvPr/>
        </p:nvSpPr>
        <p:spPr>
          <a:xfrm xmlns:a="http://schemas.openxmlformats.org/drawingml/2006/main">
            <a:off x="2343150" y="4171950"/>
            <a:ext cx="442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1F3A"/>
                </a:solidFill>
                <a:latin typeface="Aptos"/>
                <a:ea typeface="Aptos"/>
                <a:cs typeface="Aptos"/>
              </a:defRPr>
            </a:defPPr>
          </a:lstStyle>
          <a:p xmlns:a="http://schemas.openxmlformats.org/drawingml/2006/main">
            <a:pPr algn="l">
              <a:buNone/>
              <a:defRPr sz="1800" b="1">
                <a:solidFill>
                  <a:srgbClr val="0B1F3A"/>
                </a:solidFill>
                <a:latin typeface="Aptos"/>
                <a:ea typeface="Aptos"/>
                <a:cs typeface="Aptos"/>
              </a:defRPr>
            </a:pPr>
            <a:r>
              <a:rPr sz="1800" b="1">
                <a:solidFill>
                  <a:srgbClr val="0B1F3A"/>
                </a:solidFill>
                <a:latin typeface="Aptos"/>
                <a:ea typeface="Aptos"/>
                <a:cs typeface="Aptos"/>
              </a:rPr>
              <a:t>HazardVerdict + same event_id</a:t>
            </a:r>
          </a:p>
        </p:txBody>
      </p:sp>
      <p:sp>
        <p:nvSpPr>
          <p:cNvPr id="20" name="Rectangle 19">
            <a:extLst xmlns:a="http://schemas.openxmlformats.org/drawingml/2006/main">
              <a:ext uri="{FF2B5EF4-FFF2-40B4-BE49-F238E27FC236}">
                <a16:creationId xmlns:a16="http://schemas.microsoft.com/office/drawing/2014/main" id="{A873FD46-3D08-4A71-B93F-F23DB431974D}"/>
              </a:ext>
            </a:extLst>
          </p:cNvPr>
          <p:cNvSpPr>
            <a:spLocks xmlns:a="http://schemas.openxmlformats.org/drawingml/2006/main" noGrp="1"/>
          </p:cNvSpPr>
          <p:nvPr/>
        </p:nvSpPr>
        <p:spPr>
          <a:xfrm xmlns:a="http://schemas.openxmlformats.org/drawingml/2006/main">
            <a:off x="5991225" y="4591050"/>
            <a:ext cx="9525" cy="9525"/>
          </a:xfrm>
          <a:prstGeom xmlns:a="http://schemas.openxmlformats.org/drawingml/2006/main" prst="rect">
            <a:avLst/>
          </a:prstGeom>
          <a:noFill xmlns:a="http://schemas.openxmlformats.org/drawingml/2006/main"/>
          <a:ln xmlns:a="http://schemas.openxmlformats.org/drawingml/2006/main" w="0">
            <a:noFill/>
          </a:ln>
        </p:spPr>
      </p:sp>
      <p:sp>
        <p:nvSpPr>
          <p:cNvPr id="21" name="Rectangle 20">
            <a:extLst xmlns:a="http://schemas.openxmlformats.org/drawingml/2006/main">
              <a:ext uri="{FF2B5EF4-FFF2-40B4-BE49-F238E27FC236}">
                <a16:creationId xmlns:a16="http://schemas.microsoft.com/office/drawing/2014/main" id="{EBE7269A-200B-41AA-9128-4163118E7B9A}"/>
              </a:ext>
            </a:extLst>
          </p:cNvPr>
          <p:cNvSpPr>
            <a:spLocks xmlns:a="http://schemas.openxmlformats.org/drawingml/2006/main" noGrp="1"/>
          </p:cNvSpPr>
          <p:nvPr/>
        </p:nvSpPr>
        <p:spPr>
          <a:xfrm xmlns:a="http://schemas.openxmlformats.org/drawingml/2006/main">
            <a:off x="2000250" y="4591050"/>
            <a:ext cx="9525" cy="9525"/>
          </a:xfrm>
          <a:prstGeom xmlns:a="http://schemas.openxmlformats.org/drawingml/2006/main" prst="rect">
            <a:avLst/>
          </a:prstGeom>
          <a:noFill xmlns:a="http://schemas.openxmlformats.org/drawingml/2006/main"/>
          <a:ln xmlns:a="http://schemas.openxmlformats.org/drawingml/2006/main" w="0">
            <a:noFill/>
          </a:ln>
        </p:spPr>
      </p:sp>
      <p:sp>
        <p:nvSpPr>
          <p:cNvPr id="23" name="Rectangle 22">
            <a:extLst xmlns:a="http://schemas.openxmlformats.org/drawingml/2006/main">
              <a:ext uri="{FF2B5EF4-FFF2-40B4-BE49-F238E27FC236}">
                <a16:creationId xmlns:a16="http://schemas.microsoft.com/office/drawing/2014/main" id="{4DDC9142-8313-45AB-9A50-88FC23001F9F}"/>
              </a:ext>
            </a:extLst>
          </p:cNvPr>
          <p:cNvSpPr>
            <a:spLocks xmlns:a="http://schemas.openxmlformats.org/drawingml/2006/main" noGrp="1"/>
          </p:cNvSpPr>
          <p:nvPr/>
        </p:nvSpPr>
        <p:spPr>
          <a:xfrm xmlns:a="http://schemas.openxmlformats.org/drawingml/2006/main">
            <a:off x="723900" y="5029200"/>
            <a:ext cx="676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1F3A"/>
                </a:solidFill>
                <a:latin typeface="Aptos"/>
                <a:ea typeface="Aptos"/>
                <a:cs typeface="Aptos"/>
              </a:defRPr>
            </a:defPPr>
          </a:lstStyle>
          <a:p xmlns:a="http://schemas.openxmlformats.org/drawingml/2006/main">
            <a:pPr algn="l">
              <a:buNone/>
              <a:defRPr sz="1725" b="1">
                <a:solidFill>
                  <a:srgbClr val="0B1F3A"/>
                </a:solidFill>
                <a:latin typeface="Aptos"/>
                <a:ea typeface="Aptos"/>
                <a:cs typeface="Aptos"/>
              </a:defRPr>
            </a:pPr>
            <a:r>
              <a:rPr sz="1725" b="1">
                <a:solidFill>
                  <a:srgbClr val="0B1F3A"/>
                </a:solidFill>
                <a:latin typeface="Aptos"/>
                <a:ea typeface="Aptos"/>
                <a:cs typeface="Aptos"/>
              </a:rPr>
              <a:t>HazardDecision</a:t>
            </a:r>
          </a:p>
          <a:p xmlns:a="http://schemas.openxmlformats.org/drawingml/2006/main">
            <a:pPr algn="l">
              <a:buNone/>
              <a:defRPr sz="1725" b="1">
                <a:solidFill>
                  <a:srgbClr val="0B1F3A"/>
                </a:solidFill>
                <a:latin typeface="Aptos"/>
                <a:ea typeface="Aptos"/>
                <a:cs typeface="Aptos"/>
              </a:defRPr>
            </a:pPr>
            <a:r>
              <a:rPr sz="1725" b="1">
                <a:solidFill>
                  <a:srgbClr val="0B1F3A"/>
                </a:solidFill>
                <a:latin typeface="Aptos"/>
                <a:ea typeface="Aptos"/>
                <a:cs typeface="Aptos"/>
              </a:rPr>
              <a:t>CONFIRMED / REJECTED / ERROR / TIMEOUT</a:t>
            </a:r>
          </a:p>
        </p:txBody>
      </p:sp>
      <p:sp>
        <p:nvSpPr>
          <p:cNvPr id="24" name="Rectangle 23">
            <a:extLst xmlns:a="http://schemas.openxmlformats.org/drawingml/2006/main">
              <a:ext uri="{FF2B5EF4-FFF2-40B4-BE49-F238E27FC236}">
                <a16:creationId xmlns:a16="http://schemas.microsoft.com/office/drawing/2014/main" id="{98FBC014-E239-4686-AD2B-68092D471992}"/>
              </a:ext>
            </a:extLst>
          </p:cNvPr>
          <p:cNvSpPr>
            <a:spLocks xmlns:a="http://schemas.openxmlformats.org/drawingml/2006/main" noGrp="1"/>
          </p:cNvSpPr>
          <p:nvPr/>
        </p:nvSpPr>
        <p:spPr>
          <a:xfrm xmlns:a="http://schemas.openxmlformats.org/drawingml/2006/main">
            <a:off x="609600" y="60864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174"/>
                </a:solidFill>
                <a:latin typeface="Aptos"/>
                <a:ea typeface="Aptos"/>
                <a:cs typeface="Aptos"/>
              </a:defRPr>
            </a:defPPr>
          </a:lstStyle>
          <a:p xmlns:a="http://schemas.openxmlformats.org/drawingml/2006/main">
            <a:pPr algn="l">
              <a:buNone/>
              <a:defRPr sz="1500" b="0">
                <a:solidFill>
                  <a:srgbClr val="526174"/>
                </a:solidFill>
                <a:latin typeface="Aptos"/>
                <a:ea typeface="Aptos"/>
                <a:cs typeface="Aptos"/>
              </a:defRPr>
            </a:pPr>
            <a:r>
              <a:rPr sz="1500" b="0">
                <a:solidFill>
                  <a:srgbClr val="526174"/>
                </a:solidFill>
                <a:latin typeface="Aptos"/>
                <a:ea typeface="Aptos"/>
                <a:cs typeface="Aptos"/>
              </a:rPr>
              <a:t>No ground-station inference. Image-space alerts carry no geographic coordinates.</a:t>
            </a:r>
          </a:p>
        </p:txBody>
      </p:sp>
      <p:sp>
        <p:nvSpPr>
          <p:cNvPr id="25" name="Rectangle 24">
            <a:extLst xmlns:a="http://schemas.openxmlformats.org/drawingml/2006/main">
              <a:ext uri="{FF2B5EF4-FFF2-40B4-BE49-F238E27FC236}">
                <a16:creationId xmlns:a16="http://schemas.microsoft.com/office/drawing/2014/main" id="{B311FE20-5E41-467D-89B7-B3CBB1EC2289}"/>
              </a:ext>
            </a:extLst>
          </p:cNvPr>
          <p:cNvSpPr>
            <a:spLocks xmlns:a="http://schemas.openxmlformats.org/drawingml/2006/main" noGrp="1"/>
          </p:cNvSpPr>
          <p:nvPr/>
        </p:nvSpPr>
        <p:spPr>
          <a:xfrm xmlns:a="http://schemas.openxmlformats.org/drawingml/2006/main">
            <a:off x="8191500" y="16002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67A5B"/>
                </a:solidFill>
                <a:latin typeface="Aptos"/>
                <a:ea typeface="Aptos"/>
                <a:cs typeface="Aptos"/>
              </a:defRPr>
            </a:defPPr>
          </a:lstStyle>
          <a:p xmlns:a="http://schemas.openxmlformats.org/drawingml/2006/main">
            <a:pPr algn="l">
              <a:buNone/>
              <a:defRPr sz="3675" b="1">
                <a:solidFill>
                  <a:srgbClr val="167A5B"/>
                </a:solidFill>
                <a:latin typeface="Aptos"/>
                <a:ea typeface="Aptos"/>
                <a:cs typeface="Aptos"/>
              </a:defRPr>
            </a:pPr>
            <a:r>
              <a:rPr sz="3675" b="1">
                <a:solidFill>
                  <a:srgbClr val="167A5B"/>
                </a:solidFill>
                <a:latin typeface="Aptos"/>
                <a:ea typeface="Aptos"/>
                <a:cs typeface="Aptos"/>
              </a:rPr>
              <a:t>10 / 10</a:t>
            </a:r>
          </a:p>
        </p:txBody>
      </p:sp>
      <p:sp>
        <p:nvSpPr>
          <p:cNvPr id="26" name="Rectangle 25">
            <a:extLst xmlns:a="http://schemas.openxmlformats.org/drawingml/2006/main">
              <a:ext uri="{FF2B5EF4-FFF2-40B4-BE49-F238E27FC236}">
                <a16:creationId xmlns:a16="http://schemas.microsoft.com/office/drawing/2014/main" id="{4CE50EAC-C105-4360-ABD5-462FF55EFD01}"/>
              </a:ext>
            </a:extLst>
          </p:cNvPr>
          <p:cNvSpPr>
            <a:spLocks xmlns:a="http://schemas.openxmlformats.org/drawingml/2006/main" noGrp="1"/>
          </p:cNvSpPr>
          <p:nvPr/>
        </p:nvSpPr>
        <p:spPr>
          <a:xfrm xmlns:a="http://schemas.openxmlformats.org/drawingml/2006/main">
            <a:off x="8191500" y="22383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174"/>
                </a:solidFill>
                <a:latin typeface="Aptos"/>
                <a:ea typeface="Aptos"/>
                <a:cs typeface="Aptos"/>
              </a:defRPr>
            </a:defPPr>
          </a:lstStyle>
          <a:p xmlns:a="http://schemas.openxmlformats.org/drawingml/2006/main">
            <a:pPr algn="l">
              <a:buNone/>
              <a:defRPr sz="1800" b="0">
                <a:solidFill>
                  <a:srgbClr val="526174"/>
                </a:solidFill>
                <a:latin typeface="Aptos"/>
                <a:ea typeface="Aptos"/>
                <a:cs typeface="Aptos"/>
              </a:defRPr>
            </a:pPr>
            <a:r>
              <a:rPr sz="1800" b="0">
                <a:solidFill>
                  <a:srgbClr val="526174"/>
                </a:solidFill>
                <a:latin typeface="Aptos"/>
                <a:ea typeface="Aptos"/>
                <a:cs typeface="Aptos"/>
              </a:rPr>
              <a:t>Post-timeout verdicts rejected</a:t>
            </a:r>
          </a:p>
        </p:txBody>
      </p:sp>
      <p:sp>
        <p:nvSpPr>
          <p:cNvPr id="27" name="Rectangle 26">
            <a:extLst xmlns:a="http://schemas.openxmlformats.org/drawingml/2006/main">
              <a:ext uri="{FF2B5EF4-FFF2-40B4-BE49-F238E27FC236}">
                <a16:creationId xmlns:a16="http://schemas.microsoft.com/office/drawing/2014/main" id="{557B07B1-9866-43FC-B928-987CCFBF6759}"/>
              </a:ext>
            </a:extLst>
          </p:cNvPr>
          <p:cNvSpPr>
            <a:spLocks xmlns:a="http://schemas.openxmlformats.org/drawingml/2006/main" noGrp="1"/>
          </p:cNvSpPr>
          <p:nvPr/>
        </p:nvSpPr>
        <p:spPr>
          <a:xfrm xmlns:a="http://schemas.openxmlformats.org/drawingml/2006/main">
            <a:off x="8191500" y="30861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67A5B"/>
                </a:solidFill>
                <a:latin typeface="Aptos"/>
                <a:ea typeface="Aptos"/>
                <a:cs typeface="Aptos"/>
              </a:defRPr>
            </a:defPPr>
          </a:lstStyle>
          <a:p xmlns:a="http://schemas.openxmlformats.org/drawingml/2006/main">
            <a:pPr algn="l">
              <a:buNone/>
              <a:defRPr sz="3675" b="1">
                <a:solidFill>
                  <a:srgbClr val="167A5B"/>
                </a:solidFill>
                <a:latin typeface="Aptos"/>
                <a:ea typeface="Aptos"/>
                <a:cs typeface="Aptos"/>
              </a:defRPr>
            </a:pPr>
            <a:r>
              <a:rPr sz="3675" b="1">
                <a:solidFill>
                  <a:srgbClr val="167A5B"/>
                </a:solidFill>
                <a:latin typeface="Aptos"/>
                <a:ea typeface="Aptos"/>
                <a:cs typeface="Aptos"/>
              </a:rPr>
              <a:t>0</a:t>
            </a:r>
          </a:p>
        </p:txBody>
      </p:sp>
      <p:sp>
        <p:nvSpPr>
          <p:cNvPr id="28" name="Rectangle 27">
            <a:extLst xmlns:a="http://schemas.openxmlformats.org/drawingml/2006/main">
              <a:ext uri="{FF2B5EF4-FFF2-40B4-BE49-F238E27FC236}">
                <a16:creationId xmlns:a16="http://schemas.microsoft.com/office/drawing/2014/main" id="{20E496BA-A2BE-407F-BC98-84FB87DCE338}"/>
              </a:ext>
            </a:extLst>
          </p:cNvPr>
          <p:cNvSpPr>
            <a:spLocks xmlns:a="http://schemas.openxmlformats.org/drawingml/2006/main" noGrp="1"/>
          </p:cNvSpPr>
          <p:nvPr/>
        </p:nvSpPr>
        <p:spPr>
          <a:xfrm xmlns:a="http://schemas.openxmlformats.org/drawingml/2006/main">
            <a:off x="8191500" y="37242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174"/>
                </a:solidFill>
                <a:latin typeface="Aptos"/>
                <a:ea typeface="Aptos"/>
                <a:cs typeface="Aptos"/>
              </a:defRPr>
            </a:defPPr>
          </a:lstStyle>
          <a:p xmlns:a="http://schemas.openxmlformats.org/drawingml/2006/main">
            <a:pPr algn="l">
              <a:buNone/>
              <a:defRPr sz="1800" b="0">
                <a:solidFill>
                  <a:srgbClr val="526174"/>
                </a:solidFill>
                <a:latin typeface="Aptos"/>
                <a:ea typeface="Aptos"/>
                <a:cs typeface="Aptos"/>
              </a:defRPr>
            </a:pPr>
            <a:r>
              <a:rPr sz="1800" b="0">
                <a:solidFill>
                  <a:srgbClr val="526174"/>
                </a:solidFill>
                <a:latin typeface="Aptos"/>
                <a:ea typeface="Aptos"/>
                <a:cs typeface="Aptos"/>
              </a:rPr>
              <a:t>Additional final decisions</a:t>
            </a:r>
          </a:p>
        </p:txBody>
      </p:sp>
      <p:sp>
        <p:nvSpPr>
          <p:cNvPr id="29" name="Rectangle 28">
            <a:extLst xmlns:a="http://schemas.openxmlformats.org/drawingml/2006/main">
              <a:ext uri="{FF2B5EF4-FFF2-40B4-BE49-F238E27FC236}">
                <a16:creationId xmlns:a16="http://schemas.microsoft.com/office/drawing/2014/main" id="{49E2F79B-D3FE-4F2D-88E4-D4A62663AD43}"/>
              </a:ext>
            </a:extLst>
          </p:cNvPr>
          <p:cNvSpPr>
            <a:spLocks xmlns:a="http://schemas.openxmlformats.org/drawingml/2006/main" noGrp="1"/>
          </p:cNvSpPr>
          <p:nvPr/>
        </p:nvSpPr>
        <p:spPr>
          <a:xfrm xmlns:a="http://schemas.openxmlformats.org/drawingml/2006/main">
            <a:off x="8191500" y="45910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67A5B"/>
                </a:solidFill>
                <a:latin typeface="Aptos"/>
                <a:ea typeface="Aptos"/>
                <a:cs typeface="Aptos"/>
              </a:defRPr>
            </a:defPPr>
          </a:lstStyle>
          <a:p xmlns:a="http://schemas.openxmlformats.org/drawingml/2006/main">
            <a:pPr algn="l">
              <a:buNone/>
              <a:defRPr sz="3675" b="1">
                <a:solidFill>
                  <a:srgbClr val="167A5B"/>
                </a:solidFill>
                <a:latin typeface="Aptos"/>
                <a:ea typeface="Aptos"/>
                <a:cs typeface="Aptos"/>
              </a:defRPr>
            </a:pPr>
            <a:r>
              <a:rPr sz="3675" b="1">
                <a:solidFill>
                  <a:srgbClr val="167A5B"/>
                </a:solidFill>
                <a:latin typeface="Aptos"/>
                <a:ea typeface="Aptos"/>
                <a:cs typeface="Aptos"/>
              </a:rPr>
              <a:t>5 / 5</a:t>
            </a:r>
          </a:p>
        </p:txBody>
      </p:sp>
      <p:sp>
        <p:nvSpPr>
          <p:cNvPr id="30" name="Rectangle 29">
            <a:extLst xmlns:a="http://schemas.openxmlformats.org/drawingml/2006/main">
              <a:ext uri="{FF2B5EF4-FFF2-40B4-BE49-F238E27FC236}">
                <a16:creationId xmlns:a16="http://schemas.microsoft.com/office/drawing/2014/main" id="{BD19C360-7B73-4416-BF77-80EF7E870437}"/>
              </a:ext>
            </a:extLst>
          </p:cNvPr>
          <p:cNvSpPr>
            <a:spLocks xmlns:a="http://schemas.openxmlformats.org/drawingml/2006/main" noGrp="1"/>
          </p:cNvSpPr>
          <p:nvPr/>
        </p:nvSpPr>
        <p:spPr>
          <a:xfrm xmlns:a="http://schemas.openxmlformats.org/drawingml/2006/main">
            <a:off x="8191500" y="5229225"/>
            <a:ext cx="333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174"/>
                </a:solidFill>
                <a:latin typeface="Aptos"/>
                <a:ea typeface="Aptos"/>
                <a:cs typeface="Aptos"/>
              </a:defRPr>
            </a:defPPr>
          </a:lstStyle>
          <a:p xmlns:a="http://schemas.openxmlformats.org/drawingml/2006/main">
            <a:pPr algn="l">
              <a:buNone/>
              <a:defRPr sz="1800" b="0">
                <a:solidFill>
                  <a:srgbClr val="526174"/>
                </a:solidFill>
                <a:latin typeface="Aptos"/>
                <a:ea typeface="Aptos"/>
                <a:cs typeface="Aptos"/>
              </a:defRPr>
            </a:pPr>
            <a:r>
              <a:rPr sz="1800" b="0">
                <a:solidFill>
                  <a:srgbClr val="526174"/>
                </a:solidFill>
                <a:latin typeface="Aptos"/>
                <a:ea typeface="Aptos"/>
                <a:cs typeface="Aptos"/>
              </a:rPr>
              <a:t>Unavailable-Scout events</a:t>
            </a:r>
          </a:p>
          <a:p xmlns:a="http://schemas.openxmlformats.org/drawingml/2006/main">
            <a:pPr algn="l">
              <a:buNone/>
              <a:defRPr sz="1800" b="0">
                <a:solidFill>
                  <a:srgbClr val="526174"/>
                </a:solidFill>
                <a:latin typeface="Aptos"/>
                <a:ea typeface="Aptos"/>
                <a:cs typeface="Aptos"/>
              </a:defRPr>
            </a:pPr>
            <a:r>
              <a:rPr sz="1800" b="0">
                <a:solidFill>
                  <a:srgbClr val="526174"/>
                </a:solidFill>
                <a:latin typeface="Aptos"/>
                <a:ea typeface="Aptos"/>
                <a:cs typeface="Aptos"/>
              </a:rPr>
              <a:t>finalized as TIMEOUT</a:t>
            </a:r>
          </a:p>
        </p:txBody>
      </p:sp>
    </p:spTree>
    <p:extLst>
      <p:ext uri="{BB962C8B-B14F-4D97-AF65-F5344CB8AC3E}">
        <p14:creationId xmlns:p14="http://schemas.microsoft.com/office/powerpoint/2010/main" val="106407077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traight Connector 14">
            <a:extLst xmlns:a="http://schemas.openxmlformats.org/drawingml/2006/main">
              <a:ext uri="{FF2B5EF4-FFF2-40B4-BE49-F238E27FC236}">
                <a16:creationId xmlns:a16="http://schemas.microsoft.com/office/drawing/2014/main" id="{E0122E19-3938-4655-AE24-1779E1171ACD}"/>
              </a:ext>
            </a:extLst>
          </p:cNvPr>
          <p:cNvSpPr>
            <a:spLocks xmlns:a="http://schemas.openxmlformats.org/drawingml/2006/main" noGrp="1"/>
          </p:cNvSpPr>
          <p:nvPr/>
        </p:nvSpPr>
        <p:spPr>
          <a:xfrm xmlns:a="http://schemas.openxmlformats.org/drawingml/2006/main">
            <a:off x="0" y="47625"/>
            <a:ext cx="12192000" cy="0"/>
          </a:xfrm>
          <a:prstGeom xmlns:a="http://schemas.openxmlformats.org/drawingml/2006/main" prst="line">
            <a:avLst/>
          </a:prstGeom>
          <a:ln xmlns:a="http://schemas.openxmlformats.org/drawingml/2006/main" w="95250">
            <a:solidFill>
              <a:srgbClr val="0B1F3A"/>
            </a:solidFill>
            <a:prstDash val="solid"/>
          </a:ln>
        </p:spPr>
      </p:sp>
      <p:sp>
        <p:nvSpPr>
          <p:cNvPr id="2" name="Rectangle 1">
            <a:extLst xmlns:a="http://schemas.openxmlformats.org/drawingml/2006/main">
              <a:ext uri="{FF2B5EF4-FFF2-40B4-BE49-F238E27FC236}">
                <a16:creationId xmlns:a16="http://schemas.microsoft.com/office/drawing/2014/main" id="{0A321E9B-1B4A-4E7B-9F48-FC29378C7B2A}"/>
              </a:ext>
            </a:extLst>
          </p:cNvPr>
          <p:cNvSpPr>
            <a:spLocks xmlns:a="http://schemas.openxmlformats.org/drawingml/2006/main" noGrp="1"/>
          </p:cNvSpPr>
          <p:nvPr/>
        </p:nvSpPr>
        <p:spPr>
          <a:xfrm xmlns:a="http://schemas.openxmlformats.org/drawingml/2006/main">
            <a:off x="609600" y="2952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B1F3A"/>
                </a:solidFill>
                <a:latin typeface="Aptos"/>
                <a:ea typeface="Aptos"/>
                <a:cs typeface="Aptos"/>
              </a:defRPr>
            </a:defPPr>
          </a:lstStyle>
          <a:p xmlns:a="http://schemas.openxmlformats.org/drawingml/2006/main">
            <a:pPr algn="l">
              <a:buNone/>
              <a:defRPr sz="3000" b="1">
                <a:solidFill>
                  <a:srgbClr val="0B1F3A"/>
                </a:solidFill>
                <a:latin typeface="Aptos"/>
                <a:ea typeface="Aptos"/>
                <a:cs typeface="Aptos"/>
              </a:defRPr>
            </a:pPr>
            <a:r>
              <a:rPr sz="3000" b="1">
                <a:solidFill>
                  <a:srgbClr val="0B1F3A"/>
                </a:solidFill>
                <a:latin typeface="Aptos"/>
                <a:ea typeface="Aptos"/>
                <a:cs typeface="Aptos"/>
              </a:rPr>
              <a:t>Six-model evaluation on frozen data</a:t>
            </a:r>
          </a:p>
        </p:txBody>
      </p:sp>
      <p:sp>
        <p:nvSpPr>
          <p:cNvPr id="3" name="Rectangle 2">
            <a:extLst xmlns:a="http://schemas.openxmlformats.org/drawingml/2006/main">
              <a:ext uri="{FF2B5EF4-FFF2-40B4-BE49-F238E27FC236}">
                <a16:creationId xmlns:a16="http://schemas.microsoft.com/office/drawing/2014/main" id="{0B006219-2B10-4BD8-92CB-3856F23EAD79}"/>
              </a:ext>
            </a:extLst>
          </p:cNvPr>
          <p:cNvSpPr>
            <a:spLocks xmlns:a="http://schemas.openxmlformats.org/drawingml/2006/main" noGrp="1"/>
          </p:cNvSpPr>
          <p:nvPr/>
        </p:nvSpPr>
        <p:spPr>
          <a:xfrm xmlns:a="http://schemas.openxmlformats.org/drawingml/2006/main">
            <a:off x="609600" y="8667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174"/>
                </a:solidFill>
                <a:latin typeface="Aptos"/>
                <a:ea typeface="Aptos"/>
                <a:cs typeface="Aptos"/>
              </a:defRPr>
            </a:defPPr>
          </a:lstStyle>
          <a:p xmlns:a="http://schemas.openxmlformats.org/drawingml/2006/main">
            <a:pPr algn="l">
              <a:buNone/>
              <a:defRPr sz="1500" b="0">
                <a:solidFill>
                  <a:srgbClr val="526174"/>
                </a:solidFill>
                <a:latin typeface="Aptos"/>
                <a:ea typeface="Aptos"/>
                <a:cs typeface="Aptos"/>
              </a:defRPr>
            </a:pPr>
            <a:r>
              <a:rPr sz="1500" b="0">
                <a:solidFill>
                  <a:srgbClr val="526174"/>
                </a:solidFill>
                <a:latin typeface="Aptos"/>
                <a:ea typeface="Aptos"/>
                <a:cs typeface="Aptos"/>
              </a:rPr>
              <a:t>AP50-95 on validation and the one-time held-out test set</a:t>
            </a:r>
          </a:p>
        </p:txBody>
      </p:sp>
      <p:sp>
        <p:nvSpPr>
          <p:cNvPr id="4" name="Straight Connector 3">
            <a:extLst xmlns:a="http://schemas.openxmlformats.org/drawingml/2006/main">
              <a:ext uri="{FF2B5EF4-FFF2-40B4-BE49-F238E27FC236}">
                <a16:creationId xmlns:a16="http://schemas.microsoft.com/office/drawing/2014/main" id="{9E92A9EE-4FD2-4F5D-8105-BDC718BC7FF5}"/>
              </a:ext>
            </a:extLst>
          </p:cNvPr>
          <p:cNvSpPr>
            <a:spLocks xmlns:a="http://schemas.openxmlformats.org/drawingml/2006/main" noGrp="1"/>
          </p:cNvSpPr>
          <p:nvPr/>
        </p:nvSpPr>
        <p:spPr>
          <a:xfrm xmlns:a="http://schemas.openxmlformats.org/drawingml/2006/main">
            <a:off x="609600" y="1266825"/>
            <a:ext cx="10972800" cy="0"/>
          </a:xfrm>
          <a:prstGeom xmlns:a="http://schemas.openxmlformats.org/drawingml/2006/main" prst="line">
            <a:avLst/>
          </a:prstGeom>
          <a:ln xmlns:a="http://schemas.openxmlformats.org/drawingml/2006/main" w="9525">
            <a:solidFill>
              <a:srgbClr val="D7DEE8"/>
            </a:solidFill>
            <a:prstDash val="solid"/>
          </a:ln>
        </p:spPr>
      </p:sp>
      <p:sp>
        <p:nvSpPr>
          <p:cNvPr id="6" name="Rectangle 5">
            <a:extLst xmlns:a="http://schemas.openxmlformats.org/drawingml/2006/main">
              <a:ext uri="{FF2B5EF4-FFF2-40B4-BE49-F238E27FC236}">
                <a16:creationId xmlns:a16="http://schemas.microsoft.com/office/drawing/2014/main" id="{23728EA0-C96E-406E-B6AD-18E2761604CF}"/>
              </a:ext>
            </a:extLst>
          </p:cNvPr>
          <p:cNvSpPr>
            <a:spLocks xmlns:a="http://schemas.openxmlformats.org/drawingml/2006/main" noGrp="1"/>
          </p:cNvSpPr>
          <p:nvPr/>
        </p:nvSpPr>
        <p:spPr>
          <a:xfrm xmlns:a="http://schemas.openxmlformats.org/drawingml/2006/main">
            <a:off x="11144250" y="65436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526174"/>
                </a:solidFill>
                <a:latin typeface="Aptos"/>
                <a:ea typeface="Aptos"/>
                <a:cs typeface="Aptos"/>
              </a:defRPr>
            </a:defPPr>
          </a:lstStyle>
          <a:p xmlns:a="http://schemas.openxmlformats.org/drawingml/2006/main">
            <a:pPr algn="r">
              <a:buNone/>
              <a:defRPr sz="975" b="0">
                <a:solidFill>
                  <a:srgbClr val="526174"/>
                </a:solidFill>
                <a:latin typeface="Aptos"/>
                <a:ea typeface="Aptos"/>
                <a:cs typeface="Aptos"/>
              </a:defRPr>
            </a:pPr>
            <a:r>
              <a:rPr sz="975" b="0">
                <a:solidFill>
                  <a:srgbClr val="526174"/>
                </a:solidFill>
                <a:latin typeface="Aptos"/>
                <a:ea typeface="Aptos"/>
                <a:cs typeface="Aptos"/>
              </a:rPr>
              <a:t>4</a:t>
            </a:r>
          </a:p>
        </p:txBody>
      </p:sp>
      <p:graphicFrame>
        <p:nvGraphicFramePr>
          <p:cNvPr id="7" name="Chart">
            <a:extLst xmlns:a="http://schemas.openxmlformats.org/drawingml/2006/main">
              <a:ext uri="{FF2B5EF4-FFF2-40B4-BE49-F238E27FC236}">
                <a16:creationId xmlns:a16="http://schemas.microsoft.com/office/drawing/2014/main" id="{05E57069-6393-42C7-9660-E82CABC65F7E}"/>
              </a:ext>
            </a:extLst>
          </p:cNvPr>
          <p:cNvGraphicFramePr/>
          <p:nvPr/>
        </p:nvGraphicFramePr>
        <p:xfrm>
          <a:off xmlns:a="http://schemas.openxmlformats.org/drawingml/2006/main" x="609600" y="1495425"/>
          <a:ext xmlns:a="http://schemas.openxmlformats.org/drawingml/2006/main" cx="7429500" cy="4438650"/>
        </p:xfrm>
        <a:graphic xmlns:a="http://schemas.openxmlformats.org/drawingml/2006/main">
          <a:graphicData uri="http://schemas.openxmlformats.org/drawingml/2006/chart">
            <c:chart xmlns:r="http://schemas.openxmlformats.org/officeDocument/2006/relationships" xmlns:c="http://schemas.openxmlformats.org/drawingml/2006/chart" r:id="Ra8a41bb970c44484"/>
          </a:graphicData>
        </a:graphic>
      </p:graphicFrame>
      <p:sp>
        <p:nvSpPr>
          <p:cNvPr id="8" name="Rectangle 7">
            <a:extLst xmlns:a="http://schemas.openxmlformats.org/drawingml/2006/main">
              <a:ext uri="{FF2B5EF4-FFF2-40B4-BE49-F238E27FC236}">
                <a16:creationId xmlns:a16="http://schemas.microsoft.com/office/drawing/2014/main" id="{DAF10028-DF35-4A2D-BD72-97A7C53C5C4E}"/>
              </a:ext>
            </a:extLst>
          </p:cNvPr>
          <p:cNvSpPr>
            <a:spLocks xmlns:a="http://schemas.openxmlformats.org/drawingml/2006/main" noGrp="1"/>
          </p:cNvSpPr>
          <p:nvPr/>
        </p:nvSpPr>
        <p:spPr>
          <a:xfrm xmlns:a="http://schemas.openxmlformats.org/drawingml/2006/main">
            <a:off x="8410575" y="1638300"/>
            <a:ext cx="314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1F3A"/>
                </a:solidFill>
                <a:latin typeface="Aptos"/>
                <a:ea typeface="Aptos"/>
                <a:cs typeface="Aptos"/>
              </a:defRPr>
            </a:defPPr>
          </a:lstStyle>
          <a:p xmlns:a="http://schemas.openxmlformats.org/drawingml/2006/main">
            <a:pPr algn="l">
              <a:buNone/>
              <a:defRPr sz="2250" b="1">
                <a:solidFill>
                  <a:srgbClr val="0B1F3A"/>
                </a:solidFill>
                <a:latin typeface="Aptos"/>
                <a:ea typeface="Aptos"/>
                <a:cs typeface="Aptos"/>
              </a:defRPr>
            </a:pPr>
            <a:r>
              <a:rPr sz="2250" b="1">
                <a:solidFill>
                  <a:srgbClr val="0B1F3A"/>
                </a:solidFill>
                <a:latin typeface="Aptos"/>
                <a:ea typeface="Aptos"/>
                <a:cs typeface="Aptos"/>
              </a:rPr>
              <a:t>3,558 / 700 / 733</a:t>
            </a:r>
          </a:p>
        </p:txBody>
      </p:sp>
      <p:sp>
        <p:nvSpPr>
          <p:cNvPr id="9" name="Rectangle 8">
            <a:extLst xmlns:a="http://schemas.openxmlformats.org/drawingml/2006/main">
              <a:ext uri="{FF2B5EF4-FFF2-40B4-BE49-F238E27FC236}">
                <a16:creationId xmlns:a16="http://schemas.microsoft.com/office/drawing/2014/main" id="{3B09A9E0-77A6-4C2B-9C31-2BFE6F28D19B}"/>
              </a:ext>
            </a:extLst>
          </p:cNvPr>
          <p:cNvSpPr>
            <a:spLocks xmlns:a="http://schemas.openxmlformats.org/drawingml/2006/main" noGrp="1"/>
          </p:cNvSpPr>
          <p:nvPr/>
        </p:nvSpPr>
        <p:spPr>
          <a:xfrm xmlns:a="http://schemas.openxmlformats.org/drawingml/2006/main">
            <a:off x="8410575" y="2124075"/>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174"/>
                </a:solidFill>
                <a:latin typeface="Aptos"/>
                <a:ea typeface="Aptos"/>
                <a:cs typeface="Aptos"/>
              </a:defRPr>
            </a:defPPr>
          </a:lstStyle>
          <a:p xmlns:a="http://schemas.openxmlformats.org/drawingml/2006/main">
            <a:pPr algn="l">
              <a:buNone/>
              <a:defRPr sz="1650" b="0">
                <a:solidFill>
                  <a:srgbClr val="526174"/>
                </a:solidFill>
                <a:latin typeface="Aptos"/>
                <a:ea typeface="Aptos"/>
                <a:cs typeface="Aptos"/>
              </a:defRPr>
            </a:pPr>
            <a:r>
              <a:rPr sz="1650" b="0">
                <a:solidFill>
                  <a:srgbClr val="526174"/>
                </a:solidFill>
                <a:latin typeface="Aptos"/>
                <a:ea typeface="Aptos"/>
                <a:cs typeface="Aptos"/>
              </a:rPr>
              <a:t>Train / validation / test images</a:t>
            </a:r>
          </a:p>
        </p:txBody>
      </p:sp>
      <p:sp>
        <p:nvSpPr>
          <p:cNvPr id="10" name="Straight Connector 9">
            <a:extLst xmlns:a="http://schemas.openxmlformats.org/drawingml/2006/main">
              <a:ext uri="{FF2B5EF4-FFF2-40B4-BE49-F238E27FC236}">
                <a16:creationId xmlns:a16="http://schemas.microsoft.com/office/drawing/2014/main" id="{EE2F76A6-4CDD-41E3-8367-297793CE5C90}"/>
              </a:ext>
            </a:extLst>
          </p:cNvPr>
          <p:cNvSpPr>
            <a:spLocks xmlns:a="http://schemas.openxmlformats.org/drawingml/2006/main" noGrp="1"/>
          </p:cNvSpPr>
          <p:nvPr/>
        </p:nvSpPr>
        <p:spPr>
          <a:xfrm xmlns:a="http://schemas.openxmlformats.org/drawingml/2006/main">
            <a:off x="8410575" y="2867025"/>
            <a:ext cx="3133725" cy="0"/>
          </a:xfrm>
          <a:prstGeom xmlns:a="http://schemas.openxmlformats.org/drawingml/2006/main" prst="line">
            <a:avLst/>
          </a:prstGeom>
          <a:ln xmlns:a="http://schemas.openxmlformats.org/drawingml/2006/main" w="9525">
            <a:solidFill>
              <a:srgbClr val="D7DEE8"/>
            </a:solidFill>
            <a:prstDash val="solid"/>
          </a:ln>
        </p:spPr>
      </p:sp>
      <p:sp>
        <p:nvSpPr>
          <p:cNvPr id="11" name="Rectangle 10">
            <a:extLst xmlns:a="http://schemas.openxmlformats.org/drawingml/2006/main">
              <a:ext uri="{FF2B5EF4-FFF2-40B4-BE49-F238E27FC236}">
                <a16:creationId xmlns:a16="http://schemas.microsoft.com/office/drawing/2014/main" id="{91484747-666F-40C0-A63A-4CFD589D574D}"/>
              </a:ext>
            </a:extLst>
          </p:cNvPr>
          <p:cNvSpPr>
            <a:spLocks xmlns:a="http://schemas.openxmlformats.org/drawingml/2006/main" noGrp="1"/>
          </p:cNvSpPr>
          <p:nvPr/>
        </p:nvSpPr>
        <p:spPr>
          <a:xfrm xmlns:a="http://schemas.openxmlformats.org/drawingml/2006/main">
            <a:off x="8410575" y="3095625"/>
            <a:ext cx="31337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B1F3A"/>
                </a:solidFill>
                <a:latin typeface="Aptos"/>
                <a:ea typeface="Aptos"/>
                <a:cs typeface="Aptos"/>
              </a:defRPr>
            </a:defPPr>
          </a:lstStyle>
          <a:p xmlns:a="http://schemas.openxmlformats.org/drawingml/2006/main">
            <a:pPr algn="l">
              <a:buNone/>
              <a:defRPr sz="1875" b="1">
                <a:solidFill>
                  <a:srgbClr val="0B1F3A"/>
                </a:solidFill>
                <a:latin typeface="Aptos"/>
                <a:ea typeface="Aptos"/>
                <a:cs typeface="Aptos"/>
              </a:defRPr>
            </a:pPr>
            <a:r>
              <a:rPr sz="1875" b="1">
                <a:solidFill>
                  <a:srgbClr val="0B1F3A"/>
                </a:solidFill>
                <a:latin typeface="Aptos"/>
                <a:ea typeface="Aptos"/>
                <a:cs typeface="Aptos"/>
              </a:rPr>
              <a:t>Grouped sources</a:t>
            </a:r>
          </a:p>
          <a:p xmlns:a="http://schemas.openxmlformats.org/drawingml/2006/main">
            <a:pPr algn="l">
              <a:buNone/>
              <a:defRPr sz="1875" b="1">
                <a:solidFill>
                  <a:srgbClr val="0B1F3A"/>
                </a:solidFill>
                <a:latin typeface="Aptos"/>
                <a:ea typeface="Aptos"/>
                <a:cs typeface="Aptos"/>
              </a:defRPr>
            </a:pPr>
            <a:r>
              <a:rPr sz="1875" b="1">
                <a:solidFill>
                  <a:srgbClr val="0B1F3A"/>
                </a:solidFill>
                <a:latin typeface="Aptos"/>
                <a:ea typeface="Aptos"/>
                <a:cs typeface="Aptos"/>
              </a:rPr>
              <a:t>Thresholds frozen before test</a:t>
            </a:r>
          </a:p>
        </p:txBody>
      </p:sp>
      <p:sp>
        <p:nvSpPr>
          <p:cNvPr id="12" name="Rectangle 11">
            <a:extLst xmlns:a="http://schemas.openxmlformats.org/drawingml/2006/main">
              <a:ext uri="{FF2B5EF4-FFF2-40B4-BE49-F238E27FC236}">
                <a16:creationId xmlns:a16="http://schemas.microsoft.com/office/drawing/2014/main" id="{FD912ED1-3FC7-4453-8353-A13C1BFFE24B}"/>
              </a:ext>
            </a:extLst>
          </p:cNvPr>
          <p:cNvSpPr>
            <a:spLocks xmlns:a="http://schemas.openxmlformats.org/drawingml/2006/main" noGrp="1"/>
          </p:cNvSpPr>
          <p:nvPr/>
        </p:nvSpPr>
        <p:spPr>
          <a:xfrm xmlns:a="http://schemas.openxmlformats.org/drawingml/2006/main">
            <a:off x="8410575" y="4229100"/>
            <a:ext cx="31337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36FE8"/>
                </a:solidFill>
                <a:latin typeface="Aptos"/>
                <a:ea typeface="Aptos"/>
                <a:cs typeface="Aptos"/>
              </a:defRPr>
            </a:defPPr>
          </a:lstStyle>
          <a:p xmlns:a="http://schemas.openxmlformats.org/drawingml/2006/main">
            <a:pPr algn="l">
              <a:buNone/>
              <a:defRPr sz="2175" b="1">
                <a:solidFill>
                  <a:srgbClr val="236FE8"/>
                </a:solidFill>
                <a:latin typeface="Aptos"/>
                <a:ea typeface="Aptos"/>
                <a:cs typeface="Aptos"/>
              </a:defRPr>
            </a:pPr>
            <a:r>
              <a:rPr sz="2175" b="1">
                <a:solidFill>
                  <a:srgbClr val="236FE8"/>
                </a:solidFill>
                <a:latin typeface="Aptos"/>
                <a:ea typeface="Aptos"/>
                <a:cs typeface="Aptos"/>
              </a:rPr>
              <a:t>Best test AP: 0.168</a:t>
            </a:r>
          </a:p>
          <a:p xmlns:a="http://schemas.openxmlformats.org/drawingml/2006/main">
            <a:pPr algn="l">
              <a:buNone/>
              <a:defRPr sz="2175" b="1">
                <a:solidFill>
                  <a:srgbClr val="236FE8"/>
                </a:solidFill>
                <a:latin typeface="Aptos"/>
                <a:ea typeface="Aptos"/>
                <a:cs typeface="Aptos"/>
              </a:defRPr>
            </a:pPr>
            <a:r>
              <a:rPr sz="2175" b="1">
                <a:solidFill>
                  <a:srgbClr val="236FE8"/>
                </a:solidFill>
                <a:latin typeface="Aptos"/>
                <a:ea typeface="Aptos"/>
                <a:cs typeface="Aptos"/>
              </a:rPr>
              <a:t>EfficientDet-Lite0</a:t>
            </a:r>
          </a:p>
        </p:txBody>
      </p:sp>
      <p:sp>
        <p:nvSpPr>
          <p:cNvPr id="13" name="Rectangle 12">
            <a:extLst xmlns:a="http://schemas.openxmlformats.org/drawingml/2006/main">
              <a:ext uri="{FF2B5EF4-FFF2-40B4-BE49-F238E27FC236}">
                <a16:creationId xmlns:a16="http://schemas.microsoft.com/office/drawing/2014/main" id="{A3007621-917F-4C6B-BBC7-5778E2BE7EF4}"/>
              </a:ext>
            </a:extLst>
          </p:cNvPr>
          <p:cNvSpPr>
            <a:spLocks xmlns:a="http://schemas.openxmlformats.org/drawingml/2006/main" noGrp="1"/>
          </p:cNvSpPr>
          <p:nvPr/>
        </p:nvSpPr>
        <p:spPr>
          <a:xfrm xmlns:a="http://schemas.openxmlformats.org/drawingml/2006/main">
            <a:off x="8410575" y="5276850"/>
            <a:ext cx="31337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174"/>
                </a:solidFill>
                <a:latin typeface="Aptos"/>
                <a:ea typeface="Aptos"/>
                <a:cs typeface="Aptos"/>
              </a:defRPr>
            </a:defPPr>
          </a:lstStyle>
          <a:p xmlns:a="http://schemas.openxmlformats.org/drawingml/2006/main">
            <a:pPr algn="l">
              <a:buNone/>
              <a:defRPr sz="1800" b="0">
                <a:solidFill>
                  <a:srgbClr val="526174"/>
                </a:solidFill>
                <a:latin typeface="Aptos"/>
                <a:ea typeface="Aptos"/>
                <a:cs typeface="Aptos"/>
              </a:defRPr>
            </a:pPr>
            <a:r>
              <a:rPr sz="1800" b="0">
                <a:solidFill>
                  <a:srgbClr val="526174"/>
                </a:solidFill>
                <a:latin typeface="Aptos"/>
                <a:ea typeface="Aptos"/>
                <a:cs typeface="Aptos"/>
              </a:rPr>
              <a:t>Six detectors evaluated with one fixed protocol and retained source records.</a:t>
            </a:r>
          </a:p>
        </p:txBody>
      </p:sp>
      <p:sp>
        <p:nvSpPr>
          <p:cNvPr id="14" name="Rectangle 13">
            <a:extLst xmlns:a="http://schemas.openxmlformats.org/drawingml/2006/main">
              <a:ext uri="{FF2B5EF4-FFF2-40B4-BE49-F238E27FC236}">
                <a16:creationId xmlns:a16="http://schemas.microsoft.com/office/drawing/2014/main" id="{CE180C3B-18F6-439C-A281-037AC909C85A}"/>
              </a:ext>
            </a:extLst>
          </p:cNvPr>
          <p:cNvSpPr>
            <a:spLocks xmlns:a="http://schemas.openxmlformats.org/drawingml/2006/main" noGrp="1"/>
          </p:cNvSpPr>
          <p:nvPr/>
        </p:nvSpPr>
        <p:spPr>
          <a:xfrm xmlns:a="http://schemas.openxmlformats.org/drawingml/2006/main">
            <a:off x="609600" y="6115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174"/>
                </a:solidFill>
                <a:latin typeface="Aptos"/>
                <a:ea typeface="Aptos"/>
                <a:cs typeface="Aptos"/>
              </a:defRPr>
            </a:defPPr>
          </a:lstStyle>
          <a:p xmlns:a="http://schemas.openxmlformats.org/drawingml/2006/main">
            <a:pPr algn="l">
              <a:buNone/>
              <a:defRPr sz="1500" b="0">
                <a:solidFill>
                  <a:srgbClr val="526174"/>
                </a:solidFill>
                <a:latin typeface="Aptos"/>
                <a:ea typeface="Aptos"/>
                <a:cs typeface="Aptos"/>
              </a:defRPr>
            </a:pPr>
            <a:r>
              <a:rPr sz="1500" b="0">
                <a:solidFill>
                  <a:srgbClr val="526174"/>
                </a:solidFill>
                <a:latin typeface="Aptos"/>
                <a:ea typeface="Aptos"/>
                <a:cs typeface="Aptos"/>
              </a:rPr>
              <a:t>Predictive comparison informs the trade-off study. Earlier YOLO deployments use measured device implementations.</a:t>
            </a:r>
          </a:p>
        </p:txBody>
      </p:sp>
    </p:spTree>
    <p:extLst>
      <p:ext uri="{BB962C8B-B14F-4D97-AF65-F5344CB8AC3E}">
        <p14:creationId xmlns:p14="http://schemas.microsoft.com/office/powerpoint/2010/main" val="106407077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traight Connector 20">
            <a:extLst xmlns:a="http://schemas.openxmlformats.org/drawingml/2006/main">
              <a:ext uri="{FF2B5EF4-FFF2-40B4-BE49-F238E27FC236}">
                <a16:creationId xmlns:a16="http://schemas.microsoft.com/office/drawing/2014/main" id="{497D6950-AA54-4F35-A4FD-6DF58C81A602}"/>
              </a:ext>
            </a:extLst>
          </p:cNvPr>
          <p:cNvSpPr>
            <a:spLocks xmlns:a="http://schemas.openxmlformats.org/drawingml/2006/main" noGrp="1"/>
          </p:cNvSpPr>
          <p:nvPr/>
        </p:nvSpPr>
        <p:spPr>
          <a:xfrm xmlns:a="http://schemas.openxmlformats.org/drawingml/2006/main">
            <a:off x="0" y="47625"/>
            <a:ext cx="12192000" cy="0"/>
          </a:xfrm>
          <a:prstGeom xmlns:a="http://schemas.openxmlformats.org/drawingml/2006/main" prst="line">
            <a:avLst/>
          </a:prstGeom>
          <a:ln xmlns:a="http://schemas.openxmlformats.org/drawingml/2006/main" w="95250">
            <a:solidFill>
              <a:srgbClr val="0B1F3A"/>
            </a:solidFill>
            <a:prstDash val="solid"/>
          </a:ln>
        </p:spPr>
      </p:sp>
      <p:sp>
        <p:nvSpPr>
          <p:cNvPr id="2" name="Rectangle 1">
            <a:extLst xmlns:a="http://schemas.openxmlformats.org/drawingml/2006/main">
              <a:ext uri="{FF2B5EF4-FFF2-40B4-BE49-F238E27FC236}">
                <a16:creationId xmlns:a16="http://schemas.microsoft.com/office/drawing/2014/main" id="{E9D95CBF-28DB-4226-BAA3-7D74BC9E4BD1}"/>
              </a:ext>
            </a:extLst>
          </p:cNvPr>
          <p:cNvSpPr>
            <a:spLocks xmlns:a="http://schemas.openxmlformats.org/drawingml/2006/main" noGrp="1"/>
          </p:cNvSpPr>
          <p:nvPr/>
        </p:nvSpPr>
        <p:spPr>
          <a:xfrm xmlns:a="http://schemas.openxmlformats.org/drawingml/2006/main">
            <a:off x="609600" y="2952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B1F3A"/>
                </a:solidFill>
                <a:latin typeface="Aptos"/>
                <a:ea typeface="Aptos"/>
                <a:cs typeface="Aptos"/>
              </a:defRPr>
            </a:defPPr>
          </a:lstStyle>
          <a:p xmlns:a="http://schemas.openxmlformats.org/drawingml/2006/main">
            <a:pPr algn="l">
              <a:buNone/>
              <a:defRPr sz="3000" b="1">
                <a:solidFill>
                  <a:srgbClr val="0B1F3A"/>
                </a:solidFill>
                <a:latin typeface="Aptos"/>
                <a:ea typeface="Aptos"/>
                <a:cs typeface="Aptos"/>
              </a:defRPr>
            </a:pPr>
            <a:r>
              <a:rPr sz="3000" b="1">
                <a:solidFill>
                  <a:srgbClr val="0B1F3A"/>
                </a:solidFill>
                <a:latin typeface="Aptos"/>
                <a:ea typeface="Aptos"/>
                <a:cs typeface="Aptos"/>
              </a:rPr>
              <a:t>Vectorized decoding reduced pipeline time</a:t>
            </a:r>
          </a:p>
        </p:txBody>
      </p:sp>
      <p:sp>
        <p:nvSpPr>
          <p:cNvPr id="3" name="Rectangle 2">
            <a:extLst xmlns:a="http://schemas.openxmlformats.org/drawingml/2006/main">
              <a:ext uri="{FF2B5EF4-FFF2-40B4-BE49-F238E27FC236}">
                <a16:creationId xmlns:a16="http://schemas.microsoft.com/office/drawing/2014/main" id="{1DD68137-D7F7-4982-9988-C8416C4D1D6E}"/>
              </a:ext>
            </a:extLst>
          </p:cNvPr>
          <p:cNvSpPr>
            <a:spLocks xmlns:a="http://schemas.openxmlformats.org/drawingml/2006/main" noGrp="1"/>
          </p:cNvSpPr>
          <p:nvPr/>
        </p:nvSpPr>
        <p:spPr>
          <a:xfrm xmlns:a="http://schemas.openxmlformats.org/drawingml/2006/main">
            <a:off x="609600" y="8667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174"/>
                </a:solidFill>
                <a:latin typeface="Aptos"/>
                <a:ea typeface="Aptos"/>
                <a:cs typeface="Aptos"/>
              </a:defRPr>
            </a:defPPr>
          </a:lstStyle>
          <a:p xmlns:a="http://schemas.openxmlformats.org/drawingml/2006/main">
            <a:pPr algn="l">
              <a:buNone/>
              <a:defRPr sz="1500" b="0">
                <a:solidFill>
                  <a:srgbClr val="526174"/>
                </a:solidFill>
                <a:latin typeface="Aptos"/>
                <a:ea typeface="Aptos"/>
                <a:cs typeface="Aptos"/>
              </a:defRPr>
            </a:pPr>
            <a:r>
              <a:rPr sz="1500" b="0">
                <a:solidFill>
                  <a:srgbClr val="526174"/>
                </a:solidFill>
                <a:latin typeface="Aptos"/>
                <a:ea typeface="Aptos"/>
                <a:cs typeface="Aptos"/>
              </a:rPr>
              <a:t>Sentinel software experiment and separate device benchmarks</a:t>
            </a:r>
          </a:p>
        </p:txBody>
      </p:sp>
      <p:sp>
        <p:nvSpPr>
          <p:cNvPr id="4" name="Straight Connector 3">
            <a:extLst xmlns:a="http://schemas.openxmlformats.org/drawingml/2006/main">
              <a:ext uri="{FF2B5EF4-FFF2-40B4-BE49-F238E27FC236}">
                <a16:creationId xmlns:a16="http://schemas.microsoft.com/office/drawing/2014/main" id="{69554BD1-4FB0-4A86-BCB2-9FF555C357D0}"/>
              </a:ext>
            </a:extLst>
          </p:cNvPr>
          <p:cNvSpPr>
            <a:spLocks xmlns:a="http://schemas.openxmlformats.org/drawingml/2006/main" noGrp="1"/>
          </p:cNvSpPr>
          <p:nvPr/>
        </p:nvSpPr>
        <p:spPr>
          <a:xfrm xmlns:a="http://schemas.openxmlformats.org/drawingml/2006/main">
            <a:off x="609600" y="1266825"/>
            <a:ext cx="10972800" cy="0"/>
          </a:xfrm>
          <a:prstGeom xmlns:a="http://schemas.openxmlformats.org/drawingml/2006/main" prst="line">
            <a:avLst/>
          </a:prstGeom>
          <a:ln xmlns:a="http://schemas.openxmlformats.org/drawingml/2006/main" w="9525">
            <a:solidFill>
              <a:srgbClr val="D7DEE8"/>
            </a:solidFill>
            <a:prstDash val="solid"/>
          </a:ln>
        </p:spPr>
      </p:sp>
      <p:sp>
        <p:nvSpPr>
          <p:cNvPr id="6" name="Rectangle 5">
            <a:extLst xmlns:a="http://schemas.openxmlformats.org/drawingml/2006/main">
              <a:ext uri="{FF2B5EF4-FFF2-40B4-BE49-F238E27FC236}">
                <a16:creationId xmlns:a16="http://schemas.microsoft.com/office/drawing/2014/main" id="{35EA7B19-FE9B-42CF-A593-1DAABA3C2A35}"/>
              </a:ext>
            </a:extLst>
          </p:cNvPr>
          <p:cNvSpPr>
            <a:spLocks xmlns:a="http://schemas.openxmlformats.org/drawingml/2006/main" noGrp="1"/>
          </p:cNvSpPr>
          <p:nvPr/>
        </p:nvSpPr>
        <p:spPr>
          <a:xfrm xmlns:a="http://schemas.openxmlformats.org/drawingml/2006/main">
            <a:off x="11144250" y="65436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526174"/>
                </a:solidFill>
                <a:latin typeface="Aptos"/>
                <a:ea typeface="Aptos"/>
                <a:cs typeface="Aptos"/>
              </a:defRPr>
            </a:defPPr>
          </a:lstStyle>
          <a:p xmlns:a="http://schemas.openxmlformats.org/drawingml/2006/main">
            <a:pPr algn="r">
              <a:buNone/>
              <a:defRPr sz="975" b="0">
                <a:solidFill>
                  <a:srgbClr val="526174"/>
                </a:solidFill>
                <a:latin typeface="Aptos"/>
                <a:ea typeface="Aptos"/>
                <a:cs typeface="Aptos"/>
              </a:defRPr>
            </a:pPr>
            <a:r>
              <a:rPr sz="975" b="0">
                <a:solidFill>
                  <a:srgbClr val="526174"/>
                </a:solidFill>
                <a:latin typeface="Aptos"/>
                <a:ea typeface="Aptos"/>
                <a:cs typeface="Aptos"/>
              </a:rPr>
              <a:t>5</a:t>
            </a:r>
          </a:p>
        </p:txBody>
      </p:sp>
      <p:sp>
        <p:nvSpPr>
          <p:cNvPr id="7" name="Rectangle 6">
            <a:extLst xmlns:a="http://schemas.openxmlformats.org/drawingml/2006/main">
              <a:ext uri="{FF2B5EF4-FFF2-40B4-BE49-F238E27FC236}">
                <a16:creationId xmlns:a16="http://schemas.microsoft.com/office/drawing/2014/main" id="{23581639-D7AD-4DBE-8CCD-CC370C4C2E78}"/>
              </a:ext>
            </a:extLst>
          </p:cNvPr>
          <p:cNvSpPr>
            <a:spLocks xmlns:a="http://schemas.openxmlformats.org/drawingml/2006/main" noGrp="1"/>
          </p:cNvSpPr>
          <p:nvPr/>
        </p:nvSpPr>
        <p:spPr>
          <a:xfrm xmlns:a="http://schemas.openxmlformats.org/drawingml/2006/main">
            <a:off x="609600" y="1514475"/>
            <a:ext cx="6715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DF750E"/>
                </a:solidFill>
                <a:latin typeface="Aptos"/>
                <a:ea typeface="Aptos"/>
                <a:cs typeface="Aptos"/>
              </a:defRPr>
            </a:defPPr>
          </a:lstStyle>
          <a:p xmlns:a="http://schemas.openxmlformats.org/drawingml/2006/main">
            <a:pPr algn="l">
              <a:buNone/>
              <a:defRPr sz="2550" b="1">
                <a:solidFill>
                  <a:srgbClr val="DF750E"/>
                </a:solidFill>
                <a:latin typeface="Aptos"/>
                <a:ea typeface="Aptos"/>
                <a:cs typeface="Aptos"/>
              </a:defRPr>
            </a:pPr>
            <a:r>
              <a:rPr sz="2550" b="1">
                <a:solidFill>
                  <a:srgbClr val="DF750E"/>
                </a:solidFill>
                <a:latin typeface="Aptos"/>
                <a:ea typeface="Aptos"/>
                <a:cs typeface="Aptos"/>
              </a:rPr>
              <a:t>72.1% lower mean pipeline time</a:t>
            </a:r>
          </a:p>
        </p:txBody>
      </p:sp>
      <p:graphicFrame>
        <p:nvGraphicFramePr>
          <p:cNvPr id="8" name="Chart">
            <a:extLst xmlns:a="http://schemas.openxmlformats.org/drawingml/2006/main">
              <a:ext uri="{FF2B5EF4-FFF2-40B4-BE49-F238E27FC236}">
                <a16:creationId xmlns:a16="http://schemas.microsoft.com/office/drawing/2014/main" id="{7F6CC949-E71F-46A3-A13B-FA23E9A97F95}"/>
              </a:ext>
            </a:extLst>
          </p:cNvPr>
          <p:cNvGraphicFramePr/>
          <p:nvPr/>
        </p:nvGraphicFramePr>
        <p:xfrm>
          <a:off xmlns:a="http://schemas.openxmlformats.org/drawingml/2006/main" x="609600" y="2200275"/>
          <a:ext xmlns:a="http://schemas.openxmlformats.org/drawingml/2006/main" cx="6572250" cy="3057525"/>
        </p:xfrm>
        <a:graphic xmlns:a="http://schemas.openxmlformats.org/drawingml/2006/main">
          <a:graphicData uri="http://schemas.openxmlformats.org/drawingml/2006/chart">
            <c:chart xmlns:r="http://schemas.openxmlformats.org/officeDocument/2006/relationships" xmlns:c="http://schemas.openxmlformats.org/drawingml/2006/chart" r:id="Rfbb7dc6dc32b431d"/>
          </a:graphicData>
        </a:graphic>
      </p:graphicFrame>
      <p:sp>
        <p:nvSpPr>
          <p:cNvPr id="9" name="Rectangle 8">
            <a:extLst xmlns:a="http://schemas.openxmlformats.org/drawingml/2006/main">
              <a:ext uri="{FF2B5EF4-FFF2-40B4-BE49-F238E27FC236}">
                <a16:creationId xmlns:a16="http://schemas.microsoft.com/office/drawing/2014/main" id="{A13A3B72-9348-42FD-9213-5495B367C65D}"/>
              </a:ext>
            </a:extLst>
          </p:cNvPr>
          <p:cNvSpPr>
            <a:spLocks xmlns:a="http://schemas.openxmlformats.org/drawingml/2006/main" noGrp="1"/>
          </p:cNvSpPr>
          <p:nvPr/>
        </p:nvSpPr>
        <p:spPr>
          <a:xfrm xmlns:a="http://schemas.openxmlformats.org/drawingml/2006/main">
            <a:off x="609600" y="5362575"/>
            <a:ext cx="657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B1F3A"/>
                </a:solidFill>
                <a:latin typeface="Aptos"/>
                <a:ea typeface="Aptos"/>
                <a:cs typeface="Aptos"/>
              </a:defRPr>
            </a:defPPr>
          </a:lstStyle>
          <a:p xmlns:a="http://schemas.openxmlformats.org/drawingml/2006/main">
            <a:pPr algn="l">
              <a:buNone/>
              <a:defRPr sz="1875" b="1">
                <a:solidFill>
                  <a:srgbClr val="0B1F3A"/>
                </a:solidFill>
                <a:latin typeface="Aptos"/>
                <a:ea typeface="Aptos"/>
                <a:cs typeface="Aptos"/>
              </a:defRPr>
            </a:pPr>
            <a:r>
              <a:rPr sz="1875" b="1">
                <a:solidFill>
                  <a:srgbClr val="0B1F3A"/>
                </a:solidFill>
                <a:latin typeface="Aptos"/>
                <a:ea typeface="Aptos"/>
                <a:cs typeface="Aptos"/>
              </a:rPr>
              <a:t>Sentinel decoding: 148.920 ms to 1.290 ms</a:t>
            </a:r>
          </a:p>
        </p:txBody>
      </p:sp>
      <p:sp>
        <p:nvSpPr>
          <p:cNvPr id="10" name="Rectangle 9">
            <a:extLst xmlns:a="http://schemas.openxmlformats.org/drawingml/2006/main">
              <a:ext uri="{FF2B5EF4-FFF2-40B4-BE49-F238E27FC236}">
                <a16:creationId xmlns:a16="http://schemas.microsoft.com/office/drawing/2014/main" id="{7519CDEC-3412-4A7E-ABAF-92257929AA04}"/>
              </a:ext>
            </a:extLst>
          </p:cNvPr>
          <p:cNvSpPr>
            <a:spLocks xmlns:a="http://schemas.openxmlformats.org/drawingml/2006/main" noGrp="1"/>
          </p:cNvSpPr>
          <p:nvPr/>
        </p:nvSpPr>
        <p:spPr>
          <a:xfrm xmlns:a="http://schemas.openxmlformats.org/drawingml/2006/main">
            <a:off x="609600" y="5753100"/>
            <a:ext cx="6572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174"/>
                </a:solidFill>
                <a:latin typeface="Aptos"/>
                <a:ea typeface="Aptos"/>
                <a:cs typeface="Aptos"/>
              </a:defRPr>
            </a:defPPr>
          </a:lstStyle>
          <a:p xmlns:a="http://schemas.openxmlformats.org/drawingml/2006/main">
            <a:pPr algn="l">
              <a:buNone/>
              <a:defRPr sz="1650" b="0">
                <a:solidFill>
                  <a:srgbClr val="526174"/>
                </a:solidFill>
                <a:latin typeface="Aptos"/>
                <a:ea typeface="Aptos"/>
                <a:cs typeface="Aptos"/>
              </a:defRPr>
            </a:pPr>
            <a:r>
              <a:rPr sz="1650" b="0">
                <a:solidFill>
                  <a:srgbClr val="526174"/>
                </a:solidFill>
                <a:latin typeface="Aptos"/>
                <a:ea typeface="Aptos"/>
                <a:cs typeface="Aptos"/>
              </a:rPr>
              <a:t>8,400 candidates processed with NumPy vectorization</a:t>
            </a:r>
          </a:p>
        </p:txBody>
      </p:sp>
      <p:sp>
        <p:nvSpPr>
          <p:cNvPr id="11" name="Rectangle 10">
            <a:extLst xmlns:a="http://schemas.openxmlformats.org/drawingml/2006/main">
              <a:ext uri="{FF2B5EF4-FFF2-40B4-BE49-F238E27FC236}">
                <a16:creationId xmlns:a16="http://schemas.microsoft.com/office/drawing/2014/main" id="{23431EB1-7414-4A44-AC06-16ADECF42B74}"/>
              </a:ext>
            </a:extLst>
          </p:cNvPr>
          <p:cNvSpPr>
            <a:spLocks xmlns:a="http://schemas.openxmlformats.org/drawingml/2006/main" noGrp="1"/>
          </p:cNvSpPr>
          <p:nvPr/>
        </p:nvSpPr>
        <p:spPr>
          <a:xfrm xmlns:a="http://schemas.openxmlformats.org/drawingml/2006/main">
            <a:off x="609600" y="6153150"/>
            <a:ext cx="657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174"/>
                </a:solidFill>
                <a:latin typeface="Aptos"/>
                <a:ea typeface="Aptos"/>
                <a:cs typeface="Aptos"/>
              </a:defRPr>
            </a:defPPr>
          </a:lstStyle>
          <a:p xmlns:a="http://schemas.openxmlformats.org/drawingml/2006/main">
            <a:pPr algn="l">
              <a:buNone/>
              <a:defRPr sz="1350" b="0">
                <a:solidFill>
                  <a:srgbClr val="526174"/>
                </a:solidFill>
                <a:latin typeface="Aptos"/>
                <a:ea typeface="Aptos"/>
                <a:cs typeface="Aptos"/>
              </a:defRPr>
            </a:pPr>
            <a:r>
              <a:rPr sz="1350" b="0">
                <a:solidFill>
                  <a:srgbClr val="526174"/>
                </a:solidFill>
                <a:latin typeface="Aptos"/>
                <a:ea typeface="Aptos"/>
                <a:cs typeface="Aptos"/>
              </a:rPr>
              <a:t>Separate July runs: 5 warm-ups, 50 measured pipelines each.</a:t>
            </a:r>
          </a:p>
        </p:txBody>
      </p:sp>
      <p:sp>
        <p:nvSpPr>
          <p:cNvPr id="12" name="Straight Connector 11">
            <a:extLst xmlns:a="http://schemas.openxmlformats.org/drawingml/2006/main">
              <a:ext uri="{FF2B5EF4-FFF2-40B4-BE49-F238E27FC236}">
                <a16:creationId xmlns:a16="http://schemas.microsoft.com/office/drawing/2014/main" id="{05DF3ABC-33C0-4417-A6CF-56EAA9DAC4C8}"/>
              </a:ext>
            </a:extLst>
          </p:cNvPr>
          <p:cNvSpPr>
            <a:spLocks xmlns:a="http://schemas.openxmlformats.org/drawingml/2006/main" noGrp="1"/>
          </p:cNvSpPr>
          <p:nvPr/>
        </p:nvSpPr>
        <p:spPr>
          <a:xfrm xmlns:a="http://schemas.openxmlformats.org/drawingml/2006/main">
            <a:off x="7677150" y="1524000"/>
            <a:ext cx="9525" cy="0"/>
          </a:xfrm>
          <a:prstGeom xmlns:a="http://schemas.openxmlformats.org/drawingml/2006/main" prst="line">
            <a:avLst/>
          </a:prstGeom>
          <a:ln xmlns:a="http://schemas.openxmlformats.org/drawingml/2006/main" w="0">
            <a:solidFill>
              <a:srgbClr val="FFFFFF"/>
            </a:solidFill>
            <a:prstDash val="solid"/>
          </a:ln>
        </p:spPr>
      </p:sp>
      <p:sp>
        <p:nvSpPr>
          <p:cNvPr id="13" name="Rectangle 12">
            <a:extLst xmlns:a="http://schemas.openxmlformats.org/drawingml/2006/main">
              <a:ext uri="{FF2B5EF4-FFF2-40B4-BE49-F238E27FC236}">
                <a16:creationId xmlns:a16="http://schemas.microsoft.com/office/drawing/2014/main" id="{577E0E61-1DBD-4A33-B827-7993C2F917BD}"/>
              </a:ext>
            </a:extLst>
          </p:cNvPr>
          <p:cNvSpPr>
            <a:spLocks xmlns:a="http://schemas.openxmlformats.org/drawingml/2006/main" noGrp="1"/>
          </p:cNvSpPr>
          <p:nvPr/>
        </p:nvSpPr>
        <p:spPr>
          <a:xfrm xmlns:a="http://schemas.openxmlformats.org/drawingml/2006/main">
            <a:off x="7858125" y="1562100"/>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526174"/>
                </a:solidFill>
                <a:latin typeface="Aptos"/>
                <a:ea typeface="Aptos"/>
                <a:cs typeface="Aptos"/>
              </a:defRPr>
            </a:defPPr>
          </a:lstStyle>
          <a:p xmlns:a="http://schemas.openxmlformats.org/drawingml/2006/main">
            <a:pPr algn="l">
              <a:buNone/>
              <a:defRPr sz="1575" b="1">
                <a:solidFill>
                  <a:srgbClr val="526174"/>
                </a:solidFill>
                <a:latin typeface="Aptos"/>
                <a:ea typeface="Aptos"/>
                <a:cs typeface="Aptos"/>
              </a:defRPr>
            </a:pPr>
            <a:r>
              <a:rPr sz="1575" b="1">
                <a:solidFill>
                  <a:srgbClr val="526174"/>
                </a:solidFill>
                <a:latin typeface="Aptos"/>
                <a:ea typeface="Aptos"/>
                <a:cs typeface="Aptos"/>
              </a:rPr>
              <a:t>EXACT DEPLOYED PIPELINES</a:t>
            </a:r>
          </a:p>
        </p:txBody>
      </p:sp>
      <p:sp>
        <p:nvSpPr>
          <p:cNvPr id="14" name="Rectangle 13">
            <a:extLst xmlns:a="http://schemas.openxmlformats.org/drawingml/2006/main">
              <a:ext uri="{FF2B5EF4-FFF2-40B4-BE49-F238E27FC236}">
                <a16:creationId xmlns:a16="http://schemas.microsoft.com/office/drawing/2014/main" id="{7681BD1C-DEBD-47C7-9834-C2F1A4F9868E}"/>
              </a:ext>
            </a:extLst>
          </p:cNvPr>
          <p:cNvSpPr>
            <a:spLocks xmlns:a="http://schemas.openxmlformats.org/drawingml/2006/main" noGrp="1"/>
          </p:cNvSpPr>
          <p:nvPr/>
        </p:nvSpPr>
        <p:spPr>
          <a:xfrm xmlns:a="http://schemas.openxmlformats.org/drawingml/2006/main">
            <a:off x="7858125" y="2047875"/>
            <a:ext cx="3714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DF750E"/>
                </a:solidFill>
                <a:latin typeface="Aptos"/>
                <a:ea typeface="Aptos"/>
                <a:cs typeface="Aptos"/>
              </a:defRPr>
            </a:defPPr>
          </a:lstStyle>
          <a:p xmlns:a="http://schemas.openxmlformats.org/drawingml/2006/main">
            <a:pPr algn="l">
              <a:buNone/>
              <a:defRPr sz="3750" b="1">
                <a:solidFill>
                  <a:srgbClr val="DF750E"/>
                </a:solidFill>
                <a:latin typeface="Aptos"/>
                <a:ea typeface="Aptos"/>
                <a:cs typeface="Aptos"/>
              </a:defRPr>
            </a:pPr>
            <a:r>
              <a:rPr sz="3750" b="1">
                <a:solidFill>
                  <a:srgbClr val="DF750E"/>
                </a:solidFill>
                <a:latin typeface="Aptos"/>
                <a:ea typeface="Aptos"/>
                <a:cs typeface="Aptos"/>
              </a:rPr>
              <a:t>58.2 ms</a:t>
            </a:r>
          </a:p>
        </p:txBody>
      </p:sp>
      <p:sp>
        <p:nvSpPr>
          <p:cNvPr id="15" name="Rectangle 14">
            <a:extLst xmlns:a="http://schemas.openxmlformats.org/drawingml/2006/main">
              <a:ext uri="{FF2B5EF4-FFF2-40B4-BE49-F238E27FC236}">
                <a16:creationId xmlns:a16="http://schemas.microsoft.com/office/drawing/2014/main" id="{37513B62-B031-46C5-AE48-6DEA57CC130F}"/>
              </a:ext>
            </a:extLst>
          </p:cNvPr>
          <p:cNvSpPr>
            <a:spLocks xmlns:a="http://schemas.openxmlformats.org/drawingml/2006/main" noGrp="1"/>
          </p:cNvSpPr>
          <p:nvPr/>
        </p:nvSpPr>
        <p:spPr>
          <a:xfrm xmlns:a="http://schemas.openxmlformats.org/drawingml/2006/main">
            <a:off x="7858125" y="2676525"/>
            <a:ext cx="3714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174"/>
                </a:solidFill>
                <a:latin typeface="Aptos"/>
                <a:ea typeface="Aptos"/>
                <a:cs typeface="Aptos"/>
              </a:defRPr>
            </a:defPPr>
          </a:lstStyle>
          <a:p xmlns:a="http://schemas.openxmlformats.org/drawingml/2006/main">
            <a:pPr algn="l">
              <a:buNone/>
              <a:defRPr sz="1725" b="0">
                <a:solidFill>
                  <a:srgbClr val="526174"/>
                </a:solidFill>
                <a:latin typeface="Aptos"/>
                <a:ea typeface="Aptos"/>
                <a:cs typeface="Aptos"/>
              </a:defRPr>
            </a:pPr>
            <a:r>
              <a:rPr sz="1725" b="0">
                <a:solidFill>
                  <a:srgbClr val="526174"/>
                </a:solidFill>
                <a:latin typeface="Aptos"/>
                <a:ea typeface="Aptos"/>
                <a:cs typeface="Aptos"/>
              </a:rPr>
              <a:t>Sentinel YOLOv8n</a:t>
            </a:r>
          </a:p>
          <a:p xmlns:a="http://schemas.openxmlformats.org/drawingml/2006/main">
            <a:pPr algn="l">
              <a:buNone/>
              <a:defRPr sz="1725" b="0">
                <a:solidFill>
                  <a:srgbClr val="526174"/>
                </a:solidFill>
                <a:latin typeface="Aptos"/>
                <a:ea typeface="Aptos"/>
                <a:cs typeface="Aptos"/>
              </a:defRPr>
            </a:pPr>
            <a:r>
              <a:rPr sz="1725" b="0">
                <a:solidFill>
                  <a:srgbClr val="526174"/>
                </a:solidFill>
                <a:latin typeface="Aptos"/>
                <a:ea typeface="Aptos"/>
                <a:cs typeface="Aptos"/>
              </a:rPr>
              <a:t>TensorRT FP16</a:t>
            </a:r>
          </a:p>
        </p:txBody>
      </p:sp>
      <p:sp>
        <p:nvSpPr>
          <p:cNvPr id="16" name="Rectangle 15">
            <a:extLst xmlns:a="http://schemas.openxmlformats.org/drawingml/2006/main">
              <a:ext uri="{FF2B5EF4-FFF2-40B4-BE49-F238E27FC236}">
                <a16:creationId xmlns:a16="http://schemas.microsoft.com/office/drawing/2014/main" id="{F1FC69C3-30E4-4537-8E99-3B41B4B1A56F}"/>
              </a:ext>
            </a:extLst>
          </p:cNvPr>
          <p:cNvSpPr>
            <a:spLocks xmlns:a="http://schemas.openxmlformats.org/drawingml/2006/main" noGrp="1"/>
          </p:cNvSpPr>
          <p:nvPr/>
        </p:nvSpPr>
        <p:spPr>
          <a:xfrm xmlns:a="http://schemas.openxmlformats.org/drawingml/2006/main">
            <a:off x="7858125" y="3400425"/>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DF750E"/>
                </a:solidFill>
                <a:latin typeface="Aptos"/>
                <a:ea typeface="Aptos"/>
                <a:cs typeface="Aptos"/>
              </a:defRPr>
            </a:defPPr>
          </a:lstStyle>
          <a:p xmlns:a="http://schemas.openxmlformats.org/drawingml/2006/main">
            <a:pPr algn="l">
              <a:buNone/>
              <a:defRPr sz="1875" b="1">
                <a:solidFill>
                  <a:srgbClr val="DF750E"/>
                </a:solidFill>
                <a:latin typeface="Aptos"/>
                <a:ea typeface="Aptos"/>
                <a:cs typeface="Aptos"/>
              </a:defRPr>
            </a:pPr>
            <a:r>
              <a:rPr sz="1875" b="1">
                <a:solidFill>
                  <a:srgbClr val="DF750E"/>
                </a:solidFill>
                <a:latin typeface="Aptos"/>
                <a:ea typeface="Aptos"/>
                <a:cs typeface="Aptos"/>
              </a:rPr>
              <a:t>p95 59.7 ms</a:t>
            </a:r>
          </a:p>
        </p:txBody>
      </p:sp>
      <p:sp>
        <p:nvSpPr>
          <p:cNvPr id="17" name="Rectangle 16">
            <a:extLst xmlns:a="http://schemas.openxmlformats.org/drawingml/2006/main">
              <a:ext uri="{FF2B5EF4-FFF2-40B4-BE49-F238E27FC236}">
                <a16:creationId xmlns:a16="http://schemas.microsoft.com/office/drawing/2014/main" id="{F8DF8180-BF4E-43B4-B020-244C27445F93}"/>
              </a:ext>
            </a:extLst>
          </p:cNvPr>
          <p:cNvSpPr>
            <a:spLocks xmlns:a="http://schemas.openxmlformats.org/drawingml/2006/main" noGrp="1"/>
          </p:cNvSpPr>
          <p:nvPr/>
        </p:nvSpPr>
        <p:spPr>
          <a:xfrm xmlns:a="http://schemas.openxmlformats.org/drawingml/2006/main">
            <a:off x="7858125" y="3886200"/>
            <a:ext cx="3714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236FE8"/>
                </a:solidFill>
                <a:latin typeface="Aptos"/>
                <a:ea typeface="Aptos"/>
                <a:cs typeface="Aptos"/>
              </a:defRPr>
            </a:defPPr>
          </a:lstStyle>
          <a:p xmlns:a="http://schemas.openxmlformats.org/drawingml/2006/main">
            <a:pPr algn="l">
              <a:buNone/>
              <a:defRPr sz="3750" b="1">
                <a:solidFill>
                  <a:srgbClr val="236FE8"/>
                </a:solidFill>
                <a:latin typeface="Aptos"/>
                <a:ea typeface="Aptos"/>
                <a:cs typeface="Aptos"/>
              </a:defRPr>
            </a:pPr>
            <a:r>
              <a:rPr sz="3750" b="1">
                <a:solidFill>
                  <a:srgbClr val="236FE8"/>
                </a:solidFill>
                <a:latin typeface="Aptos"/>
                <a:ea typeface="Aptos"/>
                <a:cs typeface="Aptos"/>
              </a:rPr>
              <a:t>999 ms</a:t>
            </a:r>
          </a:p>
        </p:txBody>
      </p:sp>
      <p:sp>
        <p:nvSpPr>
          <p:cNvPr id="18" name="Rectangle 17">
            <a:extLst xmlns:a="http://schemas.openxmlformats.org/drawingml/2006/main">
              <a:ext uri="{FF2B5EF4-FFF2-40B4-BE49-F238E27FC236}">
                <a16:creationId xmlns:a16="http://schemas.microsoft.com/office/drawing/2014/main" id="{8ADA1C88-8558-4C1E-84C6-A249D0E0405D}"/>
              </a:ext>
            </a:extLst>
          </p:cNvPr>
          <p:cNvSpPr>
            <a:spLocks xmlns:a="http://schemas.openxmlformats.org/drawingml/2006/main" noGrp="1"/>
          </p:cNvSpPr>
          <p:nvPr/>
        </p:nvSpPr>
        <p:spPr>
          <a:xfrm xmlns:a="http://schemas.openxmlformats.org/drawingml/2006/main">
            <a:off x="7858125" y="4514850"/>
            <a:ext cx="3714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174"/>
                </a:solidFill>
                <a:latin typeface="Aptos"/>
                <a:ea typeface="Aptos"/>
                <a:cs typeface="Aptos"/>
              </a:defRPr>
            </a:defPPr>
          </a:lstStyle>
          <a:p xmlns:a="http://schemas.openxmlformats.org/drawingml/2006/main">
            <a:pPr algn="l">
              <a:buNone/>
              <a:defRPr sz="1725" b="0">
                <a:solidFill>
                  <a:srgbClr val="526174"/>
                </a:solidFill>
                <a:latin typeface="Aptos"/>
                <a:ea typeface="Aptos"/>
                <a:cs typeface="Aptos"/>
              </a:defRPr>
            </a:pPr>
            <a:r>
              <a:rPr sz="1725" b="0">
                <a:solidFill>
                  <a:srgbClr val="526174"/>
                </a:solidFill>
                <a:latin typeface="Aptos"/>
                <a:ea typeface="Aptos"/>
                <a:cs typeface="Aptos"/>
              </a:rPr>
              <a:t>Scout YOLOv8s</a:t>
            </a:r>
          </a:p>
          <a:p xmlns:a="http://schemas.openxmlformats.org/drawingml/2006/main">
            <a:pPr algn="l">
              <a:buNone/>
              <a:defRPr sz="1725" b="0">
                <a:solidFill>
                  <a:srgbClr val="526174"/>
                </a:solidFill>
                <a:latin typeface="Aptos"/>
                <a:ea typeface="Aptos"/>
                <a:cs typeface="Aptos"/>
              </a:defRPr>
            </a:pPr>
            <a:r>
              <a:rPr sz="1725" b="0">
                <a:solidFill>
                  <a:srgbClr val="526174"/>
                </a:solidFill>
                <a:latin typeface="Aptos"/>
                <a:ea typeface="Aptos"/>
                <a:cs typeface="Aptos"/>
              </a:rPr>
              <a:t>TensorFlow Lite</a:t>
            </a:r>
          </a:p>
        </p:txBody>
      </p:sp>
      <p:sp>
        <p:nvSpPr>
          <p:cNvPr id="19" name="Rectangle 18">
            <a:extLst xmlns:a="http://schemas.openxmlformats.org/drawingml/2006/main">
              <a:ext uri="{FF2B5EF4-FFF2-40B4-BE49-F238E27FC236}">
                <a16:creationId xmlns:a16="http://schemas.microsoft.com/office/drawing/2014/main" id="{CEFED358-87DA-460C-9D48-087819508F7A}"/>
              </a:ext>
            </a:extLst>
          </p:cNvPr>
          <p:cNvSpPr>
            <a:spLocks xmlns:a="http://schemas.openxmlformats.org/drawingml/2006/main" noGrp="1"/>
          </p:cNvSpPr>
          <p:nvPr/>
        </p:nvSpPr>
        <p:spPr>
          <a:xfrm xmlns:a="http://schemas.openxmlformats.org/drawingml/2006/main">
            <a:off x="7858125" y="5238750"/>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36FE8"/>
                </a:solidFill>
                <a:latin typeface="Aptos"/>
                <a:ea typeface="Aptos"/>
                <a:cs typeface="Aptos"/>
              </a:defRPr>
            </a:defPPr>
          </a:lstStyle>
          <a:p xmlns:a="http://schemas.openxmlformats.org/drawingml/2006/main">
            <a:pPr algn="l">
              <a:buNone/>
              <a:defRPr sz="1875" b="1">
                <a:solidFill>
                  <a:srgbClr val="236FE8"/>
                </a:solidFill>
                <a:latin typeface="Aptos"/>
                <a:ea typeface="Aptos"/>
                <a:cs typeface="Aptos"/>
              </a:defRPr>
            </a:pPr>
            <a:r>
              <a:rPr sz="1875" b="1">
                <a:solidFill>
                  <a:srgbClr val="236FE8"/>
                </a:solidFill>
                <a:latin typeface="Aptos"/>
                <a:ea typeface="Aptos"/>
                <a:cs typeface="Aptos"/>
              </a:rPr>
              <a:t>p95 1.105 s</a:t>
            </a:r>
          </a:p>
        </p:txBody>
      </p:sp>
      <p:sp>
        <p:nvSpPr>
          <p:cNvPr id="20" name="Rectangle 19">
            <a:extLst xmlns:a="http://schemas.openxmlformats.org/drawingml/2006/main">
              <a:ext uri="{FF2B5EF4-FFF2-40B4-BE49-F238E27FC236}">
                <a16:creationId xmlns:a16="http://schemas.microsoft.com/office/drawing/2014/main" id="{BED9797C-FDFE-440B-9CD2-1B213C699ABD}"/>
              </a:ext>
            </a:extLst>
          </p:cNvPr>
          <p:cNvSpPr>
            <a:spLocks xmlns:a="http://schemas.openxmlformats.org/drawingml/2006/main" noGrp="1"/>
          </p:cNvSpPr>
          <p:nvPr/>
        </p:nvSpPr>
        <p:spPr>
          <a:xfrm xmlns:a="http://schemas.openxmlformats.org/drawingml/2006/main">
            <a:off x="7858125" y="5762625"/>
            <a:ext cx="3714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26174"/>
                </a:solidFill>
                <a:latin typeface="Aptos"/>
                <a:ea typeface="Aptos"/>
                <a:cs typeface="Aptos"/>
              </a:defRPr>
            </a:defPPr>
          </a:lstStyle>
          <a:p xmlns:a="http://schemas.openxmlformats.org/drawingml/2006/main">
            <a:pPr algn="l">
              <a:buNone/>
              <a:defRPr sz="1425" b="0">
                <a:solidFill>
                  <a:srgbClr val="526174"/>
                </a:solidFill>
                <a:latin typeface="Aptos"/>
                <a:ea typeface="Aptos"/>
                <a:cs typeface="Aptos"/>
              </a:defRPr>
            </a:pPr>
            <a:r>
              <a:rPr sz="1425" b="0">
                <a:solidFill>
                  <a:srgbClr val="526174"/>
                </a:solidFill>
                <a:latin typeface="Aptos"/>
                <a:ea typeface="Aptos"/>
                <a:cs typeface="Aptos"/>
              </a:rPr>
              <a:t>640 x 640 inputs, n = 100 per device</a:t>
            </a:r>
          </a:p>
          <a:p xmlns:a="http://schemas.openxmlformats.org/drawingml/2006/main">
            <a:pPr algn="l">
              <a:buNone/>
              <a:defRPr sz="1425" b="0">
                <a:solidFill>
                  <a:srgbClr val="526174"/>
                </a:solidFill>
                <a:latin typeface="Aptos"/>
                <a:ea typeface="Aptos"/>
                <a:cs typeface="Aptos"/>
              </a:defRPr>
            </a:pPr>
            <a:r>
              <a:rPr sz="1425" b="0">
                <a:solidFill>
                  <a:srgbClr val="526174"/>
                </a:solidFill>
                <a:latin typeface="Aptos"/>
                <a:ea typeface="Aptos"/>
                <a:cs typeface="Aptos"/>
              </a:rPr>
              <a:t>Camera and communication excluded</a:t>
            </a:r>
          </a:p>
        </p:txBody>
      </p:sp>
    </p:spTree>
    <p:extLst>
      <p:ext uri="{BB962C8B-B14F-4D97-AF65-F5344CB8AC3E}">
        <p14:creationId xmlns:p14="http://schemas.microsoft.com/office/powerpoint/2010/main" val="6510098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traight Connector 21">
            <a:extLst xmlns:a="http://schemas.openxmlformats.org/drawingml/2006/main">
              <a:ext uri="{FF2B5EF4-FFF2-40B4-BE49-F238E27FC236}">
                <a16:creationId xmlns:a16="http://schemas.microsoft.com/office/drawing/2014/main" id="{B5CE4353-134E-4620-9A7C-815FC8E53046}"/>
              </a:ext>
            </a:extLst>
          </p:cNvPr>
          <p:cNvSpPr>
            <a:spLocks xmlns:a="http://schemas.openxmlformats.org/drawingml/2006/main" noGrp="1"/>
          </p:cNvSpPr>
          <p:nvPr/>
        </p:nvSpPr>
        <p:spPr>
          <a:xfrm xmlns:a="http://schemas.openxmlformats.org/drawingml/2006/main">
            <a:off x="0" y="47625"/>
            <a:ext cx="12192000" cy="0"/>
          </a:xfrm>
          <a:prstGeom xmlns:a="http://schemas.openxmlformats.org/drawingml/2006/main" prst="line">
            <a:avLst/>
          </a:prstGeom>
          <a:ln xmlns:a="http://schemas.openxmlformats.org/drawingml/2006/main" w="95250">
            <a:solidFill>
              <a:srgbClr val="0B1F3A"/>
            </a:solidFill>
          </a:ln>
        </p:spPr>
      </p:sp>
      <p:sp>
        <p:nvSpPr>
          <p:cNvPr id="2" name="Rectangle 1">
            <a:extLst xmlns:a="http://schemas.openxmlformats.org/drawingml/2006/main">
              <a:ext uri="{FF2B5EF4-FFF2-40B4-BE49-F238E27FC236}">
                <a16:creationId xmlns:a16="http://schemas.microsoft.com/office/drawing/2014/main" id="{A21C56A0-0E9A-4600-981F-8201DDE45161}"/>
              </a:ext>
            </a:extLst>
          </p:cNvPr>
          <p:cNvSpPr>
            <a:spLocks xmlns:a="http://schemas.openxmlformats.org/drawingml/2006/main" noGrp="1"/>
          </p:cNvSpPr>
          <p:nvPr/>
        </p:nvSpPr>
        <p:spPr>
          <a:xfrm xmlns:a="http://schemas.openxmlformats.org/drawingml/2006/main">
            <a:off x="609600" y="2952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B1F3A"/>
                </a:solidFill>
                <a:latin typeface="Aptos"/>
                <a:ea typeface="Aptos"/>
                <a:cs typeface="Aptos"/>
              </a:defRPr>
            </a:defPPr>
          </a:lstStyle>
          <a:p xmlns:a="http://schemas.openxmlformats.org/drawingml/2006/main">
            <a:pPr>
              <a:buNone/>
              <a:defRPr sz="3000" b="1">
                <a:solidFill>
                  <a:srgbClr val="0B1F3A"/>
                </a:solidFill>
                <a:latin typeface="Aptos"/>
                <a:ea typeface="Aptos"/>
                <a:cs typeface="Aptos"/>
              </a:defRPr>
            </a:pPr>
            <a:r>
              <a:rPr sz="3000" b="1">
                <a:solidFill>
                  <a:srgbClr val="0B1F3A"/>
                </a:solidFill>
                <a:latin typeface="Aptos"/>
                <a:ea typeface="Aptos"/>
                <a:cs typeface="Aptos"/>
              </a:rPr>
              <a:t>30-minute full-service resource evaluation</a:t>
            </a:r>
          </a:p>
        </p:txBody>
      </p:sp>
      <p:sp>
        <p:nvSpPr>
          <p:cNvPr id="3" name="Rectangle 2">
            <a:extLst xmlns:a="http://schemas.openxmlformats.org/drawingml/2006/main">
              <a:ext uri="{FF2B5EF4-FFF2-40B4-BE49-F238E27FC236}">
                <a16:creationId xmlns:a16="http://schemas.microsoft.com/office/drawing/2014/main" id="{4F2BA638-296E-496A-B9A7-EAD755F72F05}"/>
              </a:ext>
            </a:extLst>
          </p:cNvPr>
          <p:cNvSpPr>
            <a:spLocks xmlns:a="http://schemas.openxmlformats.org/drawingml/2006/main" noGrp="1"/>
          </p:cNvSpPr>
          <p:nvPr/>
        </p:nvSpPr>
        <p:spPr>
          <a:xfrm xmlns:a="http://schemas.openxmlformats.org/drawingml/2006/main">
            <a:off x="609600" y="8667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174"/>
                </a:solidFill>
                <a:latin typeface="Aptos"/>
                <a:ea typeface="Aptos"/>
                <a:cs typeface="Aptos"/>
              </a:defRPr>
            </a:defPPr>
          </a:lstStyle>
          <a:p xmlns:a="http://schemas.openxmlformats.org/drawingml/2006/main">
            <a:pPr>
              <a:buNone/>
              <a:defRPr sz="1500" b="0">
                <a:solidFill>
                  <a:srgbClr val="526174"/>
                </a:solidFill>
                <a:latin typeface="Aptos"/>
                <a:ea typeface="Aptos"/>
                <a:cs typeface="Aptos"/>
              </a:defRPr>
            </a:pPr>
            <a:r>
              <a:rPr sz="1500" b="0">
                <a:solidFill>
                  <a:srgbClr val="526174"/>
                </a:solidFill>
                <a:latin typeface="Aptos"/>
                <a:ea typeface="Aptos"/>
                <a:cs typeface="Aptos"/>
              </a:rPr>
              <a:t>30,426 Sentinel frames. No recorded crash, OOM or thermal shutdown.</a:t>
            </a:r>
          </a:p>
        </p:txBody>
      </p:sp>
      <p:sp>
        <p:nvSpPr>
          <p:cNvPr id="4" name="Straight Connector 3">
            <a:extLst xmlns:a="http://schemas.openxmlformats.org/drawingml/2006/main">
              <a:ext uri="{FF2B5EF4-FFF2-40B4-BE49-F238E27FC236}">
                <a16:creationId xmlns:a16="http://schemas.microsoft.com/office/drawing/2014/main" id="{B68227DE-8D90-46FE-87C8-F9DC3DC90A14}"/>
              </a:ext>
            </a:extLst>
          </p:cNvPr>
          <p:cNvSpPr>
            <a:spLocks xmlns:a="http://schemas.openxmlformats.org/drawingml/2006/main" noGrp="1"/>
          </p:cNvSpPr>
          <p:nvPr/>
        </p:nvSpPr>
        <p:spPr>
          <a:xfrm xmlns:a="http://schemas.openxmlformats.org/drawingml/2006/main">
            <a:off x="609600" y="1266825"/>
            <a:ext cx="10972800" cy="0"/>
          </a:xfrm>
          <a:prstGeom xmlns:a="http://schemas.openxmlformats.org/drawingml/2006/main" prst="line">
            <a:avLst/>
          </a:prstGeom>
          <a:ln xmlns:a="http://schemas.openxmlformats.org/drawingml/2006/main" w="9525">
            <a:solidFill>
              <a:srgbClr val="D7DEE8"/>
            </a:solidFill>
          </a:ln>
        </p:spPr>
      </p:sp>
      <p:sp>
        <p:nvSpPr>
          <p:cNvPr id="5" name="Rectangle 4">
            <a:extLst xmlns:a="http://schemas.openxmlformats.org/drawingml/2006/main">
              <a:ext uri="{FF2B5EF4-FFF2-40B4-BE49-F238E27FC236}">
                <a16:creationId xmlns:a16="http://schemas.microsoft.com/office/drawing/2014/main" id="{35D4AED7-5A99-4191-B8DC-D50FD95411C1}"/>
              </a:ext>
            </a:extLst>
          </p:cNvPr>
          <p:cNvSpPr>
            <a:spLocks xmlns:a="http://schemas.openxmlformats.org/drawingml/2006/main" noGrp="1"/>
          </p:cNvSpPr>
          <p:nvPr/>
        </p:nvSpPr>
        <p:spPr>
          <a:xfrm xmlns:a="http://schemas.openxmlformats.org/drawingml/2006/main">
            <a:off x="9115425" y="135255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DF750E"/>
                </a:solidFill>
                <a:latin typeface="Aptos"/>
                <a:ea typeface="Aptos"/>
                <a:cs typeface="Aptos"/>
              </a:defRPr>
            </a:defPPr>
          </a:lstStyle>
          <a:p xmlns:a="http://schemas.openxmlformats.org/drawingml/2006/main">
            <a:pPr>
              <a:buNone/>
              <a:defRPr sz="1500" b="1">
                <a:solidFill>
                  <a:srgbClr val="DF750E"/>
                </a:solidFill>
                <a:latin typeface="Aptos"/>
                <a:ea typeface="Aptos"/>
                <a:cs typeface="Aptos"/>
              </a:defRPr>
            </a:pPr>
            <a:r>
              <a:rPr sz="1500" b="1">
                <a:solidFill>
                  <a:srgbClr val="DF750E"/>
                </a:solidFill>
                <a:latin typeface="Aptos"/>
                <a:ea typeface="Aptos"/>
                <a:cs typeface="Aptos"/>
              </a:rPr>
              <a:t>Sentinel</a:t>
            </a:r>
          </a:p>
        </p:txBody>
      </p:sp>
      <p:sp>
        <p:nvSpPr>
          <p:cNvPr id="6" name="Rectangle 5">
            <a:extLst xmlns:a="http://schemas.openxmlformats.org/drawingml/2006/main">
              <a:ext uri="{FF2B5EF4-FFF2-40B4-BE49-F238E27FC236}">
                <a16:creationId xmlns:a16="http://schemas.microsoft.com/office/drawing/2014/main" id="{E9DDA5FE-F47C-4CA0-B4CC-279FBEA7889C}"/>
              </a:ext>
            </a:extLst>
          </p:cNvPr>
          <p:cNvSpPr>
            <a:spLocks xmlns:a="http://schemas.openxmlformats.org/drawingml/2006/main" noGrp="1"/>
          </p:cNvSpPr>
          <p:nvPr/>
        </p:nvSpPr>
        <p:spPr>
          <a:xfrm xmlns:a="http://schemas.openxmlformats.org/drawingml/2006/main">
            <a:off x="10572750" y="135255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236FE8"/>
                </a:solidFill>
                <a:latin typeface="Aptos"/>
                <a:ea typeface="Aptos"/>
                <a:cs typeface="Aptos"/>
              </a:defRPr>
            </a:defPPr>
          </a:lstStyle>
          <a:p xmlns:a="http://schemas.openxmlformats.org/drawingml/2006/main">
            <a:pPr>
              <a:buNone/>
              <a:defRPr sz="1500" b="1">
                <a:solidFill>
                  <a:srgbClr val="236FE8"/>
                </a:solidFill>
                <a:latin typeface="Aptos"/>
                <a:ea typeface="Aptos"/>
                <a:cs typeface="Aptos"/>
              </a:defRPr>
            </a:pPr>
            <a:r>
              <a:rPr sz="1500" b="1">
                <a:solidFill>
                  <a:srgbClr val="236FE8"/>
                </a:solidFill>
                <a:latin typeface="Aptos"/>
                <a:ea typeface="Aptos"/>
                <a:cs typeface="Aptos"/>
              </a:rPr>
              <a:t>Scout</a:t>
            </a:r>
          </a:p>
        </p:txBody>
      </p:sp>
      <p:sp>
        <p:nvSpPr>
          <p:cNvPr id="7" name="Rectangle 6">
            <a:extLst xmlns:a="http://schemas.openxmlformats.org/drawingml/2006/main">
              <a:ext uri="{FF2B5EF4-FFF2-40B4-BE49-F238E27FC236}">
                <a16:creationId xmlns:a16="http://schemas.microsoft.com/office/drawing/2014/main" id="{BFE0ED39-1B65-43DF-ACC3-4CD0D795BF3F}"/>
              </a:ext>
            </a:extLst>
          </p:cNvPr>
          <p:cNvSpPr>
            <a:spLocks xmlns:a="http://schemas.openxmlformats.org/drawingml/2006/main" noGrp="1"/>
          </p:cNvSpPr>
          <p:nvPr/>
        </p:nvSpPr>
        <p:spPr>
          <a:xfrm xmlns:a="http://schemas.openxmlformats.org/drawingml/2006/main">
            <a:off x="609600" y="1619250"/>
            <a:ext cx="523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0B1F3A"/>
                </a:solidFill>
                <a:latin typeface="Aptos"/>
                <a:ea typeface="Aptos"/>
                <a:cs typeface="Aptos"/>
              </a:defRPr>
            </a:defPPr>
          </a:lstStyle>
          <a:p xmlns:a="http://schemas.openxmlformats.org/drawingml/2006/main">
            <a:pPr>
              <a:buNone/>
              <a:defRPr sz="1875" b="1">
                <a:solidFill>
                  <a:srgbClr val="0B1F3A"/>
                </a:solidFill>
                <a:latin typeface="Aptos"/>
                <a:ea typeface="Aptos"/>
                <a:cs typeface="Aptos"/>
              </a:defRPr>
            </a:pPr>
            <a:r>
              <a:rPr sz="1875" b="1">
                <a:solidFill>
                  <a:srgbClr val="0B1F3A"/>
                </a:solidFill>
                <a:latin typeface="Aptos"/>
                <a:ea typeface="Aptos"/>
                <a:cs typeface="Aptos"/>
              </a:rPr>
              <a:t>Host CPU (%)</a:t>
            </a:r>
          </a:p>
        </p:txBody>
      </p:sp>
      <p:graphicFrame>
        <p:nvGraphicFramePr>
          <p:cNvPr id="8" name="Chart">
            <a:extLst xmlns:a="http://schemas.openxmlformats.org/drawingml/2006/main">
              <a:ext uri="{FF2B5EF4-FFF2-40B4-BE49-F238E27FC236}">
                <a16:creationId xmlns:a16="http://schemas.microsoft.com/office/drawing/2014/main" id="{30AFAF58-D794-4927-BBDA-9673923D46FC}"/>
              </a:ext>
            </a:extLst>
          </p:cNvPr>
          <p:cNvGraphicFramePr/>
          <p:nvPr/>
        </p:nvGraphicFramePr>
        <p:xfrm>
          <a:off xmlns:a="http://schemas.openxmlformats.org/drawingml/2006/main" x="609600" y="1971675"/>
          <a:ext xmlns:a="http://schemas.openxmlformats.org/drawingml/2006/main" cx="5238750" cy="1581150"/>
        </p:xfrm>
        <a:graphic xmlns:a="http://schemas.openxmlformats.org/drawingml/2006/main">
          <a:graphicData uri="http://schemas.openxmlformats.org/drawingml/2006/chart">
            <c:chart xmlns:r="http://schemas.openxmlformats.org/officeDocument/2006/relationships" xmlns:c="http://schemas.openxmlformats.org/drawingml/2006/chart" r:id="R06bd9098a775417c"/>
          </a:graphicData>
        </a:graphic>
      </p:graphicFrame>
      <p:sp>
        <p:nvSpPr>
          <p:cNvPr id="9" name="Rectangle 8">
            <a:extLst xmlns:a="http://schemas.openxmlformats.org/drawingml/2006/main">
              <a:ext uri="{FF2B5EF4-FFF2-40B4-BE49-F238E27FC236}">
                <a16:creationId xmlns:a16="http://schemas.microsoft.com/office/drawing/2014/main" id="{A796677E-6919-48C0-A75B-62A70BE467B1}"/>
              </a:ext>
            </a:extLst>
          </p:cNvPr>
          <p:cNvSpPr>
            <a:spLocks xmlns:a="http://schemas.openxmlformats.org/drawingml/2006/main" noGrp="1"/>
          </p:cNvSpPr>
          <p:nvPr/>
        </p:nvSpPr>
        <p:spPr>
          <a:xfrm xmlns:a="http://schemas.openxmlformats.org/drawingml/2006/main">
            <a:off x="609600" y="36004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174"/>
                </a:solidFill>
                <a:latin typeface="Aptos"/>
                <a:ea typeface="Aptos"/>
                <a:cs typeface="Aptos"/>
              </a:defRPr>
            </a:defPPr>
          </a:lstStyle>
          <a:p xmlns:a="http://schemas.openxmlformats.org/drawingml/2006/main">
            <a:pPr>
              <a:buNone/>
              <a:defRPr sz="1425" b="0">
                <a:solidFill>
                  <a:srgbClr val="526174"/>
                </a:solidFill>
                <a:latin typeface="Aptos"/>
                <a:ea typeface="Aptos"/>
                <a:cs typeface="Aptos"/>
              </a:defRPr>
            </a:pPr>
            <a:r>
              <a:rPr sz="1425" b="0">
                <a:solidFill>
                  <a:srgbClr val="526174"/>
                </a:solidFill>
                <a:latin typeface="Aptos"/>
                <a:ea typeface="Aptos"/>
                <a:cs typeface="Aptos"/>
              </a:rPr>
              <a:t>Raw maximum: 67.4 / 60.3%</a:t>
            </a:r>
          </a:p>
        </p:txBody>
      </p:sp>
      <p:sp>
        <p:nvSpPr>
          <p:cNvPr id="10" name="Rectangle 9">
            <a:extLst xmlns:a="http://schemas.openxmlformats.org/drawingml/2006/main">
              <a:ext uri="{FF2B5EF4-FFF2-40B4-BE49-F238E27FC236}">
                <a16:creationId xmlns:a16="http://schemas.microsoft.com/office/drawing/2014/main" id="{FC9E0E7A-129B-4E14-A035-4F583FD6EB09}"/>
              </a:ext>
            </a:extLst>
          </p:cNvPr>
          <p:cNvSpPr>
            <a:spLocks xmlns:a="http://schemas.openxmlformats.org/drawingml/2006/main" noGrp="1"/>
          </p:cNvSpPr>
          <p:nvPr/>
        </p:nvSpPr>
        <p:spPr>
          <a:xfrm xmlns:a="http://schemas.openxmlformats.org/drawingml/2006/main">
            <a:off x="6248400" y="1619250"/>
            <a:ext cx="523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0B1F3A"/>
                </a:solidFill>
                <a:latin typeface="Aptos"/>
                <a:ea typeface="Aptos"/>
                <a:cs typeface="Aptos"/>
              </a:defRPr>
            </a:defPPr>
          </a:lstStyle>
          <a:p xmlns:a="http://schemas.openxmlformats.org/drawingml/2006/main">
            <a:pPr>
              <a:buNone/>
              <a:defRPr sz="1875" b="1">
                <a:solidFill>
                  <a:srgbClr val="0B1F3A"/>
                </a:solidFill>
                <a:latin typeface="Aptos"/>
                <a:ea typeface="Aptos"/>
                <a:cs typeface="Aptos"/>
              </a:defRPr>
            </a:pPr>
            <a:r>
              <a:rPr sz="1875" b="1">
                <a:solidFill>
                  <a:srgbClr val="0B1F3A"/>
                </a:solidFill>
                <a:latin typeface="Aptos"/>
                <a:ea typeface="Aptos"/>
                <a:cs typeface="Aptos"/>
              </a:rPr>
              <a:t>Available memory (MiB)</a:t>
            </a:r>
          </a:p>
        </p:txBody>
      </p:sp>
      <p:graphicFrame>
        <p:nvGraphicFramePr>
          <p:cNvPr id="11" name="Chart">
            <a:extLst xmlns:a="http://schemas.openxmlformats.org/drawingml/2006/main">
              <a:ext uri="{FF2B5EF4-FFF2-40B4-BE49-F238E27FC236}">
                <a16:creationId xmlns:a16="http://schemas.microsoft.com/office/drawing/2014/main" id="{B81DDDDA-ABB6-49E3-92F8-EA726D33D072}"/>
              </a:ext>
            </a:extLst>
          </p:cNvPr>
          <p:cNvGraphicFramePr/>
          <p:nvPr/>
        </p:nvGraphicFramePr>
        <p:xfrm>
          <a:off xmlns:a="http://schemas.openxmlformats.org/drawingml/2006/main" x="6248400" y="1971675"/>
          <a:ext xmlns:a="http://schemas.openxmlformats.org/drawingml/2006/main" cx="5238750" cy="1581150"/>
        </p:xfrm>
        <a:graphic xmlns:a="http://schemas.openxmlformats.org/drawingml/2006/main">
          <a:graphicData uri="http://schemas.openxmlformats.org/drawingml/2006/chart">
            <c:chart xmlns:r="http://schemas.openxmlformats.org/officeDocument/2006/relationships" xmlns:c="http://schemas.openxmlformats.org/drawingml/2006/chart" r:id="R407d15acba0342c0"/>
          </a:graphicData>
        </a:graphic>
      </p:graphicFrame>
      <p:sp>
        <p:nvSpPr>
          <p:cNvPr id="12" name="Rectangle 11">
            <a:extLst xmlns:a="http://schemas.openxmlformats.org/drawingml/2006/main">
              <a:ext uri="{FF2B5EF4-FFF2-40B4-BE49-F238E27FC236}">
                <a16:creationId xmlns:a16="http://schemas.microsoft.com/office/drawing/2014/main" id="{F58E3DF6-6451-4224-B1AC-5818AEA508AF}"/>
              </a:ext>
            </a:extLst>
          </p:cNvPr>
          <p:cNvSpPr>
            <a:spLocks xmlns:a="http://schemas.openxmlformats.org/drawingml/2006/main" noGrp="1"/>
          </p:cNvSpPr>
          <p:nvPr/>
        </p:nvSpPr>
        <p:spPr>
          <a:xfrm xmlns:a="http://schemas.openxmlformats.org/drawingml/2006/main">
            <a:off x="6248400" y="36004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174"/>
                </a:solidFill>
                <a:latin typeface="Aptos"/>
                <a:ea typeface="Aptos"/>
                <a:cs typeface="Aptos"/>
              </a:defRPr>
            </a:defPPr>
          </a:lstStyle>
          <a:p xmlns:a="http://schemas.openxmlformats.org/drawingml/2006/main">
            <a:pPr>
              <a:buNone/>
              <a:defRPr sz="1425" b="0">
                <a:solidFill>
                  <a:srgbClr val="526174"/>
                </a:solidFill>
                <a:latin typeface="Aptos"/>
                <a:ea typeface="Aptos"/>
                <a:cs typeface="Aptos"/>
              </a:defRPr>
            </a:pPr>
            <a:r>
              <a:rPr sz="1425" b="0">
                <a:solidFill>
                  <a:srgbClr val="526174"/>
                </a:solidFill>
                <a:latin typeface="Aptos"/>
                <a:ea typeface="Aptos"/>
                <a:cs typeface="Aptos"/>
              </a:rPr>
              <a:t>Raw minimum: 1590 / 4874 MiB</a:t>
            </a:r>
          </a:p>
        </p:txBody>
      </p:sp>
      <p:sp>
        <p:nvSpPr>
          <p:cNvPr id="13" name="Rectangle 12">
            <a:extLst xmlns:a="http://schemas.openxmlformats.org/drawingml/2006/main">
              <a:ext uri="{FF2B5EF4-FFF2-40B4-BE49-F238E27FC236}">
                <a16:creationId xmlns:a16="http://schemas.microsoft.com/office/drawing/2014/main" id="{3649CFAA-34D4-48E3-821C-CC0BB9B726E6}"/>
              </a:ext>
            </a:extLst>
          </p:cNvPr>
          <p:cNvSpPr>
            <a:spLocks xmlns:a="http://schemas.openxmlformats.org/drawingml/2006/main" noGrp="1"/>
          </p:cNvSpPr>
          <p:nvPr/>
        </p:nvSpPr>
        <p:spPr>
          <a:xfrm xmlns:a="http://schemas.openxmlformats.org/drawingml/2006/main">
            <a:off x="609600" y="3905250"/>
            <a:ext cx="523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0B1F3A"/>
                </a:solidFill>
                <a:latin typeface="Aptos"/>
                <a:ea typeface="Aptos"/>
                <a:cs typeface="Aptos"/>
              </a:defRPr>
            </a:defPPr>
          </a:lstStyle>
          <a:p xmlns:a="http://schemas.openxmlformats.org/drawingml/2006/main">
            <a:pPr>
              <a:buNone/>
              <a:defRPr sz="1875" b="1">
                <a:solidFill>
                  <a:srgbClr val="0B1F3A"/>
                </a:solidFill>
                <a:latin typeface="Aptos"/>
                <a:ea typeface="Aptos"/>
                <a:cs typeface="Aptos"/>
              </a:defRPr>
            </a:pPr>
            <a:r>
              <a:rPr sz="1875" b="1">
                <a:solidFill>
                  <a:srgbClr val="0B1F3A"/>
                </a:solidFill>
                <a:latin typeface="Aptos"/>
                <a:ea typeface="Aptos"/>
                <a:cs typeface="Aptos"/>
              </a:rPr>
              <a:t>Peak thermal-zone reading (°C)</a:t>
            </a:r>
          </a:p>
        </p:txBody>
      </p:sp>
      <p:graphicFrame>
        <p:nvGraphicFramePr>
          <p:cNvPr id="14" name="Chart">
            <a:extLst xmlns:a="http://schemas.openxmlformats.org/drawingml/2006/main">
              <a:ext uri="{FF2B5EF4-FFF2-40B4-BE49-F238E27FC236}">
                <a16:creationId xmlns:a16="http://schemas.microsoft.com/office/drawing/2014/main" id="{A4204F36-4DB5-4494-82FC-8D4A950B5E11}"/>
              </a:ext>
            </a:extLst>
          </p:cNvPr>
          <p:cNvGraphicFramePr/>
          <p:nvPr/>
        </p:nvGraphicFramePr>
        <p:xfrm>
          <a:off xmlns:a="http://schemas.openxmlformats.org/drawingml/2006/main" x="609600" y="4257675"/>
          <a:ext xmlns:a="http://schemas.openxmlformats.org/drawingml/2006/main" cx="5238750" cy="1581150"/>
        </p:xfrm>
        <a:graphic xmlns:a="http://schemas.openxmlformats.org/drawingml/2006/main">
          <a:graphicData uri="http://schemas.openxmlformats.org/drawingml/2006/chart">
            <c:chart xmlns:r="http://schemas.openxmlformats.org/officeDocument/2006/relationships" xmlns:c="http://schemas.openxmlformats.org/drawingml/2006/chart" r:id="Rd227892c2d76400e"/>
          </a:graphicData>
        </a:graphic>
      </p:graphicFrame>
      <p:sp>
        <p:nvSpPr>
          <p:cNvPr id="15" name="Rectangle 14">
            <a:extLst xmlns:a="http://schemas.openxmlformats.org/drawingml/2006/main">
              <a:ext uri="{FF2B5EF4-FFF2-40B4-BE49-F238E27FC236}">
                <a16:creationId xmlns:a16="http://schemas.microsoft.com/office/drawing/2014/main" id="{2974ED1F-3E46-40C8-A92A-37032E5C4419}"/>
              </a:ext>
            </a:extLst>
          </p:cNvPr>
          <p:cNvSpPr>
            <a:spLocks xmlns:a="http://schemas.openxmlformats.org/drawingml/2006/main" noGrp="1"/>
          </p:cNvSpPr>
          <p:nvPr/>
        </p:nvSpPr>
        <p:spPr>
          <a:xfrm xmlns:a="http://schemas.openxmlformats.org/drawingml/2006/main">
            <a:off x="609600" y="58864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174"/>
                </a:solidFill>
                <a:latin typeface="Aptos"/>
                <a:ea typeface="Aptos"/>
                <a:cs typeface="Aptos"/>
              </a:defRPr>
            </a:defPPr>
          </a:lstStyle>
          <a:p xmlns:a="http://schemas.openxmlformats.org/drawingml/2006/main">
            <a:pPr>
              <a:buNone/>
              <a:defRPr sz="1425" b="0">
                <a:solidFill>
                  <a:srgbClr val="526174"/>
                </a:solidFill>
                <a:latin typeface="Aptos"/>
                <a:ea typeface="Aptos"/>
                <a:cs typeface="Aptos"/>
              </a:defRPr>
            </a:pPr>
            <a:r>
              <a:rPr sz="1425" b="0">
                <a:solidFill>
                  <a:srgbClr val="526174"/>
                </a:solidFill>
                <a:latin typeface="Aptos"/>
                <a:ea typeface="Aptos"/>
                <a:cs typeface="Aptos"/>
              </a:rPr>
              <a:t>Raw maximum: 51.0 / 48.2 °C</a:t>
            </a:r>
          </a:p>
        </p:txBody>
      </p:sp>
      <p:sp>
        <p:nvSpPr>
          <p:cNvPr id="16" name="Rectangle 15">
            <a:extLst xmlns:a="http://schemas.openxmlformats.org/drawingml/2006/main">
              <a:ext uri="{FF2B5EF4-FFF2-40B4-BE49-F238E27FC236}">
                <a16:creationId xmlns:a16="http://schemas.microsoft.com/office/drawing/2014/main" id="{5FCBC884-1E4F-49E0-8E58-0344274DBC07}"/>
              </a:ext>
            </a:extLst>
          </p:cNvPr>
          <p:cNvSpPr>
            <a:spLocks xmlns:a="http://schemas.openxmlformats.org/drawingml/2006/main" noGrp="1"/>
          </p:cNvSpPr>
          <p:nvPr/>
        </p:nvSpPr>
        <p:spPr>
          <a:xfrm xmlns:a="http://schemas.openxmlformats.org/drawingml/2006/main">
            <a:off x="6248400" y="3905250"/>
            <a:ext cx="523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0B1F3A"/>
                </a:solidFill>
                <a:latin typeface="Aptos"/>
                <a:ea typeface="Aptos"/>
                <a:cs typeface="Aptos"/>
              </a:defRPr>
            </a:defPPr>
          </a:lstStyle>
          <a:p xmlns:a="http://schemas.openxmlformats.org/drawingml/2006/main">
            <a:pPr>
              <a:buNone/>
              <a:defRPr sz="1875" b="1">
                <a:solidFill>
                  <a:srgbClr val="0B1F3A"/>
                </a:solidFill>
                <a:latin typeface="Aptos"/>
                <a:ea typeface="Aptos"/>
                <a:cs typeface="Aptos"/>
              </a:defRPr>
            </a:pPr>
            <a:r>
              <a:rPr sz="1875" b="1">
                <a:solidFill>
                  <a:srgbClr val="0B1F3A"/>
                </a:solidFill>
                <a:latin typeface="Aptos"/>
                <a:ea typeface="Aptos"/>
                <a:cs typeface="Aptos"/>
              </a:rPr>
              <a:t>Swap used (MiB), raw trace</a:t>
            </a:r>
          </a:p>
        </p:txBody>
      </p:sp>
      <p:graphicFrame>
        <p:nvGraphicFramePr>
          <p:cNvPr id="17" name="Chart">
            <a:extLst xmlns:a="http://schemas.openxmlformats.org/drawingml/2006/main">
              <a:ext uri="{FF2B5EF4-FFF2-40B4-BE49-F238E27FC236}">
                <a16:creationId xmlns:a16="http://schemas.microsoft.com/office/drawing/2014/main" id="{544CAC8F-7170-4878-A798-116A0FD19C33}"/>
              </a:ext>
            </a:extLst>
          </p:cNvPr>
          <p:cNvGraphicFramePr/>
          <p:nvPr/>
        </p:nvGraphicFramePr>
        <p:xfrm>
          <a:off xmlns:a="http://schemas.openxmlformats.org/drawingml/2006/main" x="6248400" y="4257675"/>
          <a:ext xmlns:a="http://schemas.openxmlformats.org/drawingml/2006/main" cx="5238750" cy="1581150"/>
        </p:xfrm>
        <a:graphic xmlns:a="http://schemas.openxmlformats.org/drawingml/2006/main">
          <a:graphicData uri="http://schemas.openxmlformats.org/drawingml/2006/chart">
            <c:chart xmlns:r="http://schemas.openxmlformats.org/officeDocument/2006/relationships" xmlns:c="http://schemas.openxmlformats.org/drawingml/2006/chart" r:id="R9539566ba85946c2"/>
          </a:graphicData>
        </a:graphic>
      </p:graphicFrame>
      <p:sp>
        <p:nvSpPr>
          <p:cNvPr id="18" name="Rectangle 17">
            <a:extLst xmlns:a="http://schemas.openxmlformats.org/drawingml/2006/main">
              <a:ext uri="{FF2B5EF4-FFF2-40B4-BE49-F238E27FC236}">
                <a16:creationId xmlns:a16="http://schemas.microsoft.com/office/drawing/2014/main" id="{93106D90-63A6-4975-9473-AEDAE59419B8}"/>
              </a:ext>
            </a:extLst>
          </p:cNvPr>
          <p:cNvSpPr>
            <a:spLocks xmlns:a="http://schemas.openxmlformats.org/drawingml/2006/main" noGrp="1"/>
          </p:cNvSpPr>
          <p:nvPr/>
        </p:nvSpPr>
        <p:spPr>
          <a:xfrm xmlns:a="http://schemas.openxmlformats.org/drawingml/2006/main">
            <a:off x="6248400" y="58864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174"/>
                </a:solidFill>
                <a:latin typeface="Aptos"/>
                <a:ea typeface="Aptos"/>
                <a:cs typeface="Aptos"/>
              </a:defRPr>
            </a:defPPr>
          </a:lstStyle>
          <a:p xmlns:a="http://schemas.openxmlformats.org/drawingml/2006/main">
            <a:pPr>
              <a:buNone/>
              <a:defRPr sz="1425" b="0">
                <a:solidFill>
                  <a:srgbClr val="526174"/>
                </a:solidFill>
                <a:latin typeface="Aptos"/>
                <a:ea typeface="Aptos"/>
                <a:cs typeface="Aptos"/>
              </a:defRPr>
            </a:pPr>
            <a:r>
              <a:rPr sz="1425" b="0">
                <a:solidFill>
                  <a:srgbClr val="526174"/>
                </a:solidFill>
                <a:latin typeface="Aptos"/>
                <a:ea typeface="Aptos"/>
                <a:cs typeface="Aptos"/>
              </a:rPr>
              <a:t>Raw change: +0.922 / 0.000 MiB</a:t>
            </a:r>
          </a:p>
        </p:txBody>
      </p:sp>
      <p:sp>
        <p:nvSpPr>
          <p:cNvPr id="19" name="Rectangle 18">
            <a:extLst xmlns:a="http://schemas.openxmlformats.org/drawingml/2006/main">
              <a:ext uri="{FF2B5EF4-FFF2-40B4-BE49-F238E27FC236}">
                <a16:creationId xmlns:a16="http://schemas.microsoft.com/office/drawing/2014/main" id="{EF96FBD0-1D25-408A-B8EC-411821A1A71B}"/>
              </a:ext>
            </a:extLst>
          </p:cNvPr>
          <p:cNvSpPr>
            <a:spLocks xmlns:a="http://schemas.openxmlformats.org/drawingml/2006/main" noGrp="1"/>
          </p:cNvSpPr>
          <p:nvPr/>
        </p:nvSpPr>
        <p:spPr>
          <a:xfrm xmlns:a="http://schemas.openxmlformats.org/drawingml/2006/main">
            <a:off x="609600" y="62674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174"/>
                </a:solidFill>
                <a:latin typeface="Aptos"/>
                <a:ea typeface="Aptos"/>
                <a:cs typeface="Aptos"/>
              </a:defRPr>
            </a:defPPr>
          </a:lstStyle>
          <a:p xmlns:a="http://schemas.openxmlformats.org/drawingml/2006/main">
            <a:pPr>
              <a:buNone/>
              <a:defRPr sz="1350" b="0">
                <a:solidFill>
                  <a:srgbClr val="526174"/>
                </a:solidFill>
                <a:latin typeface="Aptos"/>
                <a:ea typeface="Aptos"/>
                <a:cs typeface="Aptos"/>
              </a:defRPr>
            </a:pPr>
            <a:r>
              <a:rPr sz="1350" b="0">
                <a:solidFill>
                  <a:srgbClr val="526174"/>
                </a:solidFill>
                <a:latin typeface="Aptos"/>
                <a:ea typeface="Aptos"/>
                <a:cs typeface="Aptos"/>
              </a:rPr>
              <a:t>CPU, memory and temperature: 1-min means. Swap: raw. Extrema above use unaveraged samples.</a:t>
            </a:r>
          </a:p>
        </p:txBody>
      </p:sp>
      <p:sp>
        <p:nvSpPr>
          <p:cNvPr id="21" name="Rectangle 20">
            <a:extLst xmlns:a="http://schemas.openxmlformats.org/drawingml/2006/main">
              <a:ext uri="{FF2B5EF4-FFF2-40B4-BE49-F238E27FC236}">
                <a16:creationId xmlns:a16="http://schemas.microsoft.com/office/drawing/2014/main" id="{5E0E8B22-BD8D-4C39-B948-083BAAEE175E}"/>
              </a:ext>
            </a:extLst>
          </p:cNvPr>
          <p:cNvSpPr>
            <a:spLocks xmlns:a="http://schemas.openxmlformats.org/drawingml/2006/main" noGrp="1"/>
          </p:cNvSpPr>
          <p:nvPr/>
        </p:nvSpPr>
        <p:spPr>
          <a:xfrm xmlns:a="http://schemas.openxmlformats.org/drawingml/2006/main">
            <a:off x="11144250" y="6572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526174"/>
                </a:solidFill>
                <a:latin typeface="Aptos"/>
                <a:ea typeface="Aptos"/>
                <a:cs typeface="Aptos"/>
              </a:defRPr>
            </a:defPPr>
          </a:lstStyle>
          <a:p xmlns:a="http://schemas.openxmlformats.org/drawingml/2006/main">
            <a:pPr>
              <a:buNone/>
              <a:defRPr sz="975" b="0">
                <a:solidFill>
                  <a:srgbClr val="526174"/>
                </a:solidFill>
                <a:latin typeface="Aptos"/>
                <a:ea typeface="Aptos"/>
                <a:cs typeface="Aptos"/>
              </a:defRPr>
            </a:pPr>
            <a:r>
              <a:rPr sz="975" b="0">
                <a:solidFill>
                  <a:srgbClr val="526174"/>
                </a:solidFill>
                <a:latin typeface="Aptos"/>
                <a:ea typeface="Aptos"/>
                <a:cs typeface="Aptos"/>
              </a:rPr>
              <a:t>6</a:t>
            </a:r>
          </a:p>
        </p:txBody>
      </p:sp>
    </p:spTree>
    <p:extLst>
      <p:ext uri="{BB962C8B-B14F-4D97-AF65-F5344CB8AC3E}">
        <p14:creationId xmlns:p14="http://schemas.microsoft.com/office/powerpoint/2010/main" val="10641593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traight Connector 20">
            <a:extLst xmlns:a="http://schemas.openxmlformats.org/drawingml/2006/main">
              <a:ext uri="{FF2B5EF4-FFF2-40B4-BE49-F238E27FC236}">
                <a16:creationId xmlns:a16="http://schemas.microsoft.com/office/drawing/2014/main" id="{A085F1D4-6608-4AA6-8A31-AD6FE7BA12A2}"/>
              </a:ext>
            </a:extLst>
          </p:cNvPr>
          <p:cNvSpPr>
            <a:spLocks xmlns:a="http://schemas.openxmlformats.org/drawingml/2006/main" noGrp="1"/>
          </p:cNvSpPr>
          <p:nvPr/>
        </p:nvSpPr>
        <p:spPr>
          <a:xfrm xmlns:a="http://schemas.openxmlformats.org/drawingml/2006/main">
            <a:off x="0" y="47625"/>
            <a:ext cx="12192000" cy="0"/>
          </a:xfrm>
          <a:prstGeom xmlns:a="http://schemas.openxmlformats.org/drawingml/2006/main" prst="line">
            <a:avLst/>
          </a:prstGeom>
          <a:ln xmlns:a="http://schemas.openxmlformats.org/drawingml/2006/main" w="95250">
            <a:solidFill>
              <a:srgbClr val="0B1F3A"/>
            </a:solidFill>
          </a:ln>
        </p:spPr>
      </p:sp>
      <p:sp>
        <p:nvSpPr>
          <p:cNvPr id="2" name="Rectangle 1">
            <a:extLst xmlns:a="http://schemas.openxmlformats.org/drawingml/2006/main">
              <a:ext uri="{FF2B5EF4-FFF2-40B4-BE49-F238E27FC236}">
                <a16:creationId xmlns:a16="http://schemas.microsoft.com/office/drawing/2014/main" id="{B8CC65A1-BF0D-4187-B655-4355E066EA08}"/>
              </a:ext>
            </a:extLst>
          </p:cNvPr>
          <p:cNvSpPr>
            <a:spLocks xmlns:a="http://schemas.openxmlformats.org/drawingml/2006/main" noGrp="1"/>
          </p:cNvSpPr>
          <p:nvPr/>
        </p:nvSpPr>
        <p:spPr>
          <a:xfrm xmlns:a="http://schemas.openxmlformats.org/drawingml/2006/main">
            <a:off x="609600" y="2952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B1F3A"/>
                </a:solidFill>
                <a:latin typeface="Aptos"/>
                <a:ea typeface="Aptos"/>
                <a:cs typeface="Aptos"/>
              </a:defRPr>
            </a:defPPr>
          </a:lstStyle>
          <a:p xmlns:a="http://schemas.openxmlformats.org/drawingml/2006/main">
            <a:pPr>
              <a:buNone/>
              <a:defRPr sz="3000" b="1">
                <a:solidFill>
                  <a:srgbClr val="0B1F3A"/>
                </a:solidFill>
                <a:latin typeface="Aptos"/>
                <a:ea typeface="Aptos"/>
                <a:cs typeface="Aptos"/>
              </a:defRPr>
            </a:pPr>
            <a:r>
              <a:rPr sz="3000" b="1">
                <a:solidFill>
                  <a:srgbClr val="0B1F3A"/>
                </a:solidFill>
                <a:latin typeface="Aptos"/>
                <a:ea typeface="Aptos"/>
                <a:cs typeface="Aptos"/>
              </a:rPr>
              <a:t>Wireless detection and Scout verification</a:t>
            </a:r>
          </a:p>
        </p:txBody>
      </p:sp>
      <p:sp>
        <p:nvSpPr>
          <p:cNvPr id="3" name="Rectangle 2">
            <a:extLst xmlns:a="http://schemas.openxmlformats.org/drawingml/2006/main">
              <a:ext uri="{FF2B5EF4-FFF2-40B4-BE49-F238E27FC236}">
                <a16:creationId xmlns:a16="http://schemas.microsoft.com/office/drawing/2014/main" id="{94655982-8F1E-4786-A718-F2BFCD1BFA58}"/>
              </a:ext>
            </a:extLst>
          </p:cNvPr>
          <p:cNvSpPr>
            <a:spLocks xmlns:a="http://schemas.openxmlformats.org/drawingml/2006/main" noGrp="1"/>
          </p:cNvSpPr>
          <p:nvPr/>
        </p:nvSpPr>
        <p:spPr>
          <a:xfrm xmlns:a="http://schemas.openxmlformats.org/drawingml/2006/main">
            <a:off x="609600" y="8667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174"/>
                </a:solidFill>
                <a:latin typeface="Aptos"/>
                <a:ea typeface="Aptos"/>
                <a:cs typeface="Aptos"/>
              </a:defRPr>
            </a:defPPr>
          </a:lstStyle>
          <a:p xmlns:a="http://schemas.openxmlformats.org/drawingml/2006/main">
            <a:pPr>
              <a:buNone/>
              <a:defRPr sz="1500" b="0">
                <a:solidFill>
                  <a:srgbClr val="526174"/>
                </a:solidFill>
                <a:latin typeface="Aptos"/>
                <a:ea typeface="Aptos"/>
                <a:cs typeface="Aptos"/>
              </a:defRPr>
            </a:pPr>
            <a:r>
              <a:rPr sz="1500" b="0">
                <a:solidFill>
                  <a:srgbClr val="526174"/>
                </a:solidFill>
                <a:latin typeface="Aptos"/>
                <a:ea typeface="Aptos"/>
                <a:cs typeface="Aptos"/>
              </a:rPr>
              <a:t>One stationary event linked across SwarmNet by the same event_id</a:t>
            </a:r>
          </a:p>
        </p:txBody>
      </p:sp>
      <p:sp>
        <p:nvSpPr>
          <p:cNvPr id="4" name="Straight Connector 3">
            <a:extLst xmlns:a="http://schemas.openxmlformats.org/drawingml/2006/main">
              <a:ext uri="{FF2B5EF4-FFF2-40B4-BE49-F238E27FC236}">
                <a16:creationId xmlns:a16="http://schemas.microsoft.com/office/drawing/2014/main" id="{B36CFADA-EFF6-444F-9DD0-9EF05E2A790A}"/>
              </a:ext>
            </a:extLst>
          </p:cNvPr>
          <p:cNvSpPr>
            <a:spLocks xmlns:a="http://schemas.openxmlformats.org/drawingml/2006/main" noGrp="1"/>
          </p:cNvSpPr>
          <p:nvPr/>
        </p:nvSpPr>
        <p:spPr>
          <a:xfrm xmlns:a="http://schemas.openxmlformats.org/drawingml/2006/main">
            <a:off x="609600" y="1266825"/>
            <a:ext cx="10972800" cy="0"/>
          </a:xfrm>
          <a:prstGeom xmlns:a="http://schemas.openxmlformats.org/drawingml/2006/main" prst="line">
            <a:avLst/>
          </a:prstGeom>
          <a:ln xmlns:a="http://schemas.openxmlformats.org/drawingml/2006/main" w="9525">
            <a:solidFill>
              <a:srgbClr val="D7DEE8"/>
            </a:solidFill>
          </a:ln>
        </p:spPr>
      </p:sp>
      <p:sp>
        <p:nvSpPr>
          <p:cNvPr id="5" name="Rectangle 4">
            <a:extLst xmlns:a="http://schemas.openxmlformats.org/drawingml/2006/main">
              <a:ext uri="{FF2B5EF4-FFF2-40B4-BE49-F238E27FC236}">
                <a16:creationId xmlns:a16="http://schemas.microsoft.com/office/drawing/2014/main" id="{64CB8301-56AD-4CAA-82D7-D1C9D10BB577}"/>
              </a:ext>
            </a:extLst>
          </p:cNvPr>
          <p:cNvSpPr>
            <a:spLocks xmlns:a="http://schemas.openxmlformats.org/drawingml/2006/main" noGrp="1"/>
          </p:cNvSpPr>
          <p:nvPr/>
        </p:nvSpPr>
        <p:spPr>
          <a:xfrm xmlns:a="http://schemas.openxmlformats.org/drawingml/2006/main">
            <a:off x="609600" y="1562100"/>
            <a:ext cx="485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DF750E"/>
                </a:solidFill>
                <a:latin typeface="Aptos"/>
                <a:ea typeface="Aptos"/>
                <a:cs typeface="Aptos"/>
              </a:defRPr>
            </a:defPPr>
          </a:lstStyle>
          <a:p xmlns:a="http://schemas.openxmlformats.org/drawingml/2006/main">
            <a:pPr>
              <a:buNone/>
              <a:defRPr sz="1950" b="1">
                <a:solidFill>
                  <a:srgbClr val="DF750E"/>
                </a:solidFill>
                <a:latin typeface="Aptos"/>
                <a:ea typeface="Aptos"/>
                <a:cs typeface="Aptos"/>
              </a:defRPr>
            </a:pPr>
            <a:r>
              <a:rPr sz="1950" b="1">
                <a:solidFill>
                  <a:srgbClr val="DF750E"/>
                </a:solidFill>
                <a:latin typeface="Aptos"/>
                <a:ea typeface="Aptos"/>
                <a:cs typeface="Aptos"/>
              </a:rPr>
              <a:t>SENTINEL / logged alert</a:t>
            </a:r>
          </a:p>
        </p:txBody>
      </p:sp>
      <p:sp>
        <p:nvSpPr>
          <p:cNvPr id="6" name="Rectangle 5">
            <a:extLst xmlns:a="http://schemas.openxmlformats.org/drawingml/2006/main">
              <a:ext uri="{FF2B5EF4-FFF2-40B4-BE49-F238E27FC236}">
                <a16:creationId xmlns:a16="http://schemas.microsoft.com/office/drawing/2014/main" id="{B28DB71F-2806-4AA8-AE52-ABE73DD8C03D}"/>
              </a:ext>
            </a:extLst>
          </p:cNvPr>
          <p:cNvSpPr>
            <a:spLocks xmlns:a="http://schemas.openxmlformats.org/drawingml/2006/main" noGrp="1"/>
          </p:cNvSpPr>
          <p:nvPr/>
        </p:nvSpPr>
        <p:spPr>
          <a:xfrm xmlns:a="http://schemas.openxmlformats.org/drawingml/2006/main">
            <a:off x="609600" y="2009775"/>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550" b="1">
                <a:solidFill>
                  <a:srgbClr val="DF750E"/>
                </a:solidFill>
                <a:latin typeface="Aptos"/>
                <a:ea typeface="Aptos"/>
                <a:cs typeface="Aptos"/>
              </a:defRPr>
            </a:defPPr>
          </a:lstStyle>
          <a:p xmlns:a="http://schemas.openxmlformats.org/drawingml/2006/main">
            <a:pPr>
              <a:buNone/>
              <a:defRPr sz="5550" b="1">
                <a:solidFill>
                  <a:srgbClr val="DF750E"/>
                </a:solidFill>
                <a:latin typeface="Aptos"/>
                <a:ea typeface="Aptos"/>
                <a:cs typeface="Aptos"/>
              </a:defRPr>
            </a:pPr>
            <a:r>
              <a:rPr sz="5550" b="1">
                <a:solidFill>
                  <a:srgbClr val="DF750E"/>
                </a:solidFill>
                <a:latin typeface="Aptos"/>
                <a:ea typeface="Aptos"/>
                <a:cs typeface="Aptos"/>
              </a:rPr>
              <a:t>0.174</a:t>
            </a:r>
          </a:p>
        </p:txBody>
      </p:sp>
      <p:sp>
        <p:nvSpPr>
          <p:cNvPr id="7" name="Rectangle 6">
            <a:extLst xmlns:a="http://schemas.openxmlformats.org/drawingml/2006/main">
              <a:ext uri="{FF2B5EF4-FFF2-40B4-BE49-F238E27FC236}">
                <a16:creationId xmlns:a16="http://schemas.microsoft.com/office/drawing/2014/main" id="{19EA9844-8AD5-444E-921B-6ED4BD05B929}"/>
              </a:ext>
            </a:extLst>
          </p:cNvPr>
          <p:cNvSpPr>
            <a:spLocks xmlns:a="http://schemas.openxmlformats.org/drawingml/2006/main" noGrp="1"/>
          </p:cNvSpPr>
          <p:nvPr/>
        </p:nvSpPr>
        <p:spPr>
          <a:xfrm xmlns:a="http://schemas.openxmlformats.org/drawingml/2006/main">
            <a:off x="609600" y="2857500"/>
            <a:ext cx="4857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174"/>
                </a:solidFill>
                <a:latin typeface="Aptos"/>
                <a:ea typeface="Aptos"/>
                <a:cs typeface="Aptos"/>
              </a:defRPr>
            </a:defPPr>
          </a:lstStyle>
          <a:p xmlns:a="http://schemas.openxmlformats.org/drawingml/2006/main">
            <a:pPr>
              <a:buNone/>
              <a:defRPr sz="2025" b="0">
                <a:solidFill>
                  <a:srgbClr val="526174"/>
                </a:solidFill>
                <a:latin typeface="Aptos"/>
                <a:ea typeface="Aptos"/>
                <a:cs typeface="Aptos"/>
              </a:defRPr>
            </a:pPr>
            <a:r>
              <a:rPr sz="2025" b="0">
                <a:solidFill>
                  <a:srgbClr val="526174"/>
                </a:solidFill>
                <a:latin typeface="Aptos"/>
                <a:ea typeface="Aptos"/>
                <a:cs typeface="Aptos"/>
              </a:rPr>
              <a:t>Fire score at dispatch</a:t>
            </a:r>
          </a:p>
        </p:txBody>
      </p:sp>
      <p:sp>
        <p:nvSpPr>
          <p:cNvPr id="8" name="Rectangle 7">
            <a:extLst xmlns:a="http://schemas.openxmlformats.org/drawingml/2006/main">
              <a:ext uri="{FF2B5EF4-FFF2-40B4-BE49-F238E27FC236}">
                <a16:creationId xmlns:a16="http://schemas.microsoft.com/office/drawing/2014/main" id="{83014164-30D1-43A3-968F-24249E8E54A3}"/>
              </a:ext>
            </a:extLst>
          </p:cNvPr>
          <p:cNvSpPr>
            <a:spLocks xmlns:a="http://schemas.openxmlformats.org/drawingml/2006/main" noGrp="1"/>
          </p:cNvSpPr>
          <p:nvPr/>
        </p:nvSpPr>
        <p:spPr>
          <a:xfrm xmlns:a="http://schemas.openxmlformats.org/drawingml/2006/main">
            <a:off x="609600" y="345757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B1F3A"/>
                </a:solidFill>
                <a:latin typeface="Aptos"/>
                <a:ea typeface="Aptos"/>
                <a:cs typeface="Aptos"/>
              </a:defRPr>
            </a:defPPr>
          </a:lstStyle>
          <a:p xmlns:a="http://schemas.openxmlformats.org/drawingml/2006/main">
            <a:pPr>
              <a:buNone/>
              <a:defRPr sz="2175" b="1">
                <a:solidFill>
                  <a:srgbClr val="0B1F3A"/>
                </a:solidFill>
                <a:latin typeface="Aptos"/>
                <a:ea typeface="Aptos"/>
                <a:cs typeface="Aptos"/>
              </a:defRPr>
            </a:pPr>
            <a:r>
              <a:rPr sz="2175" b="1">
                <a:solidFill>
                  <a:srgbClr val="0B1F3A"/>
                </a:solidFill>
                <a:latin typeface="Aptos"/>
                <a:ea typeface="Aptos"/>
                <a:cs typeface="Aptos"/>
              </a:rPr>
              <a:t>3-frame temporal trigger</a:t>
            </a:r>
          </a:p>
        </p:txBody>
      </p:sp>
      <p:sp>
        <p:nvSpPr>
          <p:cNvPr id="9" name="Rectangle 8">
            <a:extLst xmlns:a="http://schemas.openxmlformats.org/drawingml/2006/main">
              <a:ext uri="{FF2B5EF4-FFF2-40B4-BE49-F238E27FC236}">
                <a16:creationId xmlns:a16="http://schemas.microsoft.com/office/drawing/2014/main" id="{C976FA93-19EC-4E61-801B-FF66AB0620E4}"/>
              </a:ext>
            </a:extLst>
          </p:cNvPr>
          <p:cNvSpPr>
            <a:spLocks xmlns:a="http://schemas.openxmlformats.org/drawingml/2006/main" noGrp="1"/>
          </p:cNvSpPr>
          <p:nvPr/>
        </p:nvSpPr>
        <p:spPr>
          <a:xfrm xmlns:a="http://schemas.openxmlformats.org/drawingml/2006/main">
            <a:off x="609600" y="399097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67A5B"/>
                </a:solidFill>
                <a:latin typeface="Aptos"/>
                <a:ea typeface="Aptos"/>
                <a:cs typeface="Aptos"/>
              </a:defRPr>
            </a:defPPr>
          </a:lstStyle>
          <a:p xmlns:a="http://schemas.openxmlformats.org/drawingml/2006/main">
            <a:pPr>
              <a:buNone/>
              <a:defRPr sz="2025" b="1">
                <a:solidFill>
                  <a:srgbClr val="167A5B"/>
                </a:solidFill>
                <a:latin typeface="Aptos"/>
                <a:ea typeface="Aptos"/>
                <a:cs typeface="Aptos"/>
              </a:defRPr>
            </a:pPr>
            <a:r>
              <a:rPr sz="2025" b="1">
                <a:solidFill>
                  <a:srgbClr val="167A5B"/>
                </a:solidFill>
                <a:latin typeface="Aptos"/>
                <a:ea typeface="Aptos"/>
                <a:cs typeface="Aptos"/>
              </a:rPr>
              <a:t>Final decision: CONFIRMED</a:t>
            </a:r>
          </a:p>
        </p:txBody>
      </p:sp>
      <p:sp>
        <p:nvSpPr>
          <p:cNvPr id="10" name="Rectangle 9">
            <a:extLst xmlns:a="http://schemas.openxmlformats.org/drawingml/2006/main">
              <a:ext uri="{FF2B5EF4-FFF2-40B4-BE49-F238E27FC236}">
                <a16:creationId xmlns:a16="http://schemas.microsoft.com/office/drawing/2014/main" id="{92EF2E7F-D0A2-4934-A505-C09F9FD1CF04}"/>
              </a:ext>
            </a:extLst>
          </p:cNvPr>
          <p:cNvSpPr>
            <a:spLocks xmlns:a="http://schemas.openxmlformats.org/drawingml/2006/main" noGrp="1"/>
          </p:cNvSpPr>
          <p:nvPr/>
        </p:nvSpPr>
        <p:spPr>
          <a:xfrm xmlns:a="http://schemas.openxmlformats.org/drawingml/2006/main">
            <a:off x="609600" y="445770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B1F3A"/>
                </a:solidFill>
                <a:latin typeface="Aptos"/>
                <a:ea typeface="Aptos"/>
                <a:cs typeface="Aptos"/>
              </a:defRPr>
            </a:defPPr>
          </a:lstStyle>
          <a:p xmlns:a="http://schemas.openxmlformats.org/drawingml/2006/main">
            <a:pPr>
              <a:buNone/>
              <a:defRPr sz="1950" b="1">
                <a:solidFill>
                  <a:srgbClr val="0B1F3A"/>
                </a:solidFill>
                <a:latin typeface="Aptos"/>
                <a:ea typeface="Aptos"/>
                <a:cs typeface="Aptos"/>
              </a:defRPr>
            </a:pPr>
            <a:r>
              <a:rPr sz="1950" b="1">
                <a:solidFill>
                  <a:srgbClr val="0B1F3A"/>
                </a:solidFill>
                <a:latin typeface="Aptos"/>
                <a:ea typeface="Aptos"/>
                <a:cs typeface="Aptos"/>
              </a:rPr>
              <a:t>Alert-to-decision: 1.471 s</a:t>
            </a:r>
          </a:p>
        </p:txBody>
      </p:sp>
      <p:sp>
        <p:nvSpPr>
          <p:cNvPr id="11" name="Rectangle 10">
            <a:extLst xmlns:a="http://schemas.openxmlformats.org/drawingml/2006/main">
              <a:ext uri="{FF2B5EF4-FFF2-40B4-BE49-F238E27FC236}">
                <a16:creationId xmlns:a16="http://schemas.microsoft.com/office/drawing/2014/main" id="{475928D9-48E3-4F5F-AA6E-223475AA8AE8}"/>
              </a:ext>
            </a:extLst>
          </p:cNvPr>
          <p:cNvSpPr>
            <a:spLocks xmlns:a="http://schemas.openxmlformats.org/drawingml/2006/main" noGrp="1"/>
          </p:cNvSpPr>
          <p:nvPr/>
        </p:nvSpPr>
        <p:spPr>
          <a:xfrm xmlns:a="http://schemas.openxmlformats.org/drawingml/2006/main">
            <a:off x="609600" y="5048250"/>
            <a:ext cx="5048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174"/>
                </a:solidFill>
                <a:latin typeface="Aptos"/>
                <a:ea typeface="Aptos"/>
                <a:cs typeface="Aptos"/>
              </a:defRPr>
            </a:defPPr>
          </a:lstStyle>
          <a:p xmlns:a="http://schemas.openxmlformats.org/drawingml/2006/main">
            <a:pPr>
              <a:buNone/>
              <a:defRPr sz="1650" b="0">
                <a:solidFill>
                  <a:srgbClr val="526174"/>
                </a:solidFill>
                <a:latin typeface="Aptos"/>
                <a:ea typeface="Aptos"/>
                <a:cs typeface="Aptos"/>
              </a:defRPr>
            </a:pPr>
            <a:r>
              <a:rPr sz="1650" b="0">
                <a:solidFill>
                  <a:srgbClr val="526174"/>
                </a:solidFill>
                <a:latin typeface="Aptos"/>
                <a:ea typeface="Aptos"/>
                <a:cs typeface="Aptos"/>
              </a:rPr>
              <a:t>Sentinel source image not retained</a:t>
            </a:r>
          </a:p>
        </p:txBody>
      </p:sp>
      <p:sp>
        <p:nvSpPr>
          <p:cNvPr id="12" name="Rectangle 11">
            <a:extLst xmlns:a="http://schemas.openxmlformats.org/drawingml/2006/main">
              <a:ext uri="{FF2B5EF4-FFF2-40B4-BE49-F238E27FC236}">
                <a16:creationId xmlns:a16="http://schemas.microsoft.com/office/drawing/2014/main" id="{8FD9497A-9C64-450D-AAAC-1211F5838BF0}"/>
              </a:ext>
            </a:extLst>
          </p:cNvPr>
          <p:cNvSpPr>
            <a:spLocks xmlns:a="http://schemas.openxmlformats.org/drawingml/2006/main" noGrp="1"/>
          </p:cNvSpPr>
          <p:nvPr/>
        </p:nvSpPr>
        <p:spPr>
          <a:xfrm xmlns:a="http://schemas.openxmlformats.org/drawingml/2006/main">
            <a:off x="5962650" y="1562100"/>
            <a:ext cx="561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36FE8"/>
                </a:solidFill>
                <a:latin typeface="Aptos"/>
                <a:ea typeface="Aptos"/>
                <a:cs typeface="Aptos"/>
              </a:defRPr>
            </a:defPPr>
          </a:lstStyle>
          <a:p xmlns:a="http://schemas.openxmlformats.org/drawingml/2006/main">
            <a:pPr>
              <a:buNone/>
              <a:defRPr sz="1875" b="1">
                <a:solidFill>
                  <a:srgbClr val="236FE8"/>
                </a:solidFill>
                <a:latin typeface="Aptos"/>
                <a:ea typeface="Aptos"/>
                <a:cs typeface="Aptos"/>
              </a:defRPr>
            </a:pPr>
            <a:r>
              <a:rPr sz="1875" b="1">
                <a:solidFill>
                  <a:srgbClr val="236FE8"/>
                </a:solidFill>
                <a:latin typeface="Aptos"/>
                <a:ea typeface="Aptos"/>
                <a:cs typeface="Aptos"/>
              </a:rPr>
              <a:t>SCOUT / logged fire score 0.680</a:t>
            </a:r>
          </a:p>
        </p:txBody>
      </p:sp>
      <p:pic>
        <p:nvPicPr>
          <p:cNvPr id="13" name="Picture 12">
            <a:extLst xmlns:a="http://schemas.openxmlformats.org/drawingml/2006/main">
              <a:ext uri="{FF2B5EF4-FFF2-40B4-BE49-F238E27FC236}">
                <a16:creationId xmlns:a16="http://schemas.microsoft.com/office/drawing/2014/main" id="{8AFA2120-D2D8-4212-9A40-C3D9DC44C1F5}"/>
              </a:ext>
            </a:extLst>
          </p:cNvPr>
          <p:cNvPicPr>
            <a:picLocks xmlns:a="http://schemas.openxmlformats.org/drawingml/2006/main" noChangeAspect="1"/>
          </p:cNvPicPr>
          <p:nvPr/>
        </p:nvPicPr>
        <p:blipFill>
          <a:blip xmlns:r="http://schemas.openxmlformats.org/officeDocument/2006/relationships" xmlns:a="http://schemas.openxmlformats.org/drawingml/2006/main" r:embed="R75dca7c3374a4176"/>
          <a:srcRect xmlns:a="http://schemas.openxmlformats.org/drawingml/2006/main" l="29297" t="26693" r="28516" b="39974"/>
          <a:stretch xmlns:a="http://schemas.openxmlformats.org/drawingml/2006/main"/>
        </p:blipFill>
        <p:spPr>
          <a:xfrm xmlns:a="http://schemas.openxmlformats.org/drawingml/2006/main">
            <a:off x="5962650" y="1981200"/>
            <a:ext cx="5619750" cy="3333750"/>
          </a:xfrm>
          <a:prstGeom xmlns:a="http://schemas.openxmlformats.org/drawingml/2006/main" prst="rect">
            <a:avLst/>
          </a:prstGeom>
        </p:spPr>
      </p:pic>
      <p:sp>
        <p:nvSpPr>
          <p:cNvPr id="14" name="Rectangle 13">
            <a:extLst xmlns:a="http://schemas.openxmlformats.org/drawingml/2006/main">
              <a:ext uri="{FF2B5EF4-FFF2-40B4-BE49-F238E27FC236}">
                <a16:creationId xmlns:a16="http://schemas.microsoft.com/office/drawing/2014/main" id="{549296D6-07BD-4407-9401-15DAB5FAF727}"/>
              </a:ext>
            </a:extLst>
          </p:cNvPr>
          <p:cNvSpPr>
            <a:spLocks xmlns:a="http://schemas.openxmlformats.org/drawingml/2006/main" noGrp="1"/>
          </p:cNvSpPr>
          <p:nvPr/>
        </p:nvSpPr>
        <p:spPr>
          <a:xfrm xmlns:a="http://schemas.openxmlformats.org/drawingml/2006/main">
            <a:off x="8304213" y="3348558"/>
            <a:ext cx="520347" cy="963662"/>
          </a:xfrm>
          <a:prstGeom xmlns:a="http://schemas.openxmlformats.org/drawingml/2006/main" prst="rect">
            <a:avLst/>
          </a:prstGeom>
          <a:noFill xmlns:a="http://schemas.openxmlformats.org/drawingml/2006/main"/>
          <a:ln xmlns:a="http://schemas.openxmlformats.org/drawingml/2006/main" w="28575">
            <a:solidFill>
              <a:srgbClr val="00A6FF"/>
            </a:solidFill>
          </a:ln>
        </p:spPr>
      </p:sp>
      <p:sp>
        <p:nvSpPr>
          <p:cNvPr id="15" name="Rectangle 14">
            <a:extLst xmlns:a="http://schemas.openxmlformats.org/drawingml/2006/main">
              <a:ext uri="{FF2B5EF4-FFF2-40B4-BE49-F238E27FC236}">
                <a16:creationId xmlns:a16="http://schemas.microsoft.com/office/drawing/2014/main" id="{FA613F67-EC5C-43A7-8805-187F528BDF5C}"/>
              </a:ext>
            </a:extLst>
          </p:cNvPr>
          <p:cNvSpPr>
            <a:spLocks xmlns:a="http://schemas.openxmlformats.org/drawingml/2006/main" noGrp="1"/>
          </p:cNvSpPr>
          <p:nvPr/>
        </p:nvSpPr>
        <p:spPr>
          <a:xfrm xmlns:a="http://schemas.openxmlformats.org/drawingml/2006/main">
            <a:off x="8113713" y="3005658"/>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Aptos"/>
                <a:ea typeface="Aptos"/>
                <a:cs typeface="Aptos"/>
              </a:defRPr>
            </a:defPPr>
          </a:lstStyle>
          <a:p xmlns:a="http://schemas.openxmlformats.org/drawingml/2006/main">
            <a:pPr>
              <a:buNone/>
              <a:defRPr sz="1650" b="1">
                <a:solidFill>
                  <a:srgbClr val="FFFFFF"/>
                </a:solidFill>
                <a:latin typeface="Aptos"/>
                <a:ea typeface="Aptos"/>
                <a:cs typeface="Aptos"/>
              </a:defRPr>
            </a:pPr>
            <a:r>
              <a:rPr sz="1650" b="1">
                <a:solidFill>
                  <a:srgbClr val="FFFFFF"/>
                </a:solidFill>
                <a:latin typeface="Aptos"/>
                <a:ea typeface="Aptos"/>
                <a:cs typeface="Aptos"/>
              </a:rPr>
              <a:t>Flame region</a:t>
            </a:r>
          </a:p>
        </p:txBody>
      </p:sp>
      <p:sp>
        <p:nvSpPr>
          <p:cNvPr id="16" name="Rectangle 15">
            <a:extLst xmlns:a="http://schemas.openxmlformats.org/drawingml/2006/main">
              <a:ext uri="{FF2B5EF4-FFF2-40B4-BE49-F238E27FC236}">
                <a16:creationId xmlns:a16="http://schemas.microsoft.com/office/drawing/2014/main" id="{2DF29486-21B2-46E8-967E-178B6354C63B}"/>
              </a:ext>
            </a:extLst>
          </p:cNvPr>
          <p:cNvSpPr>
            <a:spLocks xmlns:a="http://schemas.openxmlformats.org/drawingml/2006/main" noGrp="1"/>
          </p:cNvSpPr>
          <p:nvPr/>
        </p:nvSpPr>
        <p:spPr>
          <a:xfrm xmlns:a="http://schemas.openxmlformats.org/drawingml/2006/main">
            <a:off x="5962650" y="5476875"/>
            <a:ext cx="561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236FE8"/>
                </a:solidFill>
                <a:latin typeface="Aptos"/>
                <a:ea typeface="Aptos"/>
                <a:cs typeface="Aptos"/>
              </a:defRPr>
            </a:defPPr>
          </a:lstStyle>
          <a:p xmlns:a="http://schemas.openxmlformats.org/drawingml/2006/main">
            <a:pPr>
              <a:buNone/>
              <a:defRPr sz="1650" b="1">
                <a:solidFill>
                  <a:srgbClr val="236FE8"/>
                </a:solidFill>
                <a:latin typeface="Aptos"/>
                <a:ea typeface="Aptos"/>
                <a:cs typeface="Aptos"/>
              </a:defRPr>
            </a:pPr>
            <a:r>
              <a:rPr sz="1650" b="1">
                <a:solidFill>
                  <a:srgbClr val="236FE8"/>
                </a:solidFill>
                <a:latin typeface="Aptos"/>
                <a:ea typeface="Aptos"/>
                <a:cs typeface="Aptos"/>
              </a:rPr>
              <a:t>Loaded DDS: 1,000/1,000 replies, p95 RTT 7.984 ms</a:t>
            </a:r>
          </a:p>
        </p:txBody>
      </p:sp>
      <p:sp>
        <p:nvSpPr>
          <p:cNvPr id="17" name="Straight Connector 16">
            <a:extLst xmlns:a="http://schemas.openxmlformats.org/drawingml/2006/main">
              <a:ext uri="{FF2B5EF4-FFF2-40B4-BE49-F238E27FC236}">
                <a16:creationId xmlns:a16="http://schemas.microsoft.com/office/drawing/2014/main" id="{87A05472-4354-4DCC-9EA2-7A2BE8E10A4F}"/>
              </a:ext>
            </a:extLst>
          </p:cNvPr>
          <p:cNvSpPr>
            <a:spLocks xmlns:a="http://schemas.openxmlformats.org/drawingml/2006/main" noGrp="1"/>
          </p:cNvSpPr>
          <p:nvPr/>
        </p:nvSpPr>
        <p:spPr>
          <a:xfrm xmlns:a="http://schemas.openxmlformats.org/drawingml/2006/main">
            <a:off x="609600" y="5895975"/>
            <a:ext cx="10972800" cy="0"/>
          </a:xfrm>
          <a:prstGeom xmlns:a="http://schemas.openxmlformats.org/drawingml/2006/main" prst="line">
            <a:avLst/>
          </a:prstGeom>
          <a:ln xmlns:a="http://schemas.openxmlformats.org/drawingml/2006/main" w="9525">
            <a:solidFill>
              <a:srgbClr val="D7DEE8"/>
            </a:solidFill>
          </a:ln>
        </p:spPr>
      </p:sp>
      <p:sp>
        <p:nvSpPr>
          <p:cNvPr id="18" name="Rectangle 17">
            <a:extLst xmlns:a="http://schemas.openxmlformats.org/drawingml/2006/main">
              <a:ext uri="{FF2B5EF4-FFF2-40B4-BE49-F238E27FC236}">
                <a16:creationId xmlns:a16="http://schemas.microsoft.com/office/drawing/2014/main" id="{22E4055C-4A04-46F4-9F2C-AD2AC74DE496}"/>
              </a:ext>
            </a:extLst>
          </p:cNvPr>
          <p:cNvSpPr>
            <a:spLocks xmlns:a="http://schemas.openxmlformats.org/drawingml/2006/main" noGrp="1"/>
          </p:cNvSpPr>
          <p:nvPr/>
        </p:nvSpPr>
        <p:spPr>
          <a:xfrm xmlns:a="http://schemas.openxmlformats.org/drawingml/2006/main">
            <a:off x="609600" y="60293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B1F3A"/>
                </a:solidFill>
                <a:latin typeface="Aptos"/>
                <a:ea typeface="Aptos"/>
                <a:cs typeface="Aptos"/>
              </a:defRPr>
            </a:defPPr>
          </a:lstStyle>
          <a:p xmlns:a="http://schemas.openxmlformats.org/drawingml/2006/main">
            <a:pPr>
              <a:buNone/>
              <a:defRPr sz="1800" b="1">
                <a:solidFill>
                  <a:srgbClr val="0B1F3A"/>
                </a:solidFill>
                <a:latin typeface="Aptos"/>
                <a:ea typeface="Aptos"/>
                <a:cs typeface="Aptos"/>
              </a:defRPr>
            </a:pPr>
            <a:r>
              <a:rPr sz="1800" b="1">
                <a:solidFill>
                  <a:srgbClr val="0B1F3A"/>
                </a:solidFill>
                <a:latin typeface="Aptos"/>
                <a:ea typeface="Aptos"/>
                <a:cs typeface="Aptos"/>
              </a:rPr>
              <a:t>13/13 strong-flame confirmations. 0/6 direct unlit requests confirmed.</a:t>
            </a:r>
          </a:p>
        </p:txBody>
      </p:sp>
      <p:sp>
        <p:nvSpPr>
          <p:cNvPr id="19" name="Rectangle 18">
            <a:extLst xmlns:a="http://schemas.openxmlformats.org/drawingml/2006/main">
              <a:ext uri="{FF2B5EF4-FFF2-40B4-BE49-F238E27FC236}">
                <a16:creationId xmlns:a16="http://schemas.microsoft.com/office/drawing/2014/main" id="{3034FC60-A1C2-435C-B249-A9318C9319F6}"/>
              </a:ext>
            </a:extLst>
          </p:cNvPr>
          <p:cNvSpPr>
            <a:spLocks xmlns:a="http://schemas.openxmlformats.org/drawingml/2006/main" noGrp="1"/>
          </p:cNvSpPr>
          <p:nvPr/>
        </p:nvSpPr>
        <p:spPr>
          <a:xfrm xmlns:a="http://schemas.openxmlformats.org/drawingml/2006/main">
            <a:off x="609600" y="641032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174"/>
                </a:solidFill>
                <a:latin typeface="Aptos"/>
                <a:ea typeface="Aptos"/>
                <a:cs typeface="Aptos"/>
              </a:defRPr>
            </a:defPPr>
          </a:lstStyle>
          <a:p xmlns:a="http://schemas.openxmlformats.org/drawingml/2006/main">
            <a:pPr>
              <a:buNone/>
              <a:defRPr sz="1275" b="0">
                <a:solidFill>
                  <a:srgbClr val="526174"/>
                </a:solidFill>
                <a:latin typeface="Aptos"/>
                <a:ea typeface="Aptos"/>
                <a:cs typeface="Aptos"/>
              </a:defRPr>
            </a:pPr>
            <a:r>
              <a:rPr sz="1275" b="0">
                <a:solidFill>
                  <a:srgbClr val="526174"/>
                </a:solidFill>
                <a:latin typeface="Aptos"/>
                <a:ea typeface="Aptos"/>
                <a:cs typeface="Aptos"/>
              </a:rPr>
              <a:t>Flame box is an editorial highlight. Recorded model scores are not accuracy estimates.</a:t>
            </a:r>
          </a:p>
        </p:txBody>
      </p:sp>
      <p:sp>
        <p:nvSpPr>
          <p:cNvPr id="20" name="Rectangle 19">
            <a:extLst xmlns:a="http://schemas.openxmlformats.org/drawingml/2006/main">
              <a:ext uri="{FF2B5EF4-FFF2-40B4-BE49-F238E27FC236}">
                <a16:creationId xmlns:a16="http://schemas.microsoft.com/office/drawing/2014/main" id="{F716EB16-355B-44B3-8828-36953D1525A5}"/>
              </a:ext>
            </a:extLst>
          </p:cNvPr>
          <p:cNvSpPr>
            <a:spLocks xmlns:a="http://schemas.openxmlformats.org/drawingml/2006/main" noGrp="1"/>
          </p:cNvSpPr>
          <p:nvPr/>
        </p:nvSpPr>
        <p:spPr>
          <a:xfrm xmlns:a="http://schemas.openxmlformats.org/drawingml/2006/main">
            <a:off x="11144250" y="65436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526174"/>
                </a:solidFill>
                <a:latin typeface="Aptos"/>
                <a:ea typeface="Aptos"/>
                <a:cs typeface="Aptos"/>
              </a:defRPr>
            </a:defPPr>
          </a:lstStyle>
          <a:p xmlns:a="http://schemas.openxmlformats.org/drawingml/2006/main">
            <a:pPr>
              <a:buNone/>
              <a:defRPr sz="975" b="0">
                <a:solidFill>
                  <a:srgbClr val="526174"/>
                </a:solidFill>
                <a:latin typeface="Aptos"/>
                <a:ea typeface="Aptos"/>
                <a:cs typeface="Aptos"/>
              </a:defRPr>
            </a:pPr>
            <a:r>
              <a:rPr sz="975" b="0">
                <a:solidFill>
                  <a:srgbClr val="526174"/>
                </a:solidFill>
                <a:latin typeface="Aptos"/>
                <a:ea typeface="Aptos"/>
                <a:cs typeface="Aptos"/>
              </a:rPr>
              <a:t>7</a:t>
            </a:r>
          </a:p>
        </p:txBody>
      </p:sp>
    </p:spTree>
    <p:extLst>
      <p:ext uri="{BB962C8B-B14F-4D97-AF65-F5344CB8AC3E}">
        <p14:creationId xmlns:p14="http://schemas.microsoft.com/office/powerpoint/2010/main" val="1096193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Five-phase Gazebo mission GIF">
            <a:extLst xmlns:a="http://schemas.openxmlformats.org/drawingml/2006/main">
              <a:ext uri="{FF2B5EF4-FFF2-40B4-BE49-F238E27FC236}">
                <a16:creationId xmlns:a16="http://schemas.microsoft.com/office/drawing/2014/main" id="{AA02EED2-0C96-408F-BFE8-4EE435952E5D}"/>
              </a:ext>
            </a:extLst>
          </p:cNvPr>
          <p:cNvPicPr>
            <a:picLocks xmlns:a="http://schemas.openxmlformats.org/drawingml/2006/main" noChangeAspect="1"/>
          </p:cNvPicPr>
          <p:nvPr/>
        </p:nvPicPr>
        <p:blipFill>
          <a:blip xmlns:r="http://schemas.openxmlformats.org/officeDocument/2006/relationships" xmlns:a="http://schemas.openxmlformats.org/drawingml/2006/main" r:embed="R7325cf5b922e4110"/>
          <a:stretch xmlns:a="http://schemas.openxmlformats.org/drawingml/2006/main">
            <a:fillRect l="0" t="0" r="0" b="0"/>
          </a:stretch>
        </p:blipFill>
        <p:spPr>
          <a:xfrm xmlns:a="http://schemas.openxmlformats.org/drawingml/2006/main">
            <a:off x="609600" y="1704975"/>
            <a:ext cx="7620000" cy="4286250"/>
          </a:xfrm>
          <a:prstGeom xmlns:a="http://schemas.openxmlformats.org/drawingml/2006/main" prst="rect">
            <a:avLst/>
          </a:prstGeom>
          <a:ln xmlns:a="http://schemas.openxmlformats.org/drawingml/2006/main" w="10160">
            <a:solidFill>
              <a:srgbClr val="D6DEE6"/>
            </a:solidFill>
          </a:ln>
        </p:spPr>
      </p:pic>
      <p:sp>
        <p:nvSpPr>
          <p:cNvPr id="9" name="Straight Connector 8">
            <a:extLst xmlns:a="http://schemas.openxmlformats.org/drawingml/2006/main">
              <a:ext uri="{FF2B5EF4-FFF2-40B4-BE49-F238E27FC236}">
                <a16:creationId xmlns:a16="http://schemas.microsoft.com/office/drawing/2014/main" id="{9C1F9A04-8B6E-4C74-802B-5B872712B9C2}"/>
              </a:ext>
            </a:extLst>
          </p:cNvPr>
          <p:cNvSpPr>
            <a:spLocks xmlns:a="http://schemas.openxmlformats.org/drawingml/2006/main" noGrp="1"/>
          </p:cNvSpPr>
          <p:nvPr/>
        </p:nvSpPr>
        <p:spPr>
          <a:xfrm xmlns:a="http://schemas.openxmlformats.org/drawingml/2006/main">
            <a:off x="0" y="47625"/>
            <a:ext cx="12192000" cy="0"/>
          </a:xfrm>
          <a:prstGeom xmlns:a="http://schemas.openxmlformats.org/drawingml/2006/main" prst="line">
            <a:avLst/>
          </a:prstGeom>
          <a:ln xmlns:a="http://schemas.openxmlformats.org/drawingml/2006/main" w="95250">
            <a:solidFill>
              <a:srgbClr val="0B1F3A"/>
            </a:solidFill>
            <a:prstDash val="solid"/>
          </a:ln>
        </p:spPr>
      </p:sp>
      <p:sp>
        <p:nvSpPr>
          <p:cNvPr id="10" name="Rectangle 9">
            <a:extLst xmlns:a="http://schemas.openxmlformats.org/drawingml/2006/main">
              <a:ext uri="{FF2B5EF4-FFF2-40B4-BE49-F238E27FC236}">
                <a16:creationId xmlns:a16="http://schemas.microsoft.com/office/drawing/2014/main" id="{645FECFD-8024-4097-96EE-057BEA6D80AC}"/>
              </a:ext>
            </a:extLst>
          </p:cNvPr>
          <p:cNvSpPr>
            <a:spLocks xmlns:a="http://schemas.openxmlformats.org/drawingml/2006/main" noGrp="1"/>
          </p:cNvSpPr>
          <p:nvPr/>
        </p:nvSpPr>
        <p:spPr>
          <a:xfrm xmlns:a="http://schemas.openxmlformats.org/drawingml/2006/main">
            <a:off x="609600" y="2952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B1F3A"/>
                </a:solidFill>
                <a:latin typeface="Aptos"/>
                <a:ea typeface="Aptos"/>
                <a:cs typeface="Aptos"/>
              </a:defRPr>
            </a:defPPr>
          </a:lstStyle>
          <a:p xmlns:a="http://schemas.openxmlformats.org/drawingml/2006/main">
            <a:pPr algn="l">
              <a:buNone/>
              <a:defRPr sz="3000" b="1">
                <a:solidFill>
                  <a:srgbClr val="0B1F3A"/>
                </a:solidFill>
                <a:latin typeface="Aptos"/>
                <a:ea typeface="Aptos"/>
                <a:cs typeface="Aptos"/>
              </a:defRPr>
            </a:pPr>
            <a:r>
              <a:rPr sz="3000" b="1">
                <a:solidFill>
                  <a:srgbClr val="0B1F3A"/>
                </a:solidFill>
                <a:latin typeface="Aptos"/>
                <a:ea typeface="Aptos"/>
                <a:cs typeface="Aptos"/>
              </a:rPr>
              <a:t>Simulated aerial mission through ROS 2 and PX4</a:t>
            </a:r>
          </a:p>
        </p:txBody>
      </p:sp>
      <p:sp>
        <p:nvSpPr>
          <p:cNvPr id="11" name="Rectangle 10">
            <a:extLst xmlns:a="http://schemas.openxmlformats.org/drawingml/2006/main">
              <a:ext uri="{FF2B5EF4-FFF2-40B4-BE49-F238E27FC236}">
                <a16:creationId xmlns:a16="http://schemas.microsoft.com/office/drawing/2014/main" id="{6FFD46DB-A680-4BFC-A3CA-A978B4551BFC}"/>
              </a:ext>
            </a:extLst>
          </p:cNvPr>
          <p:cNvSpPr>
            <a:spLocks xmlns:a="http://schemas.openxmlformats.org/drawingml/2006/main" noGrp="1"/>
          </p:cNvSpPr>
          <p:nvPr/>
        </p:nvSpPr>
        <p:spPr>
          <a:xfrm xmlns:a="http://schemas.openxmlformats.org/drawingml/2006/main">
            <a:off x="609600" y="8667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174"/>
                </a:solidFill>
                <a:latin typeface="Aptos"/>
                <a:ea typeface="Aptos"/>
                <a:cs typeface="Aptos"/>
              </a:defRPr>
            </a:defPPr>
          </a:lstStyle>
          <a:p xmlns:a="http://schemas.openxmlformats.org/drawingml/2006/main">
            <a:pPr algn="l">
              <a:buNone/>
              <a:defRPr sz="1500" b="0">
                <a:solidFill>
                  <a:srgbClr val="526174"/>
                </a:solidFill>
                <a:latin typeface="Aptos"/>
                <a:ea typeface="Aptos"/>
                <a:cs typeface="Aptos"/>
              </a:defRPr>
            </a:pPr>
            <a:r>
              <a:rPr sz="1500" b="0">
                <a:solidFill>
                  <a:srgbClr val="526174"/>
                </a:solidFill>
                <a:latin typeface="Aptos"/>
                <a:ea typeface="Aptos"/>
                <a:cs typeface="Aptos"/>
              </a:rPr>
              <a:t>Sentinel patrol, Scout dispatch, verification and coordinated return</a:t>
            </a:r>
          </a:p>
        </p:txBody>
      </p:sp>
      <p:sp>
        <p:nvSpPr>
          <p:cNvPr id="12" name="Straight Connector 11">
            <a:extLst xmlns:a="http://schemas.openxmlformats.org/drawingml/2006/main">
              <a:ext uri="{FF2B5EF4-FFF2-40B4-BE49-F238E27FC236}">
                <a16:creationId xmlns:a16="http://schemas.microsoft.com/office/drawing/2014/main" id="{9B7562CC-73D4-4211-BC8D-9A9A8C8BA13E}"/>
              </a:ext>
            </a:extLst>
          </p:cNvPr>
          <p:cNvSpPr>
            <a:spLocks xmlns:a="http://schemas.openxmlformats.org/drawingml/2006/main" noGrp="1"/>
          </p:cNvSpPr>
          <p:nvPr/>
        </p:nvSpPr>
        <p:spPr>
          <a:xfrm xmlns:a="http://schemas.openxmlformats.org/drawingml/2006/main">
            <a:off x="609600" y="1266825"/>
            <a:ext cx="10972800" cy="0"/>
          </a:xfrm>
          <a:prstGeom xmlns:a="http://schemas.openxmlformats.org/drawingml/2006/main" prst="line">
            <a:avLst/>
          </a:prstGeom>
          <a:ln xmlns:a="http://schemas.openxmlformats.org/drawingml/2006/main" w="9525">
            <a:solidFill>
              <a:srgbClr val="D7DEE8"/>
            </a:solidFill>
            <a:prstDash val="solid"/>
          </a:ln>
        </p:spPr>
      </p:sp>
      <p:sp>
        <p:nvSpPr>
          <p:cNvPr id="14" name="Rectangle 13">
            <a:extLst xmlns:a="http://schemas.openxmlformats.org/drawingml/2006/main">
              <a:ext uri="{FF2B5EF4-FFF2-40B4-BE49-F238E27FC236}">
                <a16:creationId xmlns:a16="http://schemas.microsoft.com/office/drawing/2014/main" id="{555C668A-1A95-4D89-8456-28D373EA3FB0}"/>
              </a:ext>
            </a:extLst>
          </p:cNvPr>
          <p:cNvSpPr>
            <a:spLocks xmlns:a="http://schemas.openxmlformats.org/drawingml/2006/main" noGrp="1"/>
          </p:cNvSpPr>
          <p:nvPr/>
        </p:nvSpPr>
        <p:spPr>
          <a:xfrm xmlns:a="http://schemas.openxmlformats.org/drawingml/2006/main">
            <a:off x="11144250" y="65436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526174"/>
                </a:solidFill>
                <a:latin typeface="Aptos"/>
                <a:ea typeface="Aptos"/>
                <a:cs typeface="Aptos"/>
              </a:defRPr>
            </a:defPPr>
          </a:lstStyle>
          <a:p xmlns:a="http://schemas.openxmlformats.org/drawingml/2006/main">
            <a:pPr algn="r">
              <a:buNone/>
              <a:defRPr sz="975" b="0">
                <a:solidFill>
                  <a:srgbClr val="526174"/>
                </a:solidFill>
                <a:latin typeface="Aptos"/>
                <a:ea typeface="Aptos"/>
                <a:cs typeface="Aptos"/>
              </a:defRPr>
            </a:pPr>
            <a:r>
              <a:rPr sz="975" b="0">
                <a:solidFill>
                  <a:srgbClr val="526174"/>
                </a:solidFill>
                <a:latin typeface="Aptos"/>
                <a:ea typeface="Aptos"/>
                <a:cs typeface="Aptos"/>
              </a:rPr>
              <a:t>8</a:t>
            </a:r>
          </a:p>
        </p:txBody>
      </p:sp>
      <p:sp>
        <p:nvSpPr>
          <p:cNvPr id="15" name="Rectangle 14">
            <a:extLst xmlns:a="http://schemas.openxmlformats.org/drawingml/2006/main">
              <a:ext uri="{FF2B5EF4-FFF2-40B4-BE49-F238E27FC236}">
                <a16:creationId xmlns:a16="http://schemas.microsoft.com/office/drawing/2014/main" id="{23B8FA50-158D-49C1-8E49-F8C665B8CBD7}"/>
              </a:ext>
            </a:extLst>
          </p:cNvPr>
          <p:cNvSpPr>
            <a:spLocks xmlns:a="http://schemas.openxmlformats.org/drawingml/2006/main" noGrp="1"/>
          </p:cNvSpPr>
          <p:nvPr/>
        </p:nvSpPr>
        <p:spPr>
          <a:xfrm xmlns:a="http://schemas.openxmlformats.org/drawingml/2006/main">
            <a:off x="8572500" y="1657350"/>
            <a:ext cx="30099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236FE8"/>
                </a:solidFill>
                <a:latin typeface="Aptos"/>
                <a:ea typeface="Aptos"/>
                <a:cs typeface="Aptos"/>
              </a:defRPr>
            </a:defPPr>
          </a:lstStyle>
          <a:p xmlns:a="http://schemas.openxmlformats.org/drawingml/2006/main">
            <a:pPr algn="l">
              <a:buNone/>
              <a:defRPr sz="3525" b="1">
                <a:solidFill>
                  <a:srgbClr val="236FE8"/>
                </a:solidFill>
                <a:latin typeface="Aptos"/>
                <a:ea typeface="Aptos"/>
                <a:cs typeface="Aptos"/>
              </a:defRPr>
            </a:pPr>
            <a:r>
              <a:rPr sz="3525" b="1">
                <a:solidFill>
                  <a:srgbClr val="236FE8"/>
                </a:solidFill>
                <a:latin typeface="Aptos"/>
                <a:ea typeface="Aptos"/>
                <a:cs typeface="Aptos"/>
              </a:rPr>
              <a:t>4.5 m</a:t>
            </a:r>
          </a:p>
        </p:txBody>
      </p:sp>
      <p:sp>
        <p:nvSpPr>
          <p:cNvPr id="16" name="Rectangle 15">
            <a:extLst xmlns:a="http://schemas.openxmlformats.org/drawingml/2006/main">
              <a:ext uri="{FF2B5EF4-FFF2-40B4-BE49-F238E27FC236}">
                <a16:creationId xmlns:a16="http://schemas.microsoft.com/office/drawing/2014/main" id="{16128182-D848-42F0-9FCD-50F9E497098E}"/>
              </a:ext>
            </a:extLst>
          </p:cNvPr>
          <p:cNvSpPr>
            <a:spLocks xmlns:a="http://schemas.openxmlformats.org/drawingml/2006/main" noGrp="1"/>
          </p:cNvSpPr>
          <p:nvPr/>
        </p:nvSpPr>
        <p:spPr>
          <a:xfrm xmlns:a="http://schemas.openxmlformats.org/drawingml/2006/main">
            <a:off x="8572500" y="2305050"/>
            <a:ext cx="3009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174"/>
                </a:solidFill>
                <a:latin typeface="Aptos"/>
                <a:ea typeface="Aptos"/>
                <a:cs typeface="Aptos"/>
              </a:defRPr>
            </a:defPPr>
          </a:lstStyle>
          <a:p xmlns:a="http://schemas.openxmlformats.org/drawingml/2006/main">
            <a:pPr algn="l">
              <a:buNone/>
              <a:defRPr sz="1725" b="0">
                <a:solidFill>
                  <a:srgbClr val="526174"/>
                </a:solidFill>
                <a:latin typeface="Aptos"/>
                <a:ea typeface="Aptos"/>
                <a:cs typeface="Aptos"/>
              </a:defRPr>
            </a:pPr>
            <a:r>
              <a:rPr sz="1725" b="0">
                <a:solidFill>
                  <a:srgbClr val="526174"/>
                </a:solidFill>
                <a:latin typeface="Aptos"/>
                <a:ea typeface="Aptos"/>
                <a:cs typeface="Aptos"/>
              </a:rPr>
              <a:t>Commanded Scout standoff</a:t>
            </a:r>
          </a:p>
        </p:txBody>
      </p:sp>
      <p:sp>
        <p:nvSpPr>
          <p:cNvPr id="17" name="Rectangle 16">
            <a:extLst xmlns:a="http://schemas.openxmlformats.org/drawingml/2006/main">
              <a:ext uri="{FF2B5EF4-FFF2-40B4-BE49-F238E27FC236}">
                <a16:creationId xmlns:a16="http://schemas.microsoft.com/office/drawing/2014/main" id="{27F80923-A641-4015-82DD-4E3381DF6B84}"/>
              </a:ext>
            </a:extLst>
          </p:cNvPr>
          <p:cNvSpPr>
            <a:spLocks xmlns:a="http://schemas.openxmlformats.org/drawingml/2006/main" noGrp="1"/>
          </p:cNvSpPr>
          <p:nvPr/>
        </p:nvSpPr>
        <p:spPr>
          <a:xfrm xmlns:a="http://schemas.openxmlformats.org/drawingml/2006/main">
            <a:off x="8572500" y="3124200"/>
            <a:ext cx="3009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1F3A"/>
                </a:solidFill>
                <a:latin typeface="Aptos"/>
                <a:ea typeface="Aptos"/>
                <a:cs typeface="Aptos"/>
              </a:defRPr>
            </a:defPPr>
          </a:lstStyle>
          <a:p xmlns:a="http://schemas.openxmlformats.org/drawingml/2006/main">
            <a:pPr algn="l">
              <a:buNone/>
              <a:defRPr sz="3300" b="1">
                <a:solidFill>
                  <a:srgbClr val="0B1F3A"/>
                </a:solidFill>
                <a:latin typeface="Aptos"/>
                <a:ea typeface="Aptos"/>
                <a:cs typeface="Aptos"/>
              </a:defRPr>
            </a:pPr>
            <a:r>
              <a:rPr sz="3300" b="1">
                <a:solidFill>
                  <a:srgbClr val="0B1F3A"/>
                </a:solidFill>
                <a:latin typeface="Aptos"/>
                <a:ea typeface="Aptos"/>
                <a:cs typeface="Aptos"/>
              </a:rPr>
              <a:t>214.253 s</a:t>
            </a:r>
          </a:p>
        </p:txBody>
      </p:sp>
      <p:sp>
        <p:nvSpPr>
          <p:cNvPr id="18" name="Rectangle 17">
            <a:extLst xmlns:a="http://schemas.openxmlformats.org/drawingml/2006/main">
              <a:ext uri="{FF2B5EF4-FFF2-40B4-BE49-F238E27FC236}">
                <a16:creationId xmlns:a16="http://schemas.microsoft.com/office/drawing/2014/main" id="{93658EA2-A129-4677-974A-A8EC29F86352}"/>
              </a:ext>
            </a:extLst>
          </p:cNvPr>
          <p:cNvSpPr>
            <a:spLocks xmlns:a="http://schemas.openxmlformats.org/drawingml/2006/main" noGrp="1"/>
          </p:cNvSpPr>
          <p:nvPr/>
        </p:nvSpPr>
        <p:spPr>
          <a:xfrm xmlns:a="http://schemas.openxmlformats.org/drawingml/2006/main">
            <a:off x="8572500" y="3762375"/>
            <a:ext cx="3009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174"/>
                </a:solidFill>
                <a:latin typeface="Aptos"/>
                <a:ea typeface="Aptos"/>
                <a:cs typeface="Aptos"/>
              </a:defRPr>
            </a:defPPr>
          </a:lstStyle>
          <a:p xmlns:a="http://schemas.openxmlformats.org/drawingml/2006/main">
            <a:pPr algn="l">
              <a:buNone/>
              <a:defRPr sz="1725" b="0">
                <a:solidFill>
                  <a:srgbClr val="526174"/>
                </a:solidFill>
                <a:latin typeface="Aptos"/>
                <a:ea typeface="Aptos"/>
                <a:cs typeface="Aptos"/>
              </a:defRPr>
            </a:pPr>
            <a:r>
              <a:rPr sz="1725" b="0">
                <a:solidFill>
                  <a:srgbClr val="526174"/>
                </a:solidFill>
                <a:latin typeface="Aptos"/>
                <a:ea typeface="Aptos"/>
                <a:cs typeface="Aptos"/>
              </a:rPr>
              <a:t>Until both vehicles landed</a:t>
            </a:r>
          </a:p>
          <a:p xmlns:a="http://schemas.openxmlformats.org/drawingml/2006/main">
            <a:pPr algn="l">
              <a:buNone/>
              <a:defRPr sz="1725" b="0">
                <a:solidFill>
                  <a:srgbClr val="526174"/>
                </a:solidFill>
                <a:latin typeface="Aptos"/>
                <a:ea typeface="Aptos"/>
                <a:cs typeface="Aptos"/>
              </a:defRPr>
            </a:pPr>
            <a:r>
              <a:rPr sz="1725" b="0">
                <a:solidFill>
                  <a:srgbClr val="526174"/>
                </a:solidFill>
                <a:latin typeface="Aptos"/>
                <a:ea typeface="Aptos"/>
                <a:cs typeface="Aptos"/>
              </a:rPr>
              <a:t>and disarmed in the log</a:t>
            </a:r>
          </a:p>
        </p:txBody>
      </p:sp>
      <p:sp>
        <p:nvSpPr>
          <p:cNvPr id="19" name="Rectangle 18">
            <a:extLst xmlns:a="http://schemas.openxmlformats.org/drawingml/2006/main">
              <a:ext uri="{FF2B5EF4-FFF2-40B4-BE49-F238E27FC236}">
                <a16:creationId xmlns:a16="http://schemas.microsoft.com/office/drawing/2014/main" id="{1C083C5F-18D7-478C-BD4F-2BCD4B8B5040}"/>
              </a:ext>
            </a:extLst>
          </p:cNvPr>
          <p:cNvSpPr>
            <a:spLocks xmlns:a="http://schemas.openxmlformats.org/drawingml/2006/main" noGrp="1"/>
          </p:cNvSpPr>
          <p:nvPr/>
        </p:nvSpPr>
        <p:spPr>
          <a:xfrm xmlns:a="http://schemas.openxmlformats.org/drawingml/2006/main">
            <a:off x="8572500" y="4762500"/>
            <a:ext cx="3009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DF750E"/>
                </a:solidFill>
                <a:latin typeface="Aptos"/>
                <a:ea typeface="Aptos"/>
                <a:cs typeface="Aptos"/>
              </a:defRPr>
            </a:defPPr>
          </a:lstStyle>
          <a:p xmlns:a="http://schemas.openxmlformats.org/drawingml/2006/main">
            <a:pPr algn="l">
              <a:buNone/>
              <a:defRPr sz="2175" b="1">
                <a:solidFill>
                  <a:srgbClr val="DF750E"/>
                </a:solidFill>
                <a:latin typeface="Aptos"/>
                <a:ea typeface="Aptos"/>
                <a:cs typeface="Aptos"/>
              </a:defRPr>
            </a:pPr>
            <a:r>
              <a:rPr sz="2175" b="1">
                <a:solidFill>
                  <a:srgbClr val="DF750E"/>
                </a:solidFill>
                <a:latin typeface="Aptos"/>
                <a:ea typeface="Aptos"/>
                <a:cs typeface="Aptos"/>
              </a:rPr>
              <a:t>Fault correction</a:t>
            </a:r>
          </a:p>
        </p:txBody>
      </p:sp>
      <p:sp>
        <p:nvSpPr>
          <p:cNvPr id="20" name="Rectangle 19">
            <a:extLst xmlns:a="http://schemas.openxmlformats.org/drawingml/2006/main">
              <a:ext uri="{FF2B5EF4-FFF2-40B4-BE49-F238E27FC236}">
                <a16:creationId xmlns:a16="http://schemas.microsoft.com/office/drawing/2014/main" id="{EA816850-906B-4A29-A889-6DEA5846D2C0}"/>
              </a:ext>
            </a:extLst>
          </p:cNvPr>
          <p:cNvSpPr>
            <a:spLocks xmlns:a="http://schemas.openxmlformats.org/drawingml/2006/main" noGrp="1"/>
          </p:cNvSpPr>
          <p:nvPr/>
        </p:nvSpPr>
        <p:spPr>
          <a:xfrm xmlns:a="http://schemas.openxmlformats.org/drawingml/2006/main">
            <a:off x="8572500" y="5248275"/>
            <a:ext cx="30099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174"/>
                </a:solidFill>
                <a:latin typeface="Aptos"/>
                <a:ea typeface="Aptos"/>
                <a:cs typeface="Aptos"/>
              </a:defRPr>
            </a:defPPr>
          </a:lstStyle>
          <a:p xmlns:a="http://schemas.openxmlformats.org/drawingml/2006/main">
            <a:pPr algn="l">
              <a:buNone/>
              <a:defRPr sz="1650" b="0">
                <a:solidFill>
                  <a:srgbClr val="526174"/>
                </a:solidFill>
                <a:latin typeface="Aptos"/>
                <a:ea typeface="Aptos"/>
                <a:cs typeface="Aptos"/>
              </a:defRPr>
            </a:pPr>
            <a:r>
              <a:rPr sz="1650" b="0">
                <a:solidFill>
                  <a:srgbClr val="526174"/>
                </a:solidFill>
                <a:latin typeface="Aptos"/>
                <a:ea typeface="Aptos"/>
                <a:cs typeface="Aptos"/>
              </a:rPr>
              <a:t>0 Scout flight commands</a:t>
            </a:r>
          </a:p>
          <a:p xmlns:a="http://schemas.openxmlformats.org/drawingml/2006/main">
            <a:pPr algn="l">
              <a:buNone/>
              <a:defRPr sz="1650" b="0">
                <a:solidFill>
                  <a:srgbClr val="526174"/>
                </a:solidFill>
                <a:latin typeface="Aptos"/>
                <a:ea typeface="Aptos"/>
                <a:cs typeface="Aptos"/>
              </a:defRPr>
            </a:pPr>
            <a:r>
              <a:rPr sz="1650" b="0">
                <a:solidFill>
                  <a:srgbClr val="526174"/>
                </a:solidFill>
                <a:latin typeface="Aptos"/>
                <a:ea typeface="Aptos"/>
                <a:cs typeface="Aptos"/>
              </a:rPr>
              <a:t>in corrected lost-alert and</a:t>
            </a:r>
          </a:p>
          <a:p xmlns:a="http://schemas.openxmlformats.org/drawingml/2006/main">
            <a:pPr algn="l">
              <a:buNone/>
              <a:defRPr sz="1650" b="0">
                <a:solidFill>
                  <a:srgbClr val="526174"/>
                </a:solidFill>
                <a:latin typeface="Aptos"/>
                <a:ea typeface="Aptos"/>
                <a:cs typeface="Aptos"/>
              </a:defRPr>
            </a:pPr>
            <a:r>
              <a:rPr sz="1650" b="0">
                <a:solidFill>
                  <a:srgbClr val="526174"/>
                </a:solidFill>
                <a:latin typeface="Aptos"/>
                <a:ea typeface="Aptos"/>
                <a:cs typeface="Aptos"/>
              </a:rPr>
              <a:t>unavailable-Scout pilots</a:t>
            </a:r>
          </a:p>
        </p:txBody>
      </p:sp>
      <p:sp>
        <p:nvSpPr>
          <p:cNvPr id="21" name="Rectangle 20">
            <a:extLst xmlns:a="http://schemas.openxmlformats.org/drawingml/2006/main">
              <a:ext uri="{FF2B5EF4-FFF2-40B4-BE49-F238E27FC236}">
                <a16:creationId xmlns:a16="http://schemas.microsoft.com/office/drawing/2014/main" id="{1609E24B-84F7-4FE4-B4E4-71F2C7556828}"/>
              </a:ext>
            </a:extLst>
          </p:cNvPr>
          <p:cNvSpPr>
            <a:spLocks xmlns:a="http://schemas.openxmlformats.org/drawingml/2006/main" noGrp="1"/>
          </p:cNvSpPr>
          <p:nvPr/>
        </p:nvSpPr>
        <p:spPr>
          <a:xfrm xmlns:a="http://schemas.openxmlformats.org/drawingml/2006/main">
            <a:off x="609600" y="61912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26174"/>
                </a:solidFill>
                <a:latin typeface="Aptos"/>
                <a:ea typeface="Aptos"/>
                <a:cs typeface="Aptos"/>
              </a:defRPr>
            </a:defPPr>
          </a:lstStyle>
          <a:p xmlns:a="http://schemas.openxmlformats.org/drawingml/2006/main">
            <a:pPr algn="l">
              <a:buNone/>
              <a:defRPr sz="1425" b="0">
                <a:solidFill>
                  <a:srgbClr val="526174"/>
                </a:solidFill>
                <a:latin typeface="Aptos"/>
                <a:ea typeface="Aptos"/>
                <a:cs typeface="Aptos"/>
              </a:defRPr>
            </a:pPr>
            <a:r>
              <a:rPr sz="1425" b="0">
                <a:solidFill>
                  <a:srgbClr val="526174"/>
                </a:solidFill>
                <a:latin typeface="Aptos"/>
                <a:ea typeface="Aptos"/>
                <a:cs typeface="Aptos"/>
              </a:rPr>
              <a:t>Scenario supplies trigger, target and verdict. Provisional airframes.</a:t>
            </a:r>
          </a:p>
        </p:txBody>
      </p:sp>
    </p:spTree>
    <p:extLst>
      <p:ext uri="{BB962C8B-B14F-4D97-AF65-F5344CB8AC3E}">
        <p14:creationId xmlns:p14="http://schemas.microsoft.com/office/powerpoint/2010/main" val="5084937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traight Connector 17">
            <a:extLst xmlns:a="http://schemas.openxmlformats.org/drawingml/2006/main">
              <a:ext uri="{FF2B5EF4-FFF2-40B4-BE49-F238E27FC236}">
                <a16:creationId xmlns:a16="http://schemas.microsoft.com/office/drawing/2014/main" id="{FE9B2D61-F65C-4CDB-92CE-E2C2059CB30A}"/>
              </a:ext>
            </a:extLst>
          </p:cNvPr>
          <p:cNvSpPr>
            <a:spLocks xmlns:a="http://schemas.openxmlformats.org/drawingml/2006/main" noGrp="1"/>
          </p:cNvSpPr>
          <p:nvPr/>
        </p:nvSpPr>
        <p:spPr>
          <a:xfrm xmlns:a="http://schemas.openxmlformats.org/drawingml/2006/main">
            <a:off x="0" y="47625"/>
            <a:ext cx="12192000" cy="0"/>
          </a:xfrm>
          <a:prstGeom xmlns:a="http://schemas.openxmlformats.org/drawingml/2006/main" prst="line">
            <a:avLst/>
          </a:prstGeom>
          <a:ln xmlns:a="http://schemas.openxmlformats.org/drawingml/2006/main" w="95250">
            <a:solidFill>
              <a:srgbClr val="0B1F3A"/>
            </a:solidFill>
            <a:prstDash val="solid"/>
          </a:ln>
        </p:spPr>
      </p:sp>
      <p:sp>
        <p:nvSpPr>
          <p:cNvPr id="2" name="Rectangle 1">
            <a:extLst xmlns:a="http://schemas.openxmlformats.org/drawingml/2006/main">
              <a:ext uri="{FF2B5EF4-FFF2-40B4-BE49-F238E27FC236}">
                <a16:creationId xmlns:a16="http://schemas.microsoft.com/office/drawing/2014/main" id="{68E608B8-DAA0-4B6B-B2D6-8E07C75A1942}"/>
              </a:ext>
            </a:extLst>
          </p:cNvPr>
          <p:cNvSpPr>
            <a:spLocks xmlns:a="http://schemas.openxmlformats.org/drawingml/2006/main" noGrp="1"/>
          </p:cNvSpPr>
          <p:nvPr/>
        </p:nvSpPr>
        <p:spPr>
          <a:xfrm xmlns:a="http://schemas.openxmlformats.org/drawingml/2006/main">
            <a:off x="609600" y="2952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B1F3A"/>
                </a:solidFill>
                <a:latin typeface="Aptos"/>
                <a:ea typeface="Aptos"/>
                <a:cs typeface="Aptos"/>
              </a:defRPr>
            </a:defPPr>
          </a:lstStyle>
          <a:p xmlns:a="http://schemas.openxmlformats.org/drawingml/2006/main">
            <a:pPr algn="l">
              <a:buNone/>
              <a:defRPr sz="3000" b="1">
                <a:solidFill>
                  <a:srgbClr val="0B1F3A"/>
                </a:solidFill>
                <a:latin typeface="Aptos"/>
                <a:ea typeface="Aptos"/>
                <a:cs typeface="Aptos"/>
              </a:defRPr>
            </a:pPr>
            <a:r>
              <a:rPr sz="3000" b="1">
                <a:solidFill>
                  <a:srgbClr val="0B1F3A"/>
                </a:solidFill>
                <a:latin typeface="Aptos"/>
                <a:ea typeface="Aptos"/>
                <a:cs typeface="Aptos"/>
              </a:rPr>
              <a:t>Engineering contributions and measured gains</a:t>
            </a:r>
          </a:p>
        </p:txBody>
      </p:sp>
      <p:sp>
        <p:nvSpPr>
          <p:cNvPr id="3" name="Straight Connector 2">
            <a:extLst xmlns:a="http://schemas.openxmlformats.org/drawingml/2006/main">
              <a:ext uri="{FF2B5EF4-FFF2-40B4-BE49-F238E27FC236}">
                <a16:creationId xmlns:a16="http://schemas.microsoft.com/office/drawing/2014/main" id="{AE0DB53F-FB9E-44B7-864D-E0A01A85C7B3}"/>
              </a:ext>
            </a:extLst>
          </p:cNvPr>
          <p:cNvSpPr>
            <a:spLocks xmlns:a="http://schemas.openxmlformats.org/drawingml/2006/main" noGrp="1"/>
          </p:cNvSpPr>
          <p:nvPr/>
        </p:nvSpPr>
        <p:spPr>
          <a:xfrm xmlns:a="http://schemas.openxmlformats.org/drawingml/2006/main">
            <a:off x="609600" y="1266825"/>
            <a:ext cx="10972800" cy="0"/>
          </a:xfrm>
          <a:prstGeom xmlns:a="http://schemas.openxmlformats.org/drawingml/2006/main" prst="line">
            <a:avLst/>
          </a:prstGeom>
          <a:ln xmlns:a="http://schemas.openxmlformats.org/drawingml/2006/main" w="9525">
            <a:solidFill>
              <a:srgbClr val="D7DEE8"/>
            </a:solidFill>
            <a:prstDash val="solid"/>
          </a:ln>
        </p:spPr>
      </p:sp>
      <p:sp>
        <p:nvSpPr>
          <p:cNvPr id="5" name="Rectangle 4">
            <a:extLst xmlns:a="http://schemas.openxmlformats.org/drawingml/2006/main">
              <a:ext uri="{FF2B5EF4-FFF2-40B4-BE49-F238E27FC236}">
                <a16:creationId xmlns:a16="http://schemas.microsoft.com/office/drawing/2014/main" id="{594E981B-630A-412A-BEB2-4971B0460C5D}"/>
              </a:ext>
            </a:extLst>
          </p:cNvPr>
          <p:cNvSpPr>
            <a:spLocks xmlns:a="http://schemas.openxmlformats.org/drawingml/2006/main" noGrp="1"/>
          </p:cNvSpPr>
          <p:nvPr/>
        </p:nvSpPr>
        <p:spPr>
          <a:xfrm xmlns:a="http://schemas.openxmlformats.org/drawingml/2006/main">
            <a:off x="11144250" y="65436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526174"/>
                </a:solidFill>
                <a:latin typeface="Aptos"/>
                <a:ea typeface="Aptos"/>
                <a:cs typeface="Aptos"/>
              </a:defRPr>
            </a:defPPr>
          </a:lstStyle>
          <a:p xmlns:a="http://schemas.openxmlformats.org/drawingml/2006/main">
            <a:pPr algn="r">
              <a:buNone/>
              <a:defRPr sz="975" b="0">
                <a:solidFill>
                  <a:srgbClr val="526174"/>
                </a:solidFill>
                <a:latin typeface="Aptos"/>
                <a:ea typeface="Aptos"/>
                <a:cs typeface="Aptos"/>
              </a:defRPr>
            </a:pPr>
            <a:r>
              <a:rPr sz="975" b="0">
                <a:solidFill>
                  <a:srgbClr val="526174"/>
                </a:solidFill>
                <a:latin typeface="Aptos"/>
                <a:ea typeface="Aptos"/>
                <a:cs typeface="Aptos"/>
              </a:rPr>
              <a:t>9</a:t>
            </a:r>
          </a:p>
        </p:txBody>
      </p:sp>
      <p:sp>
        <p:nvSpPr>
          <p:cNvPr id="6" name="Rectangle 5">
            <a:extLst xmlns:a="http://schemas.openxmlformats.org/drawingml/2006/main">
              <a:ext uri="{FF2B5EF4-FFF2-40B4-BE49-F238E27FC236}">
                <a16:creationId xmlns:a16="http://schemas.microsoft.com/office/drawing/2014/main" id="{27EF1CFC-0E73-466F-9067-32A602B553AB}"/>
              </a:ext>
            </a:extLst>
          </p:cNvPr>
          <p:cNvSpPr>
            <a:spLocks xmlns:a="http://schemas.openxmlformats.org/drawingml/2006/main" noGrp="1"/>
          </p:cNvSpPr>
          <p:nvPr/>
        </p:nvSpPr>
        <p:spPr>
          <a:xfrm xmlns:a="http://schemas.openxmlformats.org/drawingml/2006/main">
            <a:off x="609600" y="15811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0B1F3A"/>
                </a:solidFill>
                <a:latin typeface="Aptos"/>
                <a:ea typeface="Aptos"/>
                <a:cs typeface="Aptos"/>
              </a:defRPr>
            </a:defPPr>
          </a:lstStyle>
          <a:p xmlns:a="http://schemas.openxmlformats.org/drawingml/2006/main">
            <a:pPr algn="l">
              <a:buNone/>
              <a:defRPr sz="3075" b="1">
                <a:solidFill>
                  <a:srgbClr val="0B1F3A"/>
                </a:solidFill>
                <a:latin typeface="Aptos"/>
                <a:ea typeface="Aptos"/>
                <a:cs typeface="Aptos"/>
              </a:defRPr>
            </a:pPr>
            <a:r>
              <a:rPr sz="3075" b="1">
                <a:solidFill>
                  <a:srgbClr val="0B1F3A"/>
                </a:solidFill>
                <a:latin typeface="Aptos"/>
                <a:ea typeface="Aptos"/>
                <a:cs typeface="Aptos"/>
              </a:rPr>
              <a:t>A working onboard Sentinel-Scout system prototype</a:t>
            </a:r>
          </a:p>
        </p:txBody>
      </p:sp>
      <p:sp>
        <p:nvSpPr>
          <p:cNvPr id="7" name="Rectangle 6">
            <a:extLst xmlns:a="http://schemas.openxmlformats.org/drawingml/2006/main">
              <a:ext uri="{FF2B5EF4-FFF2-40B4-BE49-F238E27FC236}">
                <a16:creationId xmlns:a16="http://schemas.microsoft.com/office/drawing/2014/main" id="{CE7942F5-CB81-44A4-B3B0-A10BDE4493EC}"/>
              </a:ext>
            </a:extLst>
          </p:cNvPr>
          <p:cNvSpPr>
            <a:spLocks xmlns:a="http://schemas.openxmlformats.org/drawingml/2006/main" noGrp="1"/>
          </p:cNvSpPr>
          <p:nvPr/>
        </p:nvSpPr>
        <p:spPr>
          <a:xfrm xmlns:a="http://schemas.openxmlformats.org/drawingml/2006/main">
            <a:off x="609600" y="2466975"/>
            <a:ext cx="5334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1F3A"/>
                </a:solidFill>
                <a:latin typeface="Aptos"/>
                <a:ea typeface="Aptos"/>
                <a:cs typeface="Aptos"/>
              </a:defRPr>
            </a:defPPr>
          </a:lstStyle>
          <a:p xmlns:a="http://schemas.openxmlformats.org/drawingml/2006/main">
            <a:pPr algn="l">
              <a:buNone/>
              <a:defRPr sz="2175" b="1">
                <a:solidFill>
                  <a:srgbClr val="0B1F3A"/>
                </a:solidFill>
                <a:latin typeface="Aptos"/>
                <a:ea typeface="Aptos"/>
                <a:cs typeface="Aptos"/>
              </a:defRPr>
            </a:pPr>
            <a:r>
              <a:rPr sz="2175" b="1">
                <a:solidFill>
                  <a:srgbClr val="0B1F3A"/>
                </a:solidFill>
                <a:latin typeface="Aptos"/>
                <a:ea typeface="Aptos"/>
                <a:cs typeface="Aptos"/>
              </a:rPr>
              <a:t>1  Heterogeneous integration</a:t>
            </a:r>
          </a:p>
        </p:txBody>
      </p:sp>
      <p:sp>
        <p:nvSpPr>
          <p:cNvPr id="8" name="Rectangle 7">
            <a:extLst xmlns:a="http://schemas.openxmlformats.org/drawingml/2006/main">
              <a:ext uri="{FF2B5EF4-FFF2-40B4-BE49-F238E27FC236}">
                <a16:creationId xmlns:a16="http://schemas.microsoft.com/office/drawing/2014/main" id="{5EAFAC97-BF74-491F-A4E5-72B5770AA027}"/>
              </a:ext>
            </a:extLst>
          </p:cNvPr>
          <p:cNvSpPr>
            <a:spLocks xmlns:a="http://schemas.openxmlformats.org/drawingml/2006/main" noGrp="1"/>
          </p:cNvSpPr>
          <p:nvPr/>
        </p:nvSpPr>
        <p:spPr>
          <a:xfrm xmlns:a="http://schemas.openxmlformats.org/drawingml/2006/main">
            <a:off x="609600" y="2971800"/>
            <a:ext cx="5334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174"/>
                </a:solidFill>
                <a:latin typeface="Aptos"/>
                <a:ea typeface="Aptos"/>
                <a:cs typeface="Aptos"/>
              </a:defRPr>
            </a:defPPr>
          </a:lstStyle>
          <a:p xmlns:a="http://schemas.openxmlformats.org/drawingml/2006/main">
            <a:pPr algn="l">
              <a:buNone/>
              <a:defRPr sz="1725" b="0">
                <a:solidFill>
                  <a:srgbClr val="526174"/>
                </a:solidFill>
                <a:latin typeface="Aptos"/>
                <a:ea typeface="Aptos"/>
                <a:cs typeface="Aptos"/>
              </a:defRPr>
            </a:pPr>
            <a:r>
              <a:rPr sz="1725" b="0">
                <a:solidFill>
                  <a:srgbClr val="526174"/>
                </a:solidFill>
                <a:latin typeface="Aptos"/>
                <a:ea typeface="Aptos"/>
                <a:cs typeface="Aptos"/>
              </a:rPr>
              <a:t>Independent camera inference on both UAV computers</a:t>
            </a:r>
          </a:p>
          <a:p xmlns:a="http://schemas.openxmlformats.org/drawingml/2006/main">
            <a:pPr algn="l">
              <a:buNone/>
              <a:defRPr sz="1725" b="0">
                <a:solidFill>
                  <a:srgbClr val="526174"/>
                </a:solidFill>
                <a:latin typeface="Aptos"/>
                <a:ea typeface="Aptos"/>
                <a:cs typeface="Aptos"/>
              </a:defRPr>
            </a:pPr>
            <a:r>
              <a:rPr sz="1725" b="0">
                <a:solidFill>
                  <a:srgbClr val="526174"/>
                </a:solidFill>
                <a:latin typeface="Aptos"/>
                <a:ea typeface="Aptos"/>
                <a:cs typeface="Aptos"/>
              </a:rPr>
              <a:t>Containerized and native ROS 2 Foxy on SwarmNet</a:t>
            </a:r>
          </a:p>
        </p:txBody>
      </p:sp>
      <p:sp>
        <p:nvSpPr>
          <p:cNvPr id="9" name="Rectangle 8">
            <a:extLst xmlns:a="http://schemas.openxmlformats.org/drawingml/2006/main">
              <a:ext uri="{FF2B5EF4-FFF2-40B4-BE49-F238E27FC236}">
                <a16:creationId xmlns:a16="http://schemas.microsoft.com/office/drawing/2014/main" id="{FD30CAAD-FA6E-4B6B-912E-2B384D4CD4B9}"/>
              </a:ext>
            </a:extLst>
          </p:cNvPr>
          <p:cNvSpPr>
            <a:spLocks xmlns:a="http://schemas.openxmlformats.org/drawingml/2006/main" noGrp="1"/>
          </p:cNvSpPr>
          <p:nvPr/>
        </p:nvSpPr>
        <p:spPr>
          <a:xfrm xmlns:a="http://schemas.openxmlformats.org/drawingml/2006/main">
            <a:off x="6334125" y="246697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B1F3A"/>
                </a:solidFill>
                <a:latin typeface="Aptos"/>
                <a:ea typeface="Aptos"/>
                <a:cs typeface="Aptos"/>
              </a:defRPr>
            </a:defPPr>
          </a:lstStyle>
          <a:p xmlns:a="http://schemas.openxmlformats.org/drawingml/2006/main">
            <a:pPr algn="l">
              <a:buNone/>
              <a:defRPr sz="2025" b="1">
                <a:solidFill>
                  <a:srgbClr val="0B1F3A"/>
                </a:solidFill>
                <a:latin typeface="Aptos"/>
                <a:ea typeface="Aptos"/>
                <a:cs typeface="Aptos"/>
              </a:defRPr>
            </a:pPr>
            <a:r>
              <a:rPr sz="2025" b="1">
                <a:solidFill>
                  <a:srgbClr val="0B1F3A"/>
                </a:solidFill>
                <a:latin typeface="Aptos"/>
                <a:ea typeface="Aptos"/>
                <a:cs typeface="Aptos"/>
              </a:rPr>
              <a:t>2  Traceable, fault-contained decisions</a:t>
            </a:r>
          </a:p>
        </p:txBody>
      </p:sp>
      <p:sp>
        <p:nvSpPr>
          <p:cNvPr id="10" name="Rectangle 9">
            <a:extLst xmlns:a="http://schemas.openxmlformats.org/drawingml/2006/main">
              <a:ext uri="{FF2B5EF4-FFF2-40B4-BE49-F238E27FC236}">
                <a16:creationId xmlns:a16="http://schemas.microsoft.com/office/drawing/2014/main" id="{1031B152-C216-407C-BAB2-B30B9C75BF9C}"/>
              </a:ext>
            </a:extLst>
          </p:cNvPr>
          <p:cNvSpPr>
            <a:spLocks xmlns:a="http://schemas.openxmlformats.org/drawingml/2006/main" noGrp="1"/>
          </p:cNvSpPr>
          <p:nvPr/>
        </p:nvSpPr>
        <p:spPr>
          <a:xfrm xmlns:a="http://schemas.openxmlformats.org/drawingml/2006/main">
            <a:off x="6334125" y="2971800"/>
            <a:ext cx="5238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174"/>
                </a:solidFill>
                <a:latin typeface="Aptos"/>
                <a:ea typeface="Aptos"/>
                <a:cs typeface="Aptos"/>
              </a:defRPr>
            </a:defPPr>
          </a:lstStyle>
          <a:p xmlns:a="http://schemas.openxmlformats.org/drawingml/2006/main">
            <a:pPr algn="l">
              <a:buNone/>
              <a:defRPr sz="1725" b="0">
                <a:solidFill>
                  <a:srgbClr val="526174"/>
                </a:solidFill>
                <a:latin typeface="Aptos"/>
                <a:ea typeface="Aptos"/>
                <a:cs typeface="Aptos"/>
              </a:defRPr>
            </a:pPr>
            <a:r>
              <a:rPr sz="1725" b="0">
                <a:solidFill>
                  <a:srgbClr val="526174"/>
                </a:solidFill>
                <a:latin typeface="Aptos"/>
                <a:ea typeface="Aptos"/>
                <a:cs typeface="Aptos"/>
              </a:rPr>
              <a:t>10/10 late verdicts rejected, no extra final decision</a:t>
            </a:r>
          </a:p>
          <a:p xmlns:a="http://schemas.openxmlformats.org/drawingml/2006/main">
            <a:pPr algn="l">
              <a:buNone/>
              <a:defRPr sz="1725" b="0">
                <a:solidFill>
                  <a:srgbClr val="526174"/>
                </a:solidFill>
                <a:latin typeface="Aptos"/>
                <a:ea typeface="Aptos"/>
                <a:cs typeface="Aptos"/>
              </a:defRPr>
            </a:pPr>
            <a:r>
              <a:rPr sz="1725" b="0">
                <a:solidFill>
                  <a:srgbClr val="526174"/>
                </a:solidFill>
                <a:latin typeface="Aptos"/>
                <a:ea typeface="Aptos"/>
                <a:cs typeface="Aptos"/>
              </a:rPr>
              <a:t>5/5 no-frame and 5/5 stale-frame error verdicts</a:t>
            </a:r>
          </a:p>
        </p:txBody>
      </p:sp>
      <p:sp>
        <p:nvSpPr>
          <p:cNvPr id="11" name="Rectangle 10">
            <a:extLst xmlns:a="http://schemas.openxmlformats.org/drawingml/2006/main">
              <a:ext uri="{FF2B5EF4-FFF2-40B4-BE49-F238E27FC236}">
                <a16:creationId xmlns:a16="http://schemas.microsoft.com/office/drawing/2014/main" id="{151FB712-01B5-4789-B8CC-44596DE33D05}"/>
              </a:ext>
            </a:extLst>
          </p:cNvPr>
          <p:cNvSpPr>
            <a:spLocks xmlns:a="http://schemas.openxmlformats.org/drawingml/2006/main" noGrp="1"/>
          </p:cNvSpPr>
          <p:nvPr/>
        </p:nvSpPr>
        <p:spPr>
          <a:xfrm xmlns:a="http://schemas.openxmlformats.org/drawingml/2006/main">
            <a:off x="609600" y="4000500"/>
            <a:ext cx="5334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DF750E"/>
                </a:solidFill>
                <a:latin typeface="Aptos"/>
                <a:ea typeface="Aptos"/>
                <a:cs typeface="Aptos"/>
              </a:defRPr>
            </a:defPPr>
          </a:lstStyle>
          <a:p xmlns:a="http://schemas.openxmlformats.org/drawingml/2006/main">
            <a:pPr algn="l">
              <a:buNone/>
              <a:defRPr sz="2025" b="1">
                <a:solidFill>
                  <a:srgbClr val="DF750E"/>
                </a:solidFill>
                <a:latin typeface="Aptos"/>
                <a:ea typeface="Aptos"/>
                <a:cs typeface="Aptos"/>
              </a:defRPr>
            </a:pPr>
            <a:r>
              <a:rPr sz="2025" b="1">
                <a:solidFill>
                  <a:srgbClr val="DF750E"/>
                </a:solidFill>
                <a:latin typeface="Aptos"/>
                <a:ea typeface="Aptos"/>
                <a:cs typeface="Aptos"/>
              </a:rPr>
              <a:t>3  Measured computational improvement</a:t>
            </a:r>
          </a:p>
        </p:txBody>
      </p:sp>
      <p:sp>
        <p:nvSpPr>
          <p:cNvPr id="12" name="Rectangle 11">
            <a:extLst xmlns:a="http://schemas.openxmlformats.org/drawingml/2006/main">
              <a:ext uri="{FF2B5EF4-FFF2-40B4-BE49-F238E27FC236}">
                <a16:creationId xmlns:a16="http://schemas.microsoft.com/office/drawing/2014/main" id="{1B024A8D-8748-4E87-8759-4BC5A9F2275C}"/>
              </a:ext>
            </a:extLst>
          </p:cNvPr>
          <p:cNvSpPr>
            <a:spLocks xmlns:a="http://schemas.openxmlformats.org/drawingml/2006/main" noGrp="1"/>
          </p:cNvSpPr>
          <p:nvPr/>
        </p:nvSpPr>
        <p:spPr>
          <a:xfrm xmlns:a="http://schemas.openxmlformats.org/drawingml/2006/main">
            <a:off x="609600" y="4514850"/>
            <a:ext cx="5334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174"/>
                </a:solidFill>
                <a:latin typeface="Aptos"/>
                <a:ea typeface="Aptos"/>
                <a:cs typeface="Aptos"/>
              </a:defRPr>
            </a:defPPr>
          </a:lstStyle>
          <a:p xmlns:a="http://schemas.openxmlformats.org/drawingml/2006/main">
            <a:pPr algn="l">
              <a:buNone/>
              <a:defRPr sz="1725" b="0">
                <a:solidFill>
                  <a:srgbClr val="526174"/>
                </a:solidFill>
                <a:latin typeface="Aptos"/>
                <a:ea typeface="Aptos"/>
                <a:cs typeface="Aptos"/>
              </a:defRPr>
            </a:pPr>
            <a:r>
              <a:rPr sz="1725" b="0">
                <a:solidFill>
                  <a:srgbClr val="526174"/>
                </a:solidFill>
                <a:latin typeface="Aptos"/>
                <a:ea typeface="Aptos"/>
                <a:cs typeface="Aptos"/>
              </a:rPr>
              <a:t>72.1% lower mean Sentinel pipeline time</a:t>
            </a:r>
          </a:p>
          <a:p xmlns:a="http://schemas.openxmlformats.org/drawingml/2006/main">
            <a:pPr algn="l">
              <a:buNone/>
              <a:defRPr sz="1725" b="0">
                <a:solidFill>
                  <a:srgbClr val="526174"/>
                </a:solidFill>
                <a:latin typeface="Aptos"/>
                <a:ea typeface="Aptos"/>
                <a:cs typeface="Aptos"/>
              </a:defRPr>
            </a:pPr>
            <a:r>
              <a:rPr sz="1725" b="0">
                <a:solidFill>
                  <a:srgbClr val="526174"/>
                </a:solidFill>
                <a:latin typeface="Aptos"/>
                <a:ea typeface="Aptos"/>
                <a:cs typeface="Aptos"/>
              </a:rPr>
              <a:t>&gt;30 min concurrent-service observation on both devices</a:t>
            </a:r>
          </a:p>
        </p:txBody>
      </p:sp>
      <p:sp>
        <p:nvSpPr>
          <p:cNvPr id="13" name="Rectangle 12">
            <a:extLst xmlns:a="http://schemas.openxmlformats.org/drawingml/2006/main">
              <a:ext uri="{FF2B5EF4-FFF2-40B4-BE49-F238E27FC236}">
                <a16:creationId xmlns:a16="http://schemas.microsoft.com/office/drawing/2014/main" id="{4613D404-FD9E-4026-AFD7-D1E4D888CFF2}"/>
              </a:ext>
            </a:extLst>
          </p:cNvPr>
          <p:cNvSpPr>
            <a:spLocks xmlns:a="http://schemas.openxmlformats.org/drawingml/2006/main" noGrp="1"/>
          </p:cNvSpPr>
          <p:nvPr/>
        </p:nvSpPr>
        <p:spPr>
          <a:xfrm xmlns:a="http://schemas.openxmlformats.org/drawingml/2006/main">
            <a:off x="6334125" y="4000500"/>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36FE8"/>
                </a:solidFill>
                <a:latin typeface="Aptos"/>
                <a:ea typeface="Aptos"/>
                <a:cs typeface="Aptos"/>
              </a:defRPr>
            </a:defPPr>
          </a:lstStyle>
          <a:p xmlns:a="http://schemas.openxmlformats.org/drawingml/2006/main">
            <a:pPr algn="l">
              <a:buNone/>
              <a:defRPr sz="2025" b="1">
                <a:solidFill>
                  <a:srgbClr val="236FE8"/>
                </a:solidFill>
                <a:latin typeface="Aptos"/>
                <a:ea typeface="Aptos"/>
                <a:cs typeface="Aptos"/>
              </a:defRPr>
            </a:pPr>
            <a:r>
              <a:rPr sz="2025" b="1">
                <a:solidFill>
                  <a:srgbClr val="236FE8"/>
                </a:solidFill>
                <a:latin typeface="Aptos"/>
                <a:ea typeface="Aptos"/>
                <a:cs typeface="Aptos"/>
              </a:rPr>
              <a:t>4  Executable mission orchestration</a:t>
            </a:r>
          </a:p>
        </p:txBody>
      </p:sp>
      <p:sp>
        <p:nvSpPr>
          <p:cNvPr id="14" name="Rectangle 13">
            <a:extLst xmlns:a="http://schemas.openxmlformats.org/drawingml/2006/main">
              <a:ext uri="{FF2B5EF4-FFF2-40B4-BE49-F238E27FC236}">
                <a16:creationId xmlns:a16="http://schemas.microsoft.com/office/drawing/2014/main" id="{C48DC29C-AA2E-4AD3-BD7F-A9F1111F524B}"/>
              </a:ext>
            </a:extLst>
          </p:cNvPr>
          <p:cNvSpPr>
            <a:spLocks xmlns:a="http://schemas.openxmlformats.org/drawingml/2006/main" noGrp="1"/>
          </p:cNvSpPr>
          <p:nvPr/>
        </p:nvSpPr>
        <p:spPr>
          <a:xfrm xmlns:a="http://schemas.openxmlformats.org/drawingml/2006/main">
            <a:off x="6334125" y="4514850"/>
            <a:ext cx="5238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174"/>
                </a:solidFill>
                <a:latin typeface="Aptos"/>
                <a:ea typeface="Aptos"/>
                <a:cs typeface="Aptos"/>
              </a:defRPr>
            </a:defPPr>
          </a:lstStyle>
          <a:p xmlns:a="http://schemas.openxmlformats.org/drawingml/2006/main">
            <a:pPr algn="l">
              <a:buNone/>
              <a:defRPr sz="1725" b="0">
                <a:solidFill>
                  <a:srgbClr val="526174"/>
                </a:solidFill>
                <a:latin typeface="Aptos"/>
                <a:ea typeface="Aptos"/>
                <a:cs typeface="Aptos"/>
              </a:defRPr>
            </a:pPr>
            <a:r>
              <a:rPr sz="1725" b="0">
                <a:solidFill>
                  <a:srgbClr val="526174"/>
                </a:solidFill>
                <a:latin typeface="Aptos"/>
                <a:ea typeface="Aptos"/>
                <a:cs typeface="Aptos"/>
              </a:rPr>
              <a:t>ROS 2/PX4 simulated mission with a 4.5 m standoff</a:t>
            </a:r>
          </a:p>
          <a:p xmlns:a="http://schemas.openxmlformats.org/drawingml/2006/main">
            <a:pPr algn="l">
              <a:buNone/>
              <a:defRPr sz="1725" b="0">
                <a:solidFill>
                  <a:srgbClr val="526174"/>
                </a:solidFill>
                <a:latin typeface="Aptos"/>
                <a:ea typeface="Aptos"/>
                <a:cs typeface="Aptos"/>
              </a:defRPr>
            </a:pPr>
            <a:r>
              <a:rPr sz="1725" b="0">
                <a:solidFill>
                  <a:srgbClr val="526174"/>
                </a:solidFill>
                <a:latin typeface="Aptos"/>
                <a:ea typeface="Aptos"/>
                <a:cs typeface="Aptos"/>
              </a:rPr>
              <a:t>Both vehicles landed and disarmed in the retained log</a:t>
            </a:r>
          </a:p>
        </p:txBody>
      </p:sp>
      <p:sp>
        <p:nvSpPr>
          <p:cNvPr id="15" name="Straight Connector 14">
            <a:extLst xmlns:a="http://schemas.openxmlformats.org/drawingml/2006/main">
              <a:ext uri="{FF2B5EF4-FFF2-40B4-BE49-F238E27FC236}">
                <a16:creationId xmlns:a16="http://schemas.microsoft.com/office/drawing/2014/main" id="{3D1D71CA-FED6-46A8-9EEF-B6A1846DF342}"/>
              </a:ext>
            </a:extLst>
          </p:cNvPr>
          <p:cNvSpPr>
            <a:spLocks xmlns:a="http://schemas.openxmlformats.org/drawingml/2006/main" noGrp="1"/>
          </p:cNvSpPr>
          <p:nvPr/>
        </p:nvSpPr>
        <p:spPr>
          <a:xfrm xmlns:a="http://schemas.openxmlformats.org/drawingml/2006/main">
            <a:off x="609600" y="5495925"/>
            <a:ext cx="10972800" cy="0"/>
          </a:xfrm>
          <a:prstGeom xmlns:a="http://schemas.openxmlformats.org/drawingml/2006/main" prst="line">
            <a:avLst/>
          </a:prstGeom>
          <a:ln xmlns:a="http://schemas.openxmlformats.org/drawingml/2006/main" w="9525">
            <a:solidFill>
              <a:srgbClr val="D7DEE8"/>
            </a:solidFill>
            <a:prstDash val="solid"/>
          </a:ln>
        </p:spPr>
      </p:sp>
      <p:sp>
        <p:nvSpPr>
          <p:cNvPr id="16" name="Rectangle 15">
            <a:extLst xmlns:a="http://schemas.openxmlformats.org/drawingml/2006/main">
              <a:ext uri="{FF2B5EF4-FFF2-40B4-BE49-F238E27FC236}">
                <a16:creationId xmlns:a16="http://schemas.microsoft.com/office/drawing/2014/main" id="{2691BEC5-CFCD-4848-A720-04F677405F6B}"/>
              </a:ext>
            </a:extLst>
          </p:cNvPr>
          <p:cNvSpPr>
            <a:spLocks xmlns:a="http://schemas.openxmlformats.org/drawingml/2006/main" noGrp="1"/>
          </p:cNvSpPr>
          <p:nvPr/>
        </p:nvSpPr>
        <p:spPr>
          <a:xfrm xmlns:a="http://schemas.openxmlformats.org/drawingml/2006/main">
            <a:off x="609600" y="571500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174"/>
                </a:solidFill>
                <a:latin typeface="Aptos"/>
                <a:ea typeface="Aptos"/>
                <a:cs typeface="Aptos"/>
              </a:defRPr>
            </a:defPPr>
          </a:lstStyle>
          <a:p xmlns:a="http://schemas.openxmlformats.org/drawingml/2006/main">
            <a:pPr algn="l">
              <a:buNone/>
              <a:defRPr sz="1575" b="0">
                <a:solidFill>
                  <a:srgbClr val="526174"/>
                </a:solidFill>
                <a:latin typeface="Aptos"/>
                <a:ea typeface="Aptos"/>
                <a:cs typeface="Aptos"/>
              </a:defRPr>
            </a:pPr>
            <a:r>
              <a:rPr sz="1575" b="0">
                <a:solidFill>
                  <a:srgbClr val="526174"/>
                </a:solidFill>
                <a:latin typeface="Aptos"/>
                <a:ea typeface="Aptos"/>
                <a:cs typeface="Aptos"/>
              </a:rPr>
              <a:t>Limits: small flame 1/10. Scout p95 2.618 s &gt; 2.0 s. Jetson swap +0.922 MiB.</a:t>
            </a:r>
          </a:p>
        </p:txBody>
      </p:sp>
      <p:sp>
        <p:nvSpPr>
          <p:cNvPr id="17" name="Rectangle 16">
            <a:extLst xmlns:a="http://schemas.openxmlformats.org/drawingml/2006/main">
              <a:ext uri="{FF2B5EF4-FFF2-40B4-BE49-F238E27FC236}">
                <a16:creationId xmlns:a16="http://schemas.microsoft.com/office/drawing/2014/main" id="{F1C39E16-CDC8-41BF-9CB8-65756E193AD0}"/>
              </a:ext>
            </a:extLst>
          </p:cNvPr>
          <p:cNvSpPr>
            <a:spLocks xmlns:a="http://schemas.openxmlformats.org/drawingml/2006/main" noGrp="1"/>
          </p:cNvSpPr>
          <p:nvPr/>
        </p:nvSpPr>
        <p:spPr>
          <a:xfrm xmlns:a="http://schemas.openxmlformats.org/drawingml/2006/main">
            <a:off x="609600" y="609600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174"/>
                </a:solidFill>
                <a:latin typeface="Aptos"/>
                <a:ea typeface="Aptos"/>
                <a:cs typeface="Aptos"/>
              </a:defRPr>
            </a:defPPr>
          </a:lstStyle>
          <a:p xmlns:a="http://schemas.openxmlformats.org/drawingml/2006/main">
            <a:pPr algn="l">
              <a:buNone/>
              <a:defRPr sz="1575" b="0">
                <a:solidFill>
                  <a:srgbClr val="526174"/>
                </a:solidFill>
                <a:latin typeface="Aptos"/>
                <a:ea typeface="Aptos"/>
                <a:cs typeface="Aptos"/>
              </a:defRPr>
            </a:pPr>
            <a:r>
              <a:rPr sz="1575" b="0">
                <a:solidFill>
                  <a:srgbClr val="526174"/>
                </a:solidFill>
                <a:latin typeface="Aptos"/>
                <a:ea typeface="Aptos"/>
                <a:cs typeface="Aptos"/>
              </a:rPr>
              <a:t>Next: controlled accuracy ablation, external evaluation and camera-driven aerial validation.</a:t>
            </a:r>
          </a:p>
        </p:txBody>
      </p:sp>
    </p:spTree>
    <p:extLst>
      <p:ext uri="{BB962C8B-B14F-4D97-AF65-F5344CB8AC3E}">
        <p14:creationId xmlns:p14="http://schemas.microsoft.com/office/powerpoint/2010/main" val="1226001125"/>
      </p:ext>
    </p:extLst>
  </p:cSld>
</p:sld>
</file>

<file path=ppt/slides/slide10.xml><?xml version="1.0" encoding="utf-8"?>
<p:sld xmlns:p="http://schemas.openxmlformats.org/presentationml/2006/main">
  <p:cSld>
    <p:bg>
      <p:bgPr>
        <a:solidFill xmlns:a="http://schemas.openxmlformats.org/drawingml/2006/main">
          <a:srgbClr val="0B1F3A"/>
        </a:solidFill>
      </p:bgPr>
    </p:bg>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937FA386-510B-4359-AD60-8E4F1326B499}"/>
              </a:ext>
            </a:extLst>
          </p:cNvPr>
          <p:cNvPicPr>
            <a:picLocks xmlns:a="http://schemas.openxmlformats.org/drawingml/2006/main" noChangeAspect="1"/>
          </p:cNvPicPr>
          <p:nvPr/>
        </p:nvPicPr>
        <p:blipFill>
          <a:blip xmlns:r="http://schemas.openxmlformats.org/officeDocument/2006/relationships" xmlns:a="http://schemas.openxmlformats.org/drawingml/2006/main" r:embed="R89fbfcaa2a2746fb"/>
          <a:stretch xmlns:a="http://schemas.openxmlformats.org/drawingml/2006/main"/>
        </p:blipFill>
        <p:spPr>
          <a:xfrm xmlns:a="http://schemas.openxmlformats.org/drawingml/2006/main">
            <a:off x="723900" y="685800"/>
            <a:ext cx="1143000" cy="1143000"/>
          </a:xfrm>
          <a:prstGeom xmlns:a="http://schemas.openxmlformats.org/drawingml/2006/main" prst="rect">
            <a:avLst/>
          </a:prstGeom>
        </p:spPr>
      </p:pic>
      <p:sp>
        <p:nvSpPr>
          <p:cNvPr id="2" name="Rectangle 1">
            <a:extLst xmlns:a="http://schemas.openxmlformats.org/drawingml/2006/main">
              <a:ext uri="{FF2B5EF4-FFF2-40B4-BE49-F238E27FC236}">
                <a16:creationId xmlns:a16="http://schemas.microsoft.com/office/drawing/2014/main" id="{51696E1C-3273-4197-9FC3-97EBD15C4480}"/>
              </a:ext>
            </a:extLst>
          </p:cNvPr>
          <p:cNvSpPr>
            <a:spLocks xmlns:a="http://schemas.openxmlformats.org/drawingml/2006/main" noGrp="1"/>
          </p:cNvSpPr>
          <p:nvPr/>
        </p:nvSpPr>
        <p:spPr>
          <a:xfrm xmlns:a="http://schemas.openxmlformats.org/drawingml/2006/main">
            <a:off x="723900" y="2266950"/>
            <a:ext cx="723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00" b="1" i="0">
                <a:solidFill>
                  <a:srgbClr val="FFFFFF"/>
                </a:solidFill>
                <a:latin typeface="Aptos"/>
                <a:ea typeface="Aptos"/>
                <a:cs typeface="Aptos"/>
              </a:defRPr>
            </a:defPPr>
          </a:lstStyle>
          <a:p xmlns:a="http://schemas.openxmlformats.org/drawingml/2006/main">
            <a:pPr algn="l">
              <a:lnSpc>
                <a:spcPct val="100000"/>
              </a:lnSpc>
              <a:buNone/>
              <a:defRPr sz="5100" b="1" i="0">
                <a:solidFill>
                  <a:srgbClr val="FFFFFF"/>
                </a:solidFill>
                <a:latin typeface="Aptos"/>
                <a:ea typeface="Aptos"/>
                <a:cs typeface="Aptos"/>
              </a:defRPr>
            </a:pPr>
            <a:r>
              <a:rPr sz="5100" b="1" i="0">
                <a:solidFill>
                  <a:srgbClr val="FFFFFF"/>
                </a:solidFill>
                <a:latin typeface="Aptos"/>
                <a:ea typeface="Aptos"/>
                <a:cs typeface="Aptos"/>
              </a:rPr>
              <a:t>Questions</a:t>
            </a:r>
          </a:p>
        </p:txBody>
      </p:sp>
      <p:sp>
        <p:nvSpPr>
          <p:cNvPr id="3" name="Rectangle 2">
            <a:extLst xmlns:a="http://schemas.openxmlformats.org/drawingml/2006/main">
              <a:ext uri="{FF2B5EF4-FFF2-40B4-BE49-F238E27FC236}">
                <a16:creationId xmlns:a16="http://schemas.microsoft.com/office/drawing/2014/main" id="{21EA2AA1-ADDB-4D85-B76B-57871950C21B}"/>
              </a:ext>
            </a:extLst>
          </p:cNvPr>
          <p:cNvSpPr>
            <a:spLocks xmlns:a="http://schemas.openxmlformats.org/drawingml/2006/main" noGrp="1"/>
          </p:cNvSpPr>
          <p:nvPr/>
        </p:nvSpPr>
        <p:spPr>
          <a:xfrm xmlns:a="http://schemas.openxmlformats.org/drawingml/2006/main">
            <a:off x="723900" y="3314700"/>
            <a:ext cx="9048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i="0">
                <a:solidFill>
                  <a:srgbClr val="D9E6F7"/>
                </a:solidFill>
                <a:latin typeface="Aptos"/>
                <a:ea typeface="Aptos"/>
                <a:cs typeface="Aptos"/>
              </a:defRPr>
            </a:defPPr>
          </a:lstStyle>
          <a:p xmlns:a="http://schemas.openxmlformats.org/drawingml/2006/main">
            <a:pPr algn="l">
              <a:lnSpc>
                <a:spcPct val="105000"/>
              </a:lnSpc>
              <a:buNone/>
              <a:defRPr sz="2250" b="0" i="0">
                <a:solidFill>
                  <a:srgbClr val="D9E6F7"/>
                </a:solidFill>
                <a:latin typeface="Aptos"/>
                <a:ea typeface="Aptos"/>
                <a:cs typeface="Aptos"/>
              </a:defRPr>
            </a:pPr>
            <a:r>
              <a:rPr sz="2250" b="0" i="0">
                <a:solidFill>
                  <a:srgbClr val="D9E6F7"/>
                </a:solidFill>
                <a:latin typeface="Aptos"/>
                <a:ea typeface="Aptos"/>
                <a:cs typeface="Aptos"/>
              </a:rPr>
              <a:t>Tiered Edge AI Architecture for Cooperative UAV-Based Industrial Fire Detection</a:t>
            </a:r>
          </a:p>
        </p:txBody>
      </p:sp>
      <p:sp>
        <p:nvSpPr>
          <p:cNvPr id="4" name="Rectangle 3">
            <a:extLst xmlns:a="http://schemas.openxmlformats.org/drawingml/2006/main">
              <a:ext uri="{FF2B5EF4-FFF2-40B4-BE49-F238E27FC236}">
                <a16:creationId xmlns:a16="http://schemas.microsoft.com/office/drawing/2014/main" id="{D25ECB48-7E64-46A7-8EF9-E45CAA9031AA}"/>
              </a:ext>
            </a:extLst>
          </p:cNvPr>
          <p:cNvSpPr>
            <a:spLocks xmlns:a="http://schemas.openxmlformats.org/drawingml/2006/main" noGrp="1"/>
          </p:cNvSpPr>
          <p:nvPr/>
        </p:nvSpPr>
        <p:spPr>
          <a:xfrm xmlns:a="http://schemas.openxmlformats.org/drawingml/2006/main">
            <a:off x="723900" y="4629150"/>
            <a:ext cx="1524000" cy="76200"/>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5" name="Rectangle 4">
            <a:extLst xmlns:a="http://schemas.openxmlformats.org/drawingml/2006/main">
              <a:ext uri="{FF2B5EF4-FFF2-40B4-BE49-F238E27FC236}">
                <a16:creationId xmlns:a16="http://schemas.microsoft.com/office/drawing/2014/main" id="{95A215D8-C53A-43BF-9C9E-5B400E106E09}"/>
              </a:ext>
            </a:extLst>
          </p:cNvPr>
          <p:cNvSpPr>
            <a:spLocks xmlns:a="http://schemas.openxmlformats.org/drawingml/2006/main" noGrp="1"/>
          </p:cNvSpPr>
          <p:nvPr/>
        </p:nvSpPr>
        <p:spPr>
          <a:xfrm xmlns:a="http://schemas.openxmlformats.org/drawingml/2006/main">
            <a:off x="2247900" y="4629150"/>
            <a:ext cx="1524000" cy="76200"/>
          </a:xfrm>
          <a:prstGeom xmlns:a="http://schemas.openxmlformats.org/drawingml/2006/main" prst="rect">
            <a:avLst/>
          </a:prstGeom>
          <a:solidFill xmlns:a="http://schemas.openxmlformats.org/drawingml/2006/main">
            <a:srgbClr val="1F6FEB"/>
          </a:solidFill>
          <a:ln xmlns:a="http://schemas.openxmlformats.org/drawingml/2006/main" w="0">
            <a:noFill/>
          </a:ln>
        </p:spPr>
      </p:sp>
      <p:sp>
        <p:nvSpPr>
          <p:cNvPr id="6" name="Rectangle 5">
            <a:extLst xmlns:a="http://schemas.openxmlformats.org/drawingml/2006/main">
              <a:ext uri="{FF2B5EF4-FFF2-40B4-BE49-F238E27FC236}">
                <a16:creationId xmlns:a16="http://schemas.microsoft.com/office/drawing/2014/main" id="{16038F0A-417E-4888-9105-B301F707B7A2}"/>
              </a:ext>
            </a:extLst>
          </p:cNvPr>
          <p:cNvSpPr>
            <a:spLocks xmlns:a="http://schemas.openxmlformats.org/drawingml/2006/main" noGrp="1"/>
          </p:cNvSpPr>
          <p:nvPr/>
        </p:nvSpPr>
        <p:spPr>
          <a:xfrm xmlns:a="http://schemas.openxmlformats.org/drawingml/2006/main">
            <a:off x="723900" y="53149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i="0">
                <a:solidFill>
                  <a:srgbClr val="FFFFFF"/>
                </a:solidFill>
                <a:latin typeface="Aptos"/>
                <a:ea typeface="Aptos"/>
                <a:cs typeface="Aptos"/>
              </a:defRPr>
            </a:defPPr>
          </a:lstStyle>
          <a:p xmlns:a="http://schemas.openxmlformats.org/drawingml/2006/main">
            <a:pPr algn="l">
              <a:lnSpc>
                <a:spcPct val="100000"/>
              </a:lnSpc>
              <a:buNone/>
              <a:defRPr sz="1875" b="1" i="0">
                <a:solidFill>
                  <a:srgbClr val="FFFFFF"/>
                </a:solidFill>
                <a:latin typeface="Aptos"/>
                <a:ea typeface="Aptos"/>
                <a:cs typeface="Aptos"/>
              </a:defRPr>
            </a:pPr>
            <a:r>
              <a:rPr sz="1875" b="1" i="0">
                <a:solidFill>
                  <a:srgbClr val="FFFFFF"/>
                </a:solidFill>
                <a:latin typeface="Aptos"/>
                <a:ea typeface="Aptos"/>
                <a:cs typeface="Aptos"/>
              </a:rPr>
              <a:t>Mohammadamin Jahanimajd</a:t>
            </a:r>
          </a:p>
        </p:txBody>
      </p:sp>
      <p:sp>
        <p:nvSpPr>
          <p:cNvPr id="7" name="Rectangle 6">
            <a:extLst xmlns:a="http://schemas.openxmlformats.org/drawingml/2006/main">
              <a:ext uri="{FF2B5EF4-FFF2-40B4-BE49-F238E27FC236}">
                <a16:creationId xmlns:a16="http://schemas.microsoft.com/office/drawing/2014/main" id="{3384D2B2-49DE-4B9B-B620-669C623DEF39}"/>
              </a:ext>
            </a:extLst>
          </p:cNvPr>
          <p:cNvSpPr>
            <a:spLocks xmlns:a="http://schemas.openxmlformats.org/drawingml/2006/main" noGrp="1"/>
          </p:cNvSpPr>
          <p:nvPr/>
        </p:nvSpPr>
        <p:spPr>
          <a:xfrm xmlns:a="http://schemas.openxmlformats.org/drawingml/2006/main">
            <a:off x="723900" y="579120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i="0">
                <a:solidFill>
                  <a:srgbClr val="D9E6F7"/>
                </a:solidFill>
                <a:latin typeface="Aptos"/>
                <a:ea typeface="Aptos"/>
                <a:cs typeface="Aptos"/>
              </a:defRPr>
            </a:defPPr>
          </a:lstStyle>
          <a:p xmlns:a="http://schemas.openxmlformats.org/drawingml/2006/main">
            <a:pPr algn="l">
              <a:lnSpc>
                <a:spcPct val="100000"/>
              </a:lnSpc>
              <a:buNone/>
              <a:defRPr sz="1350" b="0" i="0">
                <a:solidFill>
                  <a:srgbClr val="D9E6F7"/>
                </a:solidFill>
                <a:latin typeface="Aptos"/>
                <a:ea typeface="Aptos"/>
                <a:cs typeface="Aptos"/>
              </a:defRPr>
            </a:pPr>
            <a:r>
              <a:rPr sz="1350" b="0" i="0">
                <a:solidFill>
                  <a:srgbClr val="D9E6F7"/>
                </a:solidFill>
                <a:latin typeface="Aptos"/>
                <a:ea typeface="Aptos"/>
                <a:cs typeface="Aptos"/>
              </a:rPr>
              <a:t>University of Messina | Academic Year 2025/2026</a:t>
            </a:r>
          </a:p>
        </p:txBody>
      </p:sp>
    </p:spTree>
    <p:extLst>
      <p:ext uri="{BB962C8B-B14F-4D97-AF65-F5344CB8AC3E}">
        <p14:creationId xmlns:p14="http://schemas.microsoft.com/office/powerpoint/2010/main" val="299525881"/>
      </p:ext>
    </p:extLst>
  </p:cSld>
</p:sld>
</file>

<file path=ppt/slides/slide11.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B98F9559-1DCF-4D00-82BC-C36276976929}"/>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B1F3A"/>
          </a:solidFill>
          <a:ln xmlns:a="http://schemas.openxmlformats.org/drawingml/2006/main" w="0">
            <a:noFill/>
          </a:ln>
        </p:spPr>
      </p:sp>
      <p:sp>
        <p:nvSpPr>
          <p:cNvPr id="2" name="Rectangle 1">
            <a:extLst xmlns:a="http://schemas.openxmlformats.org/drawingml/2006/main">
              <a:ext uri="{FF2B5EF4-FFF2-40B4-BE49-F238E27FC236}">
                <a16:creationId xmlns:a16="http://schemas.microsoft.com/office/drawing/2014/main" id="{9FDE05CC-D1A3-42BD-99D4-32500BCE44DE}"/>
              </a:ext>
            </a:extLst>
          </p:cNvPr>
          <p:cNvSpPr>
            <a:spLocks xmlns:a="http://schemas.openxmlformats.org/drawingml/2006/main" noGrp="1"/>
          </p:cNvSpPr>
          <p:nvPr/>
        </p:nvSpPr>
        <p:spPr>
          <a:xfrm xmlns:a="http://schemas.openxmlformats.org/drawingml/2006/main">
            <a:off x="609600" y="3238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i="0">
                <a:solidFill>
                  <a:srgbClr val="0B1F3A"/>
                </a:solidFill>
                <a:latin typeface="Aptos"/>
                <a:ea typeface="Aptos"/>
                <a:cs typeface="Aptos"/>
              </a:defRPr>
            </a:defPPr>
          </a:lstStyle>
          <a:p xmlns:a="http://schemas.openxmlformats.org/drawingml/2006/main">
            <a:pPr algn="l">
              <a:lnSpc>
                <a:spcPct val="100000"/>
              </a:lnSpc>
              <a:buNone/>
              <a:defRPr sz="3150" b="1" i="0">
                <a:solidFill>
                  <a:srgbClr val="0B1F3A"/>
                </a:solidFill>
                <a:latin typeface="Aptos"/>
                <a:ea typeface="Aptos"/>
                <a:cs typeface="Aptos"/>
              </a:defRPr>
            </a:pPr>
            <a:r>
              <a:rPr sz="3150" b="1" i="0">
                <a:solidFill>
                  <a:srgbClr val="0B1F3A"/>
                </a:solidFill>
                <a:latin typeface="Aptos"/>
                <a:ea typeface="Aptos"/>
                <a:cs typeface="Aptos"/>
              </a:rPr>
              <a:t>Appendix A1: six-model metrics</a:t>
            </a:r>
          </a:p>
        </p:txBody>
      </p:sp>
      <p:sp>
        <p:nvSpPr>
          <p:cNvPr id="3" name="Rectangle 2">
            <a:extLst xmlns:a="http://schemas.openxmlformats.org/drawingml/2006/main">
              <a:ext uri="{FF2B5EF4-FFF2-40B4-BE49-F238E27FC236}">
                <a16:creationId xmlns:a16="http://schemas.microsoft.com/office/drawing/2014/main" id="{D23F683D-6A71-4E9A-AEC3-DA1F14099040}"/>
              </a:ext>
            </a:extLst>
          </p:cNvPr>
          <p:cNvSpPr>
            <a:spLocks xmlns:a="http://schemas.openxmlformats.org/drawingml/2006/main" noGrp="1"/>
          </p:cNvSpPr>
          <p:nvPr/>
        </p:nvSpPr>
        <p:spPr>
          <a:xfrm xmlns:a="http://schemas.openxmlformats.org/drawingml/2006/main">
            <a:off x="609600" y="8382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i="0">
                <a:solidFill>
                  <a:srgbClr val="5B6675"/>
                </a:solidFill>
                <a:latin typeface="Aptos"/>
                <a:ea typeface="Aptos"/>
                <a:cs typeface="Aptos"/>
              </a:defRPr>
            </a:defPPr>
          </a:lstStyle>
          <a:p xmlns:a="http://schemas.openxmlformats.org/drawingml/2006/main">
            <a:pPr algn="l">
              <a:lnSpc>
                <a:spcPct val="100000"/>
              </a:lnSpc>
              <a:buNone/>
              <a:defRPr sz="1425" b="0" i="0">
                <a:solidFill>
                  <a:srgbClr val="5B6675"/>
                </a:solidFill>
                <a:latin typeface="Aptos"/>
                <a:ea typeface="Aptos"/>
                <a:cs typeface="Aptos"/>
              </a:defRPr>
            </a:pPr>
            <a:r>
              <a:rPr sz="1425" b="0" i="0">
                <a:solidFill>
                  <a:srgbClr val="5B6675"/>
                </a:solidFill>
                <a:latin typeface="Aptos"/>
                <a:ea typeface="Aptos"/>
                <a:cs typeface="Aptos"/>
              </a:rPr>
              <a:t>Frozen validation and one-time test metrics</a:t>
            </a:r>
          </a:p>
        </p:txBody>
      </p:sp>
      <p:sp>
        <p:nvSpPr>
          <p:cNvPr id="4" name="Straight Connector 3">
            <a:extLst xmlns:a="http://schemas.openxmlformats.org/drawingml/2006/main">
              <a:ext uri="{FF2B5EF4-FFF2-40B4-BE49-F238E27FC236}">
                <a16:creationId xmlns:a16="http://schemas.microsoft.com/office/drawing/2014/main" id="{54645DD2-F775-403E-8E85-7A89F22A1A73}"/>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9525">
            <a:solidFill>
              <a:srgbClr val="D7DEE8"/>
            </a:solidFill>
            <a:prstDash val="solid"/>
          </a:ln>
        </p:spPr>
      </p:sp>
      <p:sp>
        <p:nvSpPr>
          <p:cNvPr id="6" name="Rectangle 5">
            <a:extLst xmlns:a="http://schemas.openxmlformats.org/drawingml/2006/main">
              <a:ext uri="{FF2B5EF4-FFF2-40B4-BE49-F238E27FC236}">
                <a16:creationId xmlns:a16="http://schemas.microsoft.com/office/drawing/2014/main" id="{B3D8540E-92B1-4CE8-AD61-99CED4A7C97C}"/>
              </a:ext>
            </a:extLst>
          </p:cNvPr>
          <p:cNvSpPr>
            <a:spLocks xmlns:a="http://schemas.openxmlformats.org/drawingml/2006/main" noGrp="1"/>
          </p:cNvSpPr>
          <p:nvPr/>
        </p:nvSpPr>
        <p:spPr>
          <a:xfrm xmlns:a="http://schemas.openxmlformats.org/drawingml/2006/main">
            <a:off x="11144250" y="65151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i="0">
                <a:solidFill>
                  <a:srgbClr val="5B6675"/>
                </a:solidFill>
                <a:latin typeface="Aptos"/>
                <a:ea typeface="Aptos"/>
                <a:cs typeface="Aptos"/>
              </a:defRPr>
            </a:defPPr>
          </a:lstStyle>
          <a:p xmlns:a="http://schemas.openxmlformats.org/drawingml/2006/main">
            <a:pPr algn="r">
              <a:lnSpc>
                <a:spcPct val="100000"/>
              </a:lnSpc>
              <a:buNone/>
              <a:defRPr sz="975" b="0" i="0">
                <a:solidFill>
                  <a:srgbClr val="5B6675"/>
                </a:solidFill>
                <a:latin typeface="Aptos"/>
                <a:ea typeface="Aptos"/>
                <a:cs typeface="Aptos"/>
              </a:defRPr>
            </a:pPr>
            <a:r>
              <a:rPr sz="975" b="0" i="0">
                <a:solidFill>
                  <a:srgbClr val="5B6675"/>
                </a:solidFill>
                <a:latin typeface="Aptos"/>
                <a:ea typeface="Aptos"/>
                <a:cs typeface="Aptos"/>
              </a:rPr>
              <a:t>A1</a:t>
            </a:r>
          </a:p>
        </p:txBody>
      </p:sp>
      <p:graphicFrame>
        <p:nvGraphicFramePr>
          <p:cNvPr id="7" name="Table 6">
            <a:extLst xmlns:a="http://schemas.openxmlformats.org/drawingml/2006/main">
              <a:ext uri="{FF2B5EF4-FFF2-40B4-BE49-F238E27FC236}">
                <a16:creationId xmlns:a16="http://schemas.microsoft.com/office/drawing/2014/main" id="{E1E67A0B-0825-4D3C-857B-84E88DE93D51}"/>
              </a:ext>
            </a:extLst>
          </p:cNvPr>
          <p:cNvGraphicFramePr/>
          <p:nvPr/>
        </p:nvGraphicFramePr>
        <p:xfrm>
          <a:off xmlns:a="http://schemas.openxmlformats.org/drawingml/2006/main" x="428625" y="1428750"/>
          <a:ext xmlns:a="http://schemas.openxmlformats.org/drawingml/2006/main" cx="11334750" cy="3714753"/>
        </p:xfrm>
        <a:graphic xmlns:a="http://schemas.openxmlformats.org/drawingml/2006/main">
          <a:graphicData uri="http://schemas.openxmlformats.org/drawingml/2006/table">
            <a:tbl>
              <a:tblPr/>
              <a:tblGrid>
                <a:gridCol w="2286000"/>
                <a:gridCol w="1238250"/>
                <a:gridCol w="1238250"/>
                <a:gridCol w="1285875"/>
                <a:gridCol w="1238250"/>
                <a:gridCol w="1238250"/>
                <a:gridCol w="2809875"/>
              </a:tblGrid>
              <a:tr h="530679">
                <a:tc>
                  <a:txBody>
                    <a:bodyPr/>
                    <a:lstStyle/>
                    <a:p>
                      <a:r>
                        <a:t>Candidate</a:t>
                      </a:r>
                    </a:p>
                  </a:txBody>
                  <a:tcPr marL="91440" marR="91440" marT="45720" marB="45720"/>
                </a:tc>
                <a:tc>
                  <a:txBody>
                    <a:bodyPr/>
                    <a:lstStyle/>
                    <a:p>
                      <a:r>
                        <a:t>Val AP</a:t>
                      </a:r>
                    </a:p>
                  </a:txBody>
                  <a:tcPr marL="91440" marR="91440" marT="45720" marB="45720"/>
                </a:tc>
                <a:tc>
                  <a:txBody>
                    <a:bodyPr/>
                    <a:lstStyle/>
                    <a:p>
                      <a:r>
                        <a:t>Val F1</a:t>
                      </a:r>
                    </a:p>
                  </a:txBody>
                  <a:tcPr marL="91440" marR="91440" marT="45720" marB="45720"/>
                </a:tc>
                <a:tc>
                  <a:txBody>
                    <a:bodyPr/>
                    <a:lstStyle/>
                    <a:p>
                      <a:r>
                        <a:t>Mean ms</a:t>
                      </a:r>
                    </a:p>
                  </a:txBody>
                  <a:tcPr marL="91440" marR="91440" marT="45720" marB="45720"/>
                </a:tc>
                <a:tc>
                  <a:txBody>
                    <a:bodyPr/>
                    <a:lstStyle/>
                    <a:p>
                      <a:r>
                        <a:t>Test AP</a:t>
                      </a:r>
                    </a:p>
                  </a:txBody>
                  <a:tcPr marL="91440" marR="91440" marT="45720" marB="45720"/>
                </a:tc>
                <a:tc>
                  <a:txBody>
                    <a:bodyPr/>
                    <a:lstStyle/>
                    <a:p>
                      <a:r>
                        <a:t>Test F1</a:t>
                      </a:r>
                    </a:p>
                  </a:txBody>
                  <a:tcPr marL="91440" marR="91440" marT="45720" marB="45720"/>
                </a:tc>
                <a:tc>
                  <a:txBody>
                    <a:bodyPr/>
                    <a:lstStyle/>
                    <a:p>
                      <a:r>
                        <a:t>Test 95% F1 CI</a:t>
                      </a:r>
                    </a:p>
                  </a:txBody>
                  <a:tcPr marL="91440" marR="91440" marT="45720" marB="45720"/>
                </a:tc>
              </a:tr>
              <a:tr h="530679">
                <a:tc>
                  <a:txBody>
                    <a:bodyPr/>
                    <a:lstStyle/>
                    <a:p>
                      <a:r>
                        <a:t>YOLOv8n-416</a:t>
                      </a:r>
                    </a:p>
                  </a:txBody>
                  <a:tcPr marL="91440" marR="91440" marT="45720" marB="45720"/>
                </a:tc>
                <a:tc>
                  <a:txBody>
                    <a:bodyPr/>
                    <a:lstStyle/>
                    <a:p>
                      <a:r>
                        <a:t>0.236</a:t>
                      </a:r>
                    </a:p>
                  </a:txBody>
                  <a:tcPr marL="91440" marR="91440" marT="45720" marB="45720"/>
                </a:tc>
                <a:tc>
                  <a:txBody>
                    <a:bodyPr/>
                    <a:lstStyle/>
                    <a:p>
                      <a:r>
                        <a:t>0.612</a:t>
                      </a:r>
                    </a:p>
                  </a:txBody>
                  <a:tcPr marL="91440" marR="91440" marT="45720" marB="45720"/>
                </a:tc>
                <a:tc>
                  <a:txBody>
                    <a:bodyPr/>
                    <a:lstStyle/>
                    <a:p>
                      <a:r>
                        <a:t>9.89</a:t>
                      </a:r>
                    </a:p>
                  </a:txBody>
                  <a:tcPr marL="91440" marR="91440" marT="45720" marB="45720"/>
                </a:tc>
                <a:tc>
                  <a:txBody>
                    <a:bodyPr/>
                    <a:lstStyle/>
                    <a:p>
                      <a:r>
                        <a:t>0.119</a:t>
                      </a:r>
                    </a:p>
                  </a:txBody>
                  <a:tcPr marL="91440" marR="91440" marT="45720" marB="45720"/>
                </a:tc>
                <a:tc>
                  <a:txBody>
                    <a:bodyPr/>
                    <a:lstStyle/>
                    <a:p>
                      <a:r>
                        <a:t>0.386</a:t>
                      </a:r>
                    </a:p>
                  </a:txBody>
                  <a:tcPr marL="91440" marR="91440" marT="45720" marB="45720"/>
                </a:tc>
                <a:tc>
                  <a:txBody>
                    <a:bodyPr/>
                    <a:lstStyle/>
                    <a:p>
                      <a:r>
                        <a:t>[0.236, 0.544]</a:t>
                      </a:r>
                    </a:p>
                  </a:txBody>
                  <a:tcPr marL="91440" marR="91440" marT="45720" marB="45720"/>
                </a:tc>
              </a:tr>
              <a:tr h="530679">
                <a:tc>
                  <a:txBody>
                    <a:bodyPr/>
                    <a:lstStyle/>
                    <a:p>
                      <a:r>
                        <a:t>YOLOv8n-640</a:t>
                      </a:r>
                    </a:p>
                  </a:txBody>
                  <a:tcPr marL="91440" marR="91440" marT="45720" marB="45720"/>
                </a:tc>
                <a:tc>
                  <a:txBody>
                    <a:bodyPr/>
                    <a:lstStyle/>
                    <a:p>
                      <a:r>
                        <a:t>0.220</a:t>
                      </a:r>
                    </a:p>
                  </a:txBody>
                  <a:tcPr marL="91440" marR="91440" marT="45720" marB="45720"/>
                </a:tc>
                <a:tc>
                  <a:txBody>
                    <a:bodyPr/>
                    <a:lstStyle/>
                    <a:p>
                      <a:r>
                        <a:t>0.555</a:t>
                      </a:r>
                    </a:p>
                  </a:txBody>
                  <a:tcPr marL="91440" marR="91440" marT="45720" marB="45720"/>
                </a:tc>
                <a:tc>
                  <a:txBody>
                    <a:bodyPr/>
                    <a:lstStyle/>
                    <a:p>
                      <a:r>
                        <a:t>7.91</a:t>
                      </a:r>
                    </a:p>
                  </a:txBody>
                  <a:tcPr marL="91440" marR="91440" marT="45720" marB="45720"/>
                </a:tc>
                <a:tc>
                  <a:txBody>
                    <a:bodyPr/>
                    <a:lstStyle/>
                    <a:p>
                      <a:r>
                        <a:t>0.101</a:t>
                      </a:r>
                    </a:p>
                  </a:txBody>
                  <a:tcPr marL="91440" marR="91440" marT="45720" marB="45720"/>
                </a:tc>
                <a:tc>
                  <a:txBody>
                    <a:bodyPr/>
                    <a:lstStyle/>
                    <a:p>
                      <a:r>
                        <a:t>0.329</a:t>
                      </a:r>
                    </a:p>
                  </a:txBody>
                  <a:tcPr marL="91440" marR="91440" marT="45720" marB="45720"/>
                </a:tc>
                <a:tc>
                  <a:txBody>
                    <a:bodyPr/>
                    <a:lstStyle/>
                    <a:p>
                      <a:r>
                        <a:t>[0.175, 0.450]</a:t>
                      </a:r>
                    </a:p>
                  </a:txBody>
                  <a:tcPr marL="91440" marR="91440" marT="45720" marB="45720"/>
                </a:tc>
              </a:tr>
              <a:tr h="530679">
                <a:tc>
                  <a:txBody>
                    <a:bodyPr/>
                    <a:lstStyle/>
                    <a:p>
                      <a:r>
                        <a:t>YOLOv8s-416</a:t>
                      </a:r>
                    </a:p>
                  </a:txBody>
                  <a:tcPr marL="91440" marR="91440" marT="45720" marB="45720"/>
                </a:tc>
                <a:tc>
                  <a:txBody>
                    <a:bodyPr/>
                    <a:lstStyle/>
                    <a:p>
                      <a:r>
                        <a:t>0.203</a:t>
                      </a:r>
                    </a:p>
                  </a:txBody>
                  <a:tcPr marL="91440" marR="91440" marT="45720" marB="45720"/>
                </a:tc>
                <a:tc>
                  <a:txBody>
                    <a:bodyPr/>
                    <a:lstStyle/>
                    <a:p>
                      <a:r>
                        <a:t>0.541</a:t>
                      </a:r>
                    </a:p>
                  </a:txBody>
                  <a:tcPr marL="91440" marR="91440" marT="45720" marB="45720"/>
                </a:tc>
                <a:tc>
                  <a:txBody>
                    <a:bodyPr/>
                    <a:lstStyle/>
                    <a:p>
                      <a:r>
                        <a:t>11.14</a:t>
                      </a:r>
                    </a:p>
                  </a:txBody>
                  <a:tcPr marL="91440" marR="91440" marT="45720" marB="45720"/>
                </a:tc>
                <a:tc>
                  <a:txBody>
                    <a:bodyPr/>
                    <a:lstStyle/>
                    <a:p>
                      <a:r>
                        <a:t>0.130</a:t>
                      </a:r>
                    </a:p>
                  </a:txBody>
                  <a:tcPr marL="91440" marR="91440" marT="45720" marB="45720"/>
                </a:tc>
                <a:tc>
                  <a:txBody>
                    <a:bodyPr/>
                    <a:lstStyle/>
                    <a:p>
                      <a:r>
                        <a:t>0.393</a:t>
                      </a:r>
                    </a:p>
                  </a:txBody>
                  <a:tcPr marL="91440" marR="91440" marT="45720" marB="45720"/>
                </a:tc>
                <a:tc>
                  <a:txBody>
                    <a:bodyPr/>
                    <a:lstStyle/>
                    <a:p>
                      <a:r>
                        <a:t>[0.236, 0.537]</a:t>
                      </a:r>
                    </a:p>
                  </a:txBody>
                  <a:tcPr marL="91440" marR="91440" marT="45720" marB="45720"/>
                </a:tc>
              </a:tr>
              <a:tr h="530679">
                <a:tc>
                  <a:txBody>
                    <a:bodyPr/>
                    <a:lstStyle/>
                    <a:p>
                      <a:r>
                        <a:t>YOLOv8s-640</a:t>
                      </a:r>
                    </a:p>
                  </a:txBody>
                  <a:tcPr marL="91440" marR="91440" marT="45720" marB="45720"/>
                </a:tc>
                <a:tc>
                  <a:txBody>
                    <a:bodyPr/>
                    <a:lstStyle/>
                    <a:p>
                      <a:r>
                        <a:t>0.213</a:t>
                      </a:r>
                    </a:p>
                  </a:txBody>
                  <a:tcPr marL="91440" marR="91440" marT="45720" marB="45720"/>
                </a:tc>
                <a:tc>
                  <a:txBody>
                    <a:bodyPr/>
                    <a:lstStyle/>
                    <a:p>
                      <a:r>
                        <a:t>0.562</a:t>
                      </a:r>
                    </a:p>
                  </a:txBody>
                  <a:tcPr marL="91440" marR="91440" marT="45720" marB="45720"/>
                </a:tc>
                <a:tc>
                  <a:txBody>
                    <a:bodyPr/>
                    <a:lstStyle/>
                    <a:p>
                      <a:r>
                        <a:t>10.99</a:t>
                      </a:r>
                    </a:p>
                  </a:txBody>
                  <a:tcPr marL="91440" marR="91440" marT="45720" marB="45720"/>
                </a:tc>
                <a:tc>
                  <a:txBody>
                    <a:bodyPr/>
                    <a:lstStyle/>
                    <a:p>
                      <a:r>
                        <a:t>0.133</a:t>
                      </a:r>
                    </a:p>
                  </a:txBody>
                  <a:tcPr marL="91440" marR="91440" marT="45720" marB="45720"/>
                </a:tc>
                <a:tc>
                  <a:txBody>
                    <a:bodyPr/>
                    <a:lstStyle/>
                    <a:p>
                      <a:r>
                        <a:t>0.409</a:t>
                      </a:r>
                    </a:p>
                  </a:txBody>
                  <a:tcPr marL="91440" marR="91440" marT="45720" marB="45720"/>
                </a:tc>
                <a:tc>
                  <a:txBody>
                    <a:bodyPr/>
                    <a:lstStyle/>
                    <a:p>
                      <a:r>
                        <a:t>[0.245, 0.545]</a:t>
                      </a:r>
                    </a:p>
                  </a:txBody>
                  <a:tcPr marL="91440" marR="91440" marT="45720" marB="45720"/>
                </a:tc>
              </a:tr>
              <a:tr h="530679">
                <a:tc>
                  <a:txBody>
                    <a:bodyPr/>
                    <a:lstStyle/>
                    <a:p>
                      <a:r>
                        <a:t>SSD MobileNet-320</a:t>
                      </a:r>
                    </a:p>
                  </a:txBody>
                  <a:tcPr marL="91440" marR="91440" marT="45720" marB="45720"/>
                </a:tc>
                <a:tc>
                  <a:txBody>
                    <a:bodyPr/>
                    <a:lstStyle/>
                    <a:p>
                      <a:r>
                        <a:t>0.185</a:t>
                      </a:r>
                    </a:p>
                  </a:txBody>
                  <a:tcPr marL="91440" marR="91440" marT="45720" marB="45720"/>
                </a:tc>
                <a:tc>
                  <a:txBody>
                    <a:bodyPr/>
                    <a:lstStyle/>
                    <a:p>
                      <a:r>
                        <a:t>0.571</a:t>
                      </a:r>
                    </a:p>
                  </a:txBody>
                  <a:tcPr marL="91440" marR="91440" marT="45720" marB="45720"/>
                </a:tc>
                <a:tc>
                  <a:txBody>
                    <a:bodyPr/>
                    <a:lstStyle/>
                    <a:p>
                      <a:r>
                        <a:t>27.44</a:t>
                      </a:r>
                    </a:p>
                  </a:txBody>
                  <a:tcPr marL="91440" marR="91440" marT="45720" marB="45720"/>
                </a:tc>
                <a:tc>
                  <a:txBody>
                    <a:bodyPr/>
                    <a:lstStyle/>
                    <a:p>
                      <a:r>
                        <a:t>0.114</a:t>
                      </a:r>
                    </a:p>
                  </a:txBody>
                  <a:tcPr marL="91440" marR="91440" marT="45720" marB="45720"/>
                </a:tc>
                <a:tc>
                  <a:txBody>
                    <a:bodyPr/>
                    <a:lstStyle/>
                    <a:p>
                      <a:r>
                        <a:t>0.330</a:t>
                      </a:r>
                    </a:p>
                  </a:txBody>
                  <a:tcPr marL="91440" marR="91440" marT="45720" marB="45720"/>
                </a:tc>
                <a:tc>
                  <a:txBody>
                    <a:bodyPr/>
                    <a:lstStyle/>
                    <a:p>
                      <a:r>
                        <a:t>[0.162, 0.479]</a:t>
                      </a:r>
                    </a:p>
                  </a:txBody>
                  <a:tcPr marL="91440" marR="91440" marT="45720" marB="45720"/>
                </a:tc>
              </a:tr>
              <a:tr h="530679">
                <a:tc>
                  <a:txBody>
                    <a:bodyPr/>
                    <a:lstStyle/>
                    <a:p>
                      <a:r>
                        <a:t>EfficientDet-320</a:t>
                      </a:r>
                    </a:p>
                  </a:txBody>
                  <a:tcPr marL="91440" marR="91440" marT="45720" marB="45720"/>
                </a:tc>
                <a:tc>
                  <a:txBody>
                    <a:bodyPr/>
                    <a:lstStyle/>
                    <a:p>
                      <a:r>
                        <a:t>0.161</a:t>
                      </a:r>
                    </a:p>
                  </a:txBody>
                  <a:tcPr marL="91440" marR="91440" marT="45720" marB="45720"/>
                </a:tc>
                <a:tc>
                  <a:txBody>
                    <a:bodyPr/>
                    <a:lstStyle/>
                    <a:p>
                      <a:r>
                        <a:t>0.497</a:t>
                      </a:r>
                    </a:p>
                  </a:txBody>
                  <a:tcPr marL="91440" marR="91440" marT="45720" marB="45720"/>
                </a:tc>
                <a:tc>
                  <a:txBody>
                    <a:bodyPr/>
                    <a:lstStyle/>
                    <a:p>
                      <a:r>
                        <a:t>1263.86</a:t>
                      </a:r>
                    </a:p>
                  </a:txBody>
                  <a:tcPr marL="91440" marR="91440" marT="45720" marB="45720"/>
                </a:tc>
                <a:tc>
                  <a:txBody>
                    <a:bodyPr/>
                    <a:lstStyle/>
                    <a:p>
                      <a:r>
                        <a:t>0.168</a:t>
                      </a:r>
                    </a:p>
                  </a:txBody>
                  <a:tcPr marL="91440" marR="91440" marT="45720" marB="45720"/>
                </a:tc>
                <a:tc>
                  <a:txBody>
                    <a:bodyPr/>
                    <a:lstStyle/>
                    <a:p>
                      <a:r>
                        <a:t>0.442</a:t>
                      </a:r>
                    </a:p>
                  </a:txBody>
                  <a:tcPr marL="91440" marR="91440" marT="45720" marB="45720"/>
                </a:tc>
                <a:tc>
                  <a:txBody>
                    <a:bodyPr/>
                    <a:lstStyle/>
                    <a:p>
                      <a:r>
                        <a:t>[0.274, 0.596]</a:t>
                      </a:r>
                    </a:p>
                  </a:txBody>
                  <a:tcPr marL="91440" marR="91440" marT="45720" marB="45720"/>
                </a:tc>
              </a:tr>
            </a:tbl>
          </a:graphicData>
        </a:graphic>
      </p:graphicFrame>
      <p:sp>
        <p:nvSpPr>
          <p:cNvPr id="8" name="Rectangle 7">
            <a:extLst xmlns:a="http://schemas.openxmlformats.org/drawingml/2006/main">
              <a:ext uri="{FF2B5EF4-FFF2-40B4-BE49-F238E27FC236}">
                <a16:creationId xmlns:a16="http://schemas.microsoft.com/office/drawing/2014/main" id="{B3445BCA-AF39-41D1-9198-4FA1EC635518}"/>
              </a:ext>
            </a:extLst>
          </p:cNvPr>
          <p:cNvSpPr>
            <a:spLocks xmlns:a="http://schemas.openxmlformats.org/drawingml/2006/main" noGrp="1"/>
          </p:cNvSpPr>
          <p:nvPr/>
        </p:nvSpPr>
        <p:spPr>
          <a:xfrm xmlns:a="http://schemas.openxmlformats.org/drawingml/2006/main">
            <a:off x="431800" y="5321300"/>
            <a:ext cx="11328400" cy="838200"/>
          </a:xfrm>
          <a:prstGeom xmlns:a="http://schemas.openxmlformats.org/drawingml/2006/main" prst="rect">
            <a:avLst/>
          </a:prstGeom>
          <a:solidFill xmlns:a="http://schemas.openxmlformats.org/drawingml/2006/main">
            <a:srgbClr val="FFF3E5"/>
          </a:solidFill>
          <a:ln xmlns:a="http://schemas.openxmlformats.org/drawingml/2006/main" w="0">
            <a:noFill/>
          </a:ln>
        </p:spPr>
        <p:txBody>
          <a:bodyPr xmlns:a="http://schemas.openxmlformats.org/drawingml/2006/main" wrap="square" lIns="203200" tIns="101600" rIns="203200" bIns="76200" anchor="t">
            <a:noAutofit/>
          </a:bodyPr>
          <a:lstStyle xmlns:a="http://schemas.openxmlformats.org/drawingml/2006/main">
            <a:defPPr algn="l">
              <a:defRPr sz="1500" b="0" i="0">
                <a:solidFill>
                  <a:srgbClr val="172033"/>
                </a:solidFill>
                <a:latin typeface="Aptos"/>
                <a:ea typeface="Aptos"/>
                <a:cs typeface="Aptos"/>
              </a:defRPr>
            </a:defPPr>
          </a:lstStyle>
          <a:p xmlns:a="http://schemas.openxmlformats.org/drawingml/2006/main">
            <a:pPr algn="l">
              <a:lnSpc>
                <a:spcPct val="100000"/>
              </a:lnSpc>
              <a:buNone/>
              <a:defRPr sz="1500" b="0" i="0">
                <a:solidFill>
                  <a:srgbClr val="172033"/>
                </a:solidFill>
                <a:latin typeface="Aptos"/>
                <a:ea typeface="Aptos"/>
                <a:cs typeface="Aptos"/>
              </a:defRPr>
            </a:pPr>
            <a:r>
              <a:rPr sz="1225" b="0" i="0">
                <a:solidFill>
                  <a:srgbClr val="172033"/>
                </a:solidFill>
                <a:latin typeface="Aptos"/>
                <a:ea typeface="Aptos"/>
                <a:cs typeface="Aptos"/>
              </a:rPr>
              <a:t>The controlled comparison followed the demonstrated hardware deployments. It exposes split-dependent ranking but does not establish a best model for either edge device.</a:t>
            </a:r>
          </a:p>
        </p:txBody>
      </p:sp>
    </p:spTree>
    <p:extLst>
      <p:ext uri="{BB962C8B-B14F-4D97-AF65-F5344CB8AC3E}">
        <p14:creationId xmlns:p14="http://schemas.microsoft.com/office/powerpoint/2010/main" val="1481508129"/>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98DE21B5-28AC-4510-ABC7-3B2CBB1C9BE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B1F3A"/>
          </a:solidFill>
          <a:ln xmlns:a="http://schemas.openxmlformats.org/drawingml/2006/main" w="0">
            <a:noFill/>
          </a:ln>
        </p:spPr>
      </p:sp>
      <p:sp>
        <p:nvSpPr>
          <p:cNvPr id="2" name="Rectangle 1">
            <a:extLst xmlns:a="http://schemas.openxmlformats.org/drawingml/2006/main">
              <a:ext uri="{FF2B5EF4-FFF2-40B4-BE49-F238E27FC236}">
                <a16:creationId xmlns:a16="http://schemas.microsoft.com/office/drawing/2014/main" id="{74365C46-E22A-4187-A406-6C51AFC66425}"/>
              </a:ext>
            </a:extLst>
          </p:cNvPr>
          <p:cNvSpPr>
            <a:spLocks xmlns:a="http://schemas.openxmlformats.org/drawingml/2006/main" noGrp="1"/>
          </p:cNvSpPr>
          <p:nvPr/>
        </p:nvSpPr>
        <p:spPr>
          <a:xfrm xmlns:a="http://schemas.openxmlformats.org/drawingml/2006/main">
            <a:off x="609600" y="3238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i="0">
                <a:solidFill>
                  <a:srgbClr val="0B1F3A"/>
                </a:solidFill>
                <a:latin typeface="Aptos"/>
                <a:ea typeface="Aptos"/>
                <a:cs typeface="Aptos"/>
              </a:defRPr>
            </a:defPPr>
          </a:lstStyle>
          <a:p xmlns:a="http://schemas.openxmlformats.org/drawingml/2006/main">
            <a:pPr algn="l">
              <a:lnSpc>
                <a:spcPct val="100000"/>
              </a:lnSpc>
              <a:buNone/>
              <a:defRPr sz="3150" b="1" i="0">
                <a:solidFill>
                  <a:srgbClr val="0B1F3A"/>
                </a:solidFill>
                <a:latin typeface="Aptos"/>
                <a:ea typeface="Aptos"/>
                <a:cs typeface="Aptos"/>
              </a:defRPr>
            </a:pPr>
            <a:r>
              <a:rPr sz="3150" b="1" i="0">
                <a:solidFill>
                  <a:srgbClr val="0B1F3A"/>
                </a:solidFill>
                <a:latin typeface="Aptos"/>
                <a:ea typeface="Aptos"/>
                <a:cs typeface="Aptos"/>
              </a:rPr>
              <a:t>Appendix A2: conversion and artifact lineage</a:t>
            </a:r>
          </a:p>
        </p:txBody>
      </p:sp>
      <p:sp>
        <p:nvSpPr>
          <p:cNvPr id="3" name="Rectangle 2">
            <a:extLst xmlns:a="http://schemas.openxmlformats.org/drawingml/2006/main">
              <a:ext uri="{FF2B5EF4-FFF2-40B4-BE49-F238E27FC236}">
                <a16:creationId xmlns:a16="http://schemas.microsoft.com/office/drawing/2014/main" id="{D522140F-7DD5-4EDF-AD7F-5776B7A0C499}"/>
              </a:ext>
            </a:extLst>
          </p:cNvPr>
          <p:cNvSpPr>
            <a:spLocks xmlns:a="http://schemas.openxmlformats.org/drawingml/2006/main" noGrp="1"/>
          </p:cNvSpPr>
          <p:nvPr/>
        </p:nvSpPr>
        <p:spPr>
          <a:xfrm xmlns:a="http://schemas.openxmlformats.org/drawingml/2006/main">
            <a:off x="609600" y="8382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i="0">
                <a:solidFill>
                  <a:srgbClr val="5B6675"/>
                </a:solidFill>
                <a:latin typeface="Aptos"/>
                <a:ea typeface="Aptos"/>
                <a:cs typeface="Aptos"/>
              </a:defRPr>
            </a:defPPr>
          </a:lstStyle>
          <a:p xmlns:a="http://schemas.openxmlformats.org/drawingml/2006/main">
            <a:pPr algn="l">
              <a:lnSpc>
                <a:spcPct val="100000"/>
              </a:lnSpc>
              <a:buNone/>
              <a:defRPr sz="1425" b="0" i="0">
                <a:solidFill>
                  <a:srgbClr val="5B6675"/>
                </a:solidFill>
                <a:latin typeface="Aptos"/>
                <a:ea typeface="Aptos"/>
                <a:cs typeface="Aptos"/>
              </a:defRPr>
            </a:pPr>
            <a:r>
              <a:rPr sz="1425" b="0" i="0">
                <a:solidFill>
                  <a:srgbClr val="5B6675"/>
                </a:solidFill>
                <a:latin typeface="Aptos"/>
                <a:ea typeface="Aptos"/>
                <a:cs typeface="Aptos"/>
              </a:rPr>
              <a:t>Fidelity checks for candidate model artifacts and separate historical deployments</a:t>
            </a:r>
          </a:p>
        </p:txBody>
      </p:sp>
      <p:sp>
        <p:nvSpPr>
          <p:cNvPr id="4" name="Straight Connector 3">
            <a:extLst xmlns:a="http://schemas.openxmlformats.org/drawingml/2006/main">
              <a:ext uri="{FF2B5EF4-FFF2-40B4-BE49-F238E27FC236}">
                <a16:creationId xmlns:a16="http://schemas.microsoft.com/office/drawing/2014/main" id="{3F68C1CE-0F54-4646-B8BF-38D1A19043B1}"/>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9525">
            <a:solidFill>
              <a:srgbClr val="D7DEE8"/>
            </a:solidFill>
            <a:prstDash val="solid"/>
          </a:ln>
        </p:spPr>
      </p:sp>
      <p:sp>
        <p:nvSpPr>
          <p:cNvPr id="6" name="Rectangle 5">
            <a:extLst xmlns:a="http://schemas.openxmlformats.org/drawingml/2006/main">
              <a:ext uri="{FF2B5EF4-FFF2-40B4-BE49-F238E27FC236}">
                <a16:creationId xmlns:a16="http://schemas.microsoft.com/office/drawing/2014/main" id="{3E260624-9D07-4FFD-B13A-10304B2A2337}"/>
              </a:ext>
            </a:extLst>
          </p:cNvPr>
          <p:cNvSpPr>
            <a:spLocks xmlns:a="http://schemas.openxmlformats.org/drawingml/2006/main" noGrp="1"/>
          </p:cNvSpPr>
          <p:nvPr/>
        </p:nvSpPr>
        <p:spPr>
          <a:xfrm xmlns:a="http://schemas.openxmlformats.org/drawingml/2006/main">
            <a:off x="11144250" y="65151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i="0">
                <a:solidFill>
                  <a:srgbClr val="5B6675"/>
                </a:solidFill>
                <a:latin typeface="Aptos"/>
                <a:ea typeface="Aptos"/>
                <a:cs typeface="Aptos"/>
              </a:defRPr>
            </a:defPPr>
          </a:lstStyle>
          <a:p xmlns:a="http://schemas.openxmlformats.org/drawingml/2006/main">
            <a:pPr algn="r">
              <a:lnSpc>
                <a:spcPct val="100000"/>
              </a:lnSpc>
              <a:buNone/>
              <a:defRPr sz="975" b="0" i="0">
                <a:solidFill>
                  <a:srgbClr val="5B6675"/>
                </a:solidFill>
                <a:latin typeface="Aptos"/>
                <a:ea typeface="Aptos"/>
                <a:cs typeface="Aptos"/>
              </a:defRPr>
            </a:pPr>
            <a:r>
              <a:rPr sz="975" b="0" i="0">
                <a:solidFill>
                  <a:srgbClr val="5B6675"/>
                </a:solidFill>
                <a:latin typeface="Aptos"/>
                <a:ea typeface="Aptos"/>
                <a:cs typeface="Aptos"/>
              </a:rPr>
              <a:t>A2</a:t>
            </a:r>
          </a:p>
        </p:txBody>
      </p:sp>
      <p:graphicFrame>
        <p:nvGraphicFramePr>
          <p:cNvPr id="7" name="Table 6">
            <a:extLst xmlns:a="http://schemas.openxmlformats.org/drawingml/2006/main">
              <a:ext uri="{FF2B5EF4-FFF2-40B4-BE49-F238E27FC236}">
                <a16:creationId xmlns:a16="http://schemas.microsoft.com/office/drawing/2014/main" id="{D658984E-3600-46CF-B4CB-1123F2A064F4}"/>
              </a:ext>
            </a:extLst>
          </p:cNvPr>
          <p:cNvGraphicFramePr/>
          <p:nvPr/>
        </p:nvGraphicFramePr>
        <p:xfrm>
          <a:off xmlns:a="http://schemas.openxmlformats.org/drawingml/2006/main" x="762000" y="1524000"/>
          <a:ext xmlns:a="http://schemas.openxmlformats.org/drawingml/2006/main" cx="10668000" cy="3619497"/>
        </p:xfrm>
        <a:graphic xmlns:a="http://schemas.openxmlformats.org/drawingml/2006/main">
          <a:graphicData uri="http://schemas.openxmlformats.org/drawingml/2006/table">
            <a:tbl>
              <a:tblPr/>
              <a:tblGrid>
                <a:gridCol w="2857500"/>
                <a:gridCol w="2476500"/>
                <a:gridCol w="1809750"/>
                <a:gridCol w="3524250"/>
              </a:tblGrid>
              <a:tr h="517071">
                <a:tc>
                  <a:txBody>
                    <a:bodyPr/>
                    <a:lstStyle/>
                    <a:p>
                      <a:r>
                        <a:t>Candidate</a:t>
                      </a:r>
                    </a:p>
                  </a:txBody>
                  <a:tcPr marL="91440" marR="91440" marT="45720" marB="45720"/>
                </a:tc>
                <a:tc>
                  <a:txBody>
                    <a:bodyPr/>
                    <a:lstStyle/>
                    <a:p>
                      <a:r>
                        <a:t>Prepared form</a:t>
                      </a:r>
                    </a:p>
                  </a:txBody>
                  <a:tcPr marL="91440" marR="91440" marT="45720" marB="45720"/>
                </a:tc>
                <a:tc>
                  <a:txBody>
                    <a:bodyPr/>
                    <a:lstStyle/>
                    <a:p>
                      <a:r>
                        <a:t>Match rate</a:t>
                      </a:r>
                    </a:p>
                  </a:txBody>
                  <a:tcPr marL="91440" marR="91440" marT="45720" marB="45720"/>
                </a:tc>
                <a:tc>
                  <a:txBody>
                    <a:bodyPr/>
                    <a:lstStyle/>
                    <a:p>
                      <a:r>
                        <a:t>Disposition</a:t>
                      </a:r>
                    </a:p>
                  </a:txBody>
                  <a:tcPr marL="91440" marR="91440" marT="45720" marB="45720"/>
                </a:tc>
              </a:tr>
              <a:tr h="517071">
                <a:tc>
                  <a:txBody>
                    <a:bodyPr/>
                    <a:lstStyle/>
                    <a:p>
                      <a:r>
                        <a:t>YOLOv8n-416</a:t>
                      </a:r>
                    </a:p>
                  </a:txBody>
                  <a:tcPr marL="91440" marR="91440" marT="45720" marB="45720"/>
                </a:tc>
                <a:tc>
                  <a:txBody>
                    <a:bodyPr/>
                    <a:lstStyle/>
                    <a:p>
                      <a:r>
                        <a:t>ONNX FP32</a:t>
                      </a:r>
                    </a:p>
                  </a:txBody>
                  <a:tcPr marL="91440" marR="91440" marT="45720" marB="45720"/>
                </a:tc>
                <a:tc>
                  <a:txBody>
                    <a:bodyPr/>
                    <a:lstStyle/>
                    <a:p>
                      <a:r>
                        <a:t>0.9603</a:t>
                      </a:r>
                    </a:p>
                  </a:txBody>
                  <a:tcPr marL="91440" marR="91440" marT="45720" marB="45720"/>
                </a:tc>
                <a:tc>
                  <a:txBody>
                    <a:bodyPr/>
                    <a:lstStyle/>
                    <a:p>
                      <a:r>
                        <a:rPr sz="1200"/>
                        <a:t>Eligible for device build</a:t>
                      </a:r>
                    </a:p>
                  </a:txBody>
                  <a:tcPr marL="91440" marR="91440" marT="45720" marB="45720"/>
                </a:tc>
              </a:tr>
              <a:tr h="517071">
                <a:tc>
                  <a:txBody>
                    <a:bodyPr/>
                    <a:lstStyle/>
                    <a:p>
                      <a:r>
                        <a:t>YOLOv8n-640</a:t>
                      </a:r>
                    </a:p>
                  </a:txBody>
                  <a:tcPr marL="91440" marR="91440" marT="45720" marB="45720"/>
                </a:tc>
                <a:tc>
                  <a:txBody>
                    <a:bodyPr/>
                    <a:lstStyle/>
                    <a:p>
                      <a:r>
                        <a:t>ONNX FP32</a:t>
                      </a:r>
                    </a:p>
                  </a:txBody>
                  <a:tcPr marL="91440" marR="91440" marT="45720" marB="45720"/>
                </a:tc>
                <a:tc>
                  <a:txBody>
                    <a:bodyPr/>
                    <a:lstStyle/>
                    <a:p>
                      <a:r>
                        <a:t>0.9496</a:t>
                      </a:r>
                    </a:p>
                  </a:txBody>
                  <a:tcPr marL="91440" marR="91440" marT="45720" marB="45720"/>
                </a:tc>
                <a:tc>
                  <a:txBody>
                    <a:bodyPr/>
                    <a:lstStyle/>
                    <a:p>
                      <a:r>
                        <a:rPr sz="1200"/>
                        <a:t>Held at fidelity gate</a:t>
                      </a:r>
                    </a:p>
                  </a:txBody>
                  <a:tcPr marL="91440" marR="91440" marT="45720" marB="45720"/>
                </a:tc>
              </a:tr>
              <a:tr h="517071">
                <a:tc>
                  <a:txBody>
                    <a:bodyPr/>
                    <a:lstStyle/>
                    <a:p>
                      <a:r>
                        <a:t>YOLOv8s-416</a:t>
                      </a:r>
                    </a:p>
                  </a:txBody>
                  <a:tcPr marL="91440" marR="91440" marT="45720" marB="45720"/>
                </a:tc>
                <a:tc>
                  <a:txBody>
                    <a:bodyPr/>
                    <a:lstStyle/>
                    <a:p>
                      <a:r>
                        <a:t>ONNX FP32</a:t>
                      </a:r>
                    </a:p>
                  </a:txBody>
                  <a:tcPr marL="91440" marR="91440" marT="45720" marB="45720"/>
                </a:tc>
                <a:tc>
                  <a:txBody>
                    <a:bodyPr/>
                    <a:lstStyle/>
                    <a:p>
                      <a:r>
                        <a:t>0.9598</a:t>
                      </a:r>
                    </a:p>
                  </a:txBody>
                  <a:tcPr marL="91440" marR="91440" marT="45720" marB="45720"/>
                </a:tc>
                <a:tc>
                  <a:txBody>
                    <a:bodyPr/>
                    <a:lstStyle/>
                    <a:p>
                      <a:r>
                        <a:rPr sz="1200"/>
                        <a:t>Eligible for device build</a:t>
                      </a:r>
                    </a:p>
                  </a:txBody>
                  <a:tcPr marL="91440" marR="91440" marT="45720" marB="45720"/>
                </a:tc>
              </a:tr>
              <a:tr h="517071">
                <a:tc>
                  <a:txBody>
                    <a:bodyPr/>
                    <a:lstStyle/>
                    <a:p>
                      <a:r>
                        <a:t>YOLOv8s-640</a:t>
                      </a:r>
                    </a:p>
                  </a:txBody>
                  <a:tcPr marL="91440" marR="91440" marT="45720" marB="45720"/>
                </a:tc>
                <a:tc>
                  <a:txBody>
                    <a:bodyPr/>
                    <a:lstStyle/>
                    <a:p>
                      <a:r>
                        <a:t>ONNX FP32</a:t>
                      </a:r>
                    </a:p>
                  </a:txBody>
                  <a:tcPr marL="91440" marR="91440" marT="45720" marB="45720"/>
                </a:tc>
                <a:tc>
                  <a:txBody>
                    <a:bodyPr/>
                    <a:lstStyle/>
                    <a:p>
                      <a:r>
                        <a:t>0.9169</a:t>
                      </a:r>
                    </a:p>
                  </a:txBody>
                  <a:tcPr marL="91440" marR="91440" marT="45720" marB="45720"/>
                </a:tc>
                <a:tc>
                  <a:txBody>
                    <a:bodyPr/>
                    <a:lstStyle/>
                    <a:p>
                      <a:r>
                        <a:rPr sz="1200"/>
                        <a:t>Held at fidelity gate</a:t>
                      </a:r>
                    </a:p>
                  </a:txBody>
                  <a:tcPr marL="91440" marR="91440" marT="45720" marB="45720"/>
                </a:tc>
              </a:tr>
              <a:tr h="517071">
                <a:tc>
                  <a:txBody>
                    <a:bodyPr/>
                    <a:lstStyle/>
                    <a:p>
                      <a:r>
                        <a:t>SSD MobileNet-320</a:t>
                      </a:r>
                    </a:p>
                  </a:txBody>
                  <a:tcPr marL="91440" marR="91440" marT="45720" marB="45720"/>
                </a:tc>
                <a:tc>
                  <a:txBody>
                    <a:bodyPr/>
                    <a:lstStyle/>
                    <a:p>
                      <a:r>
                        <a:t>TFLite FP32</a:t>
                      </a:r>
                    </a:p>
                  </a:txBody>
                  <a:tcPr marL="91440" marR="91440" marT="45720" marB="45720"/>
                </a:tc>
                <a:tc>
                  <a:txBody>
                    <a:bodyPr/>
                    <a:lstStyle/>
                    <a:p>
                      <a:r>
                        <a:t>0.8714</a:t>
                      </a:r>
                    </a:p>
                  </a:txBody>
                  <a:tcPr marL="91440" marR="91440" marT="45720" marB="45720"/>
                </a:tc>
                <a:tc>
                  <a:txBody>
                    <a:bodyPr/>
                    <a:lstStyle/>
                    <a:p>
                      <a:r>
                        <a:rPr sz="1200"/>
                        <a:t>Held at fidelity gate</a:t>
                      </a:r>
                    </a:p>
                  </a:txBody>
                  <a:tcPr marL="91440" marR="91440" marT="45720" marB="45720"/>
                </a:tc>
              </a:tr>
              <a:tr h="517071">
                <a:tc>
                  <a:txBody>
                    <a:bodyPr/>
                    <a:lstStyle/>
                    <a:p>
                      <a:r>
                        <a:t>EfficientDet-320</a:t>
                      </a:r>
                    </a:p>
                  </a:txBody>
                  <a:tcPr marL="91440" marR="91440" marT="45720" marB="45720"/>
                </a:tc>
                <a:tc>
                  <a:txBody>
                    <a:bodyPr/>
                    <a:lstStyle/>
                    <a:p>
                      <a:r>
                        <a:t>Native TFLite</a:t>
                      </a:r>
                    </a:p>
                  </a:txBody>
                  <a:tcPr marL="91440" marR="91440" marT="45720" marB="45720"/>
                </a:tc>
                <a:tc>
                  <a:txBody>
                    <a:bodyPr/>
                    <a:lstStyle/>
                    <a:p>
                      <a:r>
                        <a:t>N/A</a:t>
                      </a:r>
                    </a:p>
                  </a:txBody>
                  <a:tcPr marL="91440" marR="91440" marT="45720" marB="45720"/>
                </a:tc>
                <a:tc>
                  <a:txBody>
                    <a:bodyPr/>
                    <a:lstStyle/>
                    <a:p>
                      <a:r>
                        <a:rPr sz="1200"/>
                        <a:t>Ready for device attempt</a:t>
                      </a:r>
                    </a:p>
                  </a:txBody>
                  <a:tcPr marL="91440" marR="91440" marT="45720" marB="45720"/>
                </a:tc>
              </a:tr>
            </a:tbl>
          </a:graphicData>
        </a:graphic>
      </p:graphicFrame>
      <p:sp>
        <p:nvSpPr>
          <p:cNvPr id="8" name="Rectangle 7">
            <a:extLst xmlns:a="http://schemas.openxmlformats.org/drawingml/2006/main">
              <a:ext uri="{FF2B5EF4-FFF2-40B4-BE49-F238E27FC236}">
                <a16:creationId xmlns:a16="http://schemas.microsoft.com/office/drawing/2014/main" id="{86BE0BD0-6AE9-445E-BF86-D9C00EC69C94}"/>
              </a:ext>
            </a:extLst>
          </p:cNvPr>
          <p:cNvSpPr>
            <a:spLocks xmlns:a="http://schemas.openxmlformats.org/drawingml/2006/main" noGrp="1"/>
          </p:cNvSpPr>
          <p:nvPr/>
        </p:nvSpPr>
        <p:spPr>
          <a:xfrm xmlns:a="http://schemas.openxmlformats.org/drawingml/2006/main">
            <a:off x="762000" y="5308600"/>
            <a:ext cx="10668000" cy="914400"/>
          </a:xfrm>
          <a:prstGeom xmlns:a="http://schemas.openxmlformats.org/drawingml/2006/main" prst="rect">
            <a:avLst/>
          </a:prstGeom>
          <a:solidFill xmlns:a="http://schemas.openxmlformats.org/drawingml/2006/main">
            <a:srgbClr val="EBF3FF"/>
          </a:solidFill>
          <a:ln xmlns:a="http://schemas.openxmlformats.org/drawingml/2006/main" w="0">
            <a:noFill/>
          </a:ln>
        </p:spPr>
      </p:sp>
      <p:sp>
        <p:nvSpPr>
          <p:cNvPr id="9" name="Rectangle 8">
            <a:extLst xmlns:a="http://schemas.openxmlformats.org/drawingml/2006/main">
              <a:ext uri="{FF2B5EF4-FFF2-40B4-BE49-F238E27FC236}">
                <a16:creationId xmlns:a16="http://schemas.microsoft.com/office/drawing/2014/main" id="{09B72DF3-9694-48CA-B71D-1BABD52BEEF3}"/>
              </a:ext>
            </a:extLst>
          </p:cNvPr>
          <p:cNvSpPr>
            <a:spLocks xmlns:a="http://schemas.openxmlformats.org/drawingml/2006/main" noGrp="1"/>
          </p:cNvSpPr>
          <p:nvPr/>
        </p:nvSpPr>
        <p:spPr>
          <a:xfrm xmlns:a="http://schemas.openxmlformats.org/drawingml/2006/main">
            <a:off x="990600" y="5435600"/>
            <a:ext cx="102108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i="0">
                <a:solidFill>
                  <a:srgbClr val="B93838"/>
                </a:solidFill>
                <a:latin typeface="Aptos"/>
                <a:ea typeface="Aptos"/>
                <a:cs typeface="Aptos"/>
              </a:defRPr>
            </a:defPPr>
          </a:lstStyle>
          <a:p xmlns:a="http://schemas.openxmlformats.org/drawingml/2006/main">
            <a:pPr algn="ctr">
              <a:lnSpc>
                <a:spcPct val="100000"/>
              </a:lnSpc>
              <a:buNone/>
              <a:defRPr sz="1575" b="1" i="0">
                <a:solidFill>
                  <a:srgbClr val="B93838"/>
                </a:solidFill>
                <a:latin typeface="Aptos"/>
                <a:ea typeface="Aptos"/>
                <a:cs typeface="Aptos"/>
              </a:defRPr>
            </a:pPr>
            <a:r>
              <a:rPr sz="1225" i="0">
                <a:solidFill>
                  <a:srgbClr val="081B33"/>
                </a:solidFill>
                <a:latin typeface="Aptos"/>
                <a:ea typeface="Aptos"/>
                <a:cs typeface="Aptos"/>
              </a:rPr>
              <a:t>The fidelity screen tested candidate model artifacts. Historical device timings came from distinct, earlier deployed artifacts. Hashes establish artifact identity; calibration comparisons assess prediction fidelity.</a:t>
            </a:r>
          </a:p>
        </p:txBody>
      </p:sp>
    </p:spTree>
    <p:extLst>
      <p:ext uri="{BB962C8B-B14F-4D97-AF65-F5344CB8AC3E}">
        <p14:creationId xmlns:p14="http://schemas.microsoft.com/office/powerpoint/2010/main" val="1413086313"/>
      </p:ext>
    </p:extLst>
  </p:cSld>
</p:sld>
</file>

<file path=ppt/slides/slide13.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98DE21B5-28AC-4510-ABC7-3B2CBB1C9BE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B1F3A"/>
          </a:solidFill>
          <a:ln xmlns:a="http://schemas.openxmlformats.org/drawingml/2006/main" w="0">
            <a:noFill/>
          </a:ln>
        </p:spPr>
      </p:sp>
      <p:sp>
        <p:nvSpPr>
          <p:cNvPr id="2" name="Rectangle 1">
            <a:extLst xmlns:a="http://schemas.openxmlformats.org/drawingml/2006/main">
              <a:ext uri="{FF2B5EF4-FFF2-40B4-BE49-F238E27FC236}">
                <a16:creationId xmlns:a16="http://schemas.microsoft.com/office/drawing/2014/main" id="{74365C46-E22A-4187-A406-6C51AFC66425}"/>
              </a:ext>
            </a:extLst>
          </p:cNvPr>
          <p:cNvSpPr>
            <a:spLocks xmlns:a="http://schemas.openxmlformats.org/drawingml/2006/main" noGrp="1"/>
          </p:cNvSpPr>
          <p:nvPr/>
        </p:nvSpPr>
        <p:spPr>
          <a:xfrm xmlns:a="http://schemas.openxmlformats.org/drawingml/2006/main">
            <a:off x="609600" y="3238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i="0">
                <a:solidFill>
                  <a:srgbClr val="0B1F3A"/>
                </a:solidFill>
                <a:latin typeface="Aptos"/>
                <a:ea typeface="Aptos"/>
                <a:cs typeface="Aptos"/>
              </a:defRPr>
            </a:defPPr>
          </a:lstStyle>
          <a:p xmlns:a="http://schemas.openxmlformats.org/drawingml/2006/main">
            <a:pPr algn="l">
              <a:lnSpc>
                <a:spcPct val="100000"/>
              </a:lnSpc>
              <a:buNone/>
              <a:defRPr sz="3150" b="1" i="0">
                <a:solidFill>
                  <a:srgbClr val="0B1F3A"/>
                </a:solidFill>
                <a:latin typeface="Aptos"/>
                <a:ea typeface="Aptos"/>
                <a:cs typeface="Aptos"/>
              </a:defRPr>
            </a:pPr>
            <a:r>
              <a:rPr sz="3150" b="1" i="0">
                <a:solidFill>
                  <a:srgbClr val="0B1F3A"/>
                </a:solidFill>
                <a:latin typeface="Aptos"/>
                <a:ea typeface="Aptos"/>
                <a:cs typeface="Aptos"/>
              </a:rPr>
              <a:t>Appendix A3: selected fault-test outcomes</a:t>
            </a:r>
          </a:p>
        </p:txBody>
      </p:sp>
      <p:sp>
        <p:nvSpPr>
          <p:cNvPr id="3" name="Rectangle 2">
            <a:extLst xmlns:a="http://schemas.openxmlformats.org/drawingml/2006/main">
              <a:ext uri="{FF2B5EF4-FFF2-40B4-BE49-F238E27FC236}">
                <a16:creationId xmlns:a16="http://schemas.microsoft.com/office/drawing/2014/main" id="{D522140F-7DD5-4EDF-AD7F-5776B7A0C499}"/>
              </a:ext>
            </a:extLst>
          </p:cNvPr>
          <p:cNvSpPr>
            <a:spLocks xmlns:a="http://schemas.openxmlformats.org/drawingml/2006/main" noGrp="1"/>
          </p:cNvSpPr>
          <p:nvPr/>
        </p:nvSpPr>
        <p:spPr>
          <a:xfrm xmlns:a="http://schemas.openxmlformats.org/drawingml/2006/main">
            <a:off x="609600" y="8382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i="0">
                <a:solidFill>
                  <a:srgbClr val="5B6675"/>
                </a:solidFill>
                <a:latin typeface="Aptos"/>
                <a:ea typeface="Aptos"/>
                <a:cs typeface="Aptos"/>
              </a:defRPr>
            </a:defPPr>
          </a:lstStyle>
          <a:p xmlns:a="http://schemas.openxmlformats.org/drawingml/2006/main">
            <a:pPr algn="l">
              <a:lnSpc>
                <a:spcPct val="100000"/>
              </a:lnSpc>
              <a:buNone/>
              <a:defRPr sz="1425" b="0" i="0">
                <a:solidFill>
                  <a:srgbClr val="5B6675"/>
                </a:solidFill>
                <a:latin typeface="Aptos"/>
                <a:ea typeface="Aptos"/>
                <a:cs typeface="Aptos"/>
              </a:defRPr>
            </a:pPr>
            <a:r>
              <a:rPr sz="1425" b="0" i="0">
                <a:solidFill>
                  <a:srgbClr val="5B6675"/>
                </a:solidFill>
                <a:latin typeface="Aptos"/>
                <a:ea typeface="Aptos"/>
                <a:cs typeface="Aptos"/>
              </a:rPr>
              <a:t>Retained development pilots and their bounded safety evidence</a:t>
            </a:r>
          </a:p>
        </p:txBody>
      </p:sp>
      <p:sp>
        <p:nvSpPr>
          <p:cNvPr id="4" name="Straight Connector 3">
            <a:extLst xmlns:a="http://schemas.openxmlformats.org/drawingml/2006/main">
              <a:ext uri="{FF2B5EF4-FFF2-40B4-BE49-F238E27FC236}">
                <a16:creationId xmlns:a16="http://schemas.microsoft.com/office/drawing/2014/main" id="{3F68C1CE-0F54-4646-B8BF-38D1A19043B1}"/>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9525">
            <a:solidFill>
              <a:srgbClr val="D7DEE8"/>
            </a:solidFill>
            <a:prstDash val="solid"/>
          </a:ln>
        </p:spPr>
      </p:sp>
      <p:sp>
        <p:nvSpPr>
          <p:cNvPr id="6" name="Rectangle 5">
            <a:extLst xmlns:a="http://schemas.openxmlformats.org/drawingml/2006/main">
              <a:ext uri="{FF2B5EF4-FFF2-40B4-BE49-F238E27FC236}">
                <a16:creationId xmlns:a16="http://schemas.microsoft.com/office/drawing/2014/main" id="{3E260624-9D07-4FFD-B13A-10304B2A2337}"/>
              </a:ext>
            </a:extLst>
          </p:cNvPr>
          <p:cNvSpPr>
            <a:spLocks xmlns:a="http://schemas.openxmlformats.org/drawingml/2006/main" noGrp="1"/>
          </p:cNvSpPr>
          <p:nvPr/>
        </p:nvSpPr>
        <p:spPr>
          <a:xfrm xmlns:a="http://schemas.openxmlformats.org/drawingml/2006/main">
            <a:off x="11144250" y="65151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i="0">
                <a:solidFill>
                  <a:srgbClr val="5B6675"/>
                </a:solidFill>
                <a:latin typeface="Aptos"/>
                <a:ea typeface="Aptos"/>
                <a:cs typeface="Aptos"/>
              </a:defRPr>
            </a:defPPr>
          </a:lstStyle>
          <a:p xmlns:a="http://schemas.openxmlformats.org/drawingml/2006/main">
            <a:pPr algn="r">
              <a:lnSpc>
                <a:spcPct val="100000"/>
              </a:lnSpc>
              <a:buNone/>
              <a:defRPr sz="975" b="0" i="0">
                <a:solidFill>
                  <a:srgbClr val="5B6675"/>
                </a:solidFill>
                <a:latin typeface="Aptos"/>
                <a:ea typeface="Aptos"/>
                <a:cs typeface="Aptos"/>
              </a:defRPr>
            </a:pPr>
            <a:r>
              <a:rPr sz="975" b="0" i="0">
                <a:solidFill>
                  <a:srgbClr val="5B6675"/>
                </a:solidFill>
                <a:latin typeface="Aptos"/>
                <a:ea typeface="Aptos"/>
                <a:cs typeface="Aptos"/>
              </a:rPr>
              <a:t>A3</a:t>
            </a:r>
          </a:p>
        </p:txBody>
      </p:sp>
      <p:graphicFrame>
        <p:nvGraphicFramePr>
          <p:cNvPr id="5" name="Fault outcomes table">
            <a:extLst xmlns:a="http://schemas.openxmlformats.org/drawingml/2006/main">
              <a:ext uri="{FF2B5EF4-FFF2-40B4-BE49-F238E27FC236}">
                <a16:creationId xmlns:a16="http://schemas.microsoft.com/office/drawing/2014/main" id="{D50CCE11-F622-43D9-932A-D2D7F2F4F758}"/>
              </a:ext>
            </a:extLst>
          </p:cNvPr>
          <p:cNvGraphicFramePr/>
          <p:nvPr/>
        </p:nvGraphicFramePr>
        <p:xfrm>
          <a:off xmlns:a="http://schemas.openxmlformats.org/drawingml/2006/main" x="457200" y="1422400"/>
          <a:ext xmlns:a="http://schemas.openxmlformats.org/drawingml/2006/main" cx="11277600" cy="4038600"/>
        </p:xfrm>
        <a:graphic xmlns:a="http://schemas.openxmlformats.org/drawingml/2006/main">
          <a:graphicData uri="http://schemas.openxmlformats.org/drawingml/2006/table">
            <a:tbl>
              <a:tblPr firstRow="1" bandRow="1">
                <a:tableStyleId>{5C22544A-7EE6-4342-B048-85BDC9FD1C3A}</a:tableStyleId>
              </a:tblPr>
              <a:tblGrid>
                <a:gridCol w="1905000"/>
                <a:gridCol w="762000"/>
                <a:gridCol w="863600"/>
                <a:gridCol w="7747000"/>
              </a:tblGrid>
              <a:tr h="504825">
                <a:tc>
                  <a:txBody>
                    <a:bodyPr/>
                    <a:lstStyle/>
                    <a:p>
                      <a:pPr algn="ctr">
                        <a:buNone/>
                      </a:pPr>
                      <a:r>
                        <a:rPr sz="1050" b="1">
                          <a:solidFill>
                            <a:srgbClr val="FFFFFF"/>
                          </a:solidFill>
                          <a:latin typeface="Aptos"/>
                          <a:ea typeface="Aptos"/>
                          <a:cs typeface="Aptos"/>
                        </a:rPr>
                        <a:t>Fault</a:t>
                      </a:r>
                    </a:p>
                  </a:txBody>
                  <a:tcPr marL="63500" marR="63500" marT="38100" marB="38100" anchor="ctr">
                    <a:solidFill>
                      <a:srgbClr val="081B33"/>
                    </a:solidFill>
                  </a:tcPr>
                </a:tc>
                <a:tc>
                  <a:txBody>
                    <a:bodyPr/>
                    <a:lstStyle/>
                    <a:p>
                      <a:pPr algn="ctr">
                        <a:buNone/>
                      </a:pPr>
                      <a:r>
                        <a:rPr sz="1050" b="1">
                          <a:solidFill>
                            <a:srgbClr val="FFFFFF"/>
                          </a:solidFill>
                          <a:latin typeface="Aptos"/>
                          <a:ea typeface="Aptos"/>
                          <a:cs typeface="Aptos"/>
                        </a:rPr>
                        <a:t>Run</a:t>
                      </a:r>
                    </a:p>
                  </a:txBody>
                  <a:tcPr marL="63500" marR="63500" marT="38100" marB="38100" anchor="ctr">
                    <a:solidFill>
                      <a:srgbClr val="081B33"/>
                    </a:solidFill>
                  </a:tcPr>
                </a:tc>
                <a:tc>
                  <a:txBody>
                    <a:bodyPr/>
                    <a:lstStyle/>
                    <a:p>
                      <a:pPr algn="ctr">
                        <a:buNone/>
                      </a:pPr>
                      <a:r>
                        <a:rPr sz="1050" b="1">
                          <a:solidFill>
                            <a:srgbClr val="FFFFFF"/>
                          </a:solidFill>
                          <a:latin typeface="Aptos"/>
                          <a:ea typeface="Aptos"/>
                          <a:cs typeface="Aptos"/>
                        </a:rPr>
                        <a:t>Result</a:t>
                      </a:r>
                    </a:p>
                  </a:txBody>
                  <a:tcPr marL="63500" marR="63500" marT="38100" marB="38100" anchor="ctr">
                    <a:solidFill>
                      <a:srgbClr val="081B33"/>
                    </a:solidFill>
                  </a:tcPr>
                </a:tc>
                <a:tc>
                  <a:txBody>
                    <a:bodyPr/>
                    <a:lstStyle/>
                    <a:p>
                      <a:pPr algn="ctr">
                        <a:buNone/>
                      </a:pPr>
                      <a:r>
                        <a:rPr sz="1050" b="1">
                          <a:solidFill>
                            <a:srgbClr val="FFFFFF"/>
                          </a:solidFill>
                          <a:latin typeface="Aptos"/>
                          <a:ea typeface="Aptos"/>
                          <a:cs typeface="Aptos"/>
                        </a:rPr>
                        <a:t>Safety evidence</a:t>
                      </a:r>
                    </a:p>
                  </a:txBody>
                  <a:tcPr marL="63500" marR="63500" marT="38100" marB="38100" anchor="ctr">
                    <a:solidFill>
                      <a:srgbClr val="081B33"/>
                    </a:solidFill>
                  </a:tcPr>
                </a:tc>
              </a:tr>
              <a:tr h="504825">
                <a:tc>
                  <a:txBody>
                    <a:bodyPr/>
                    <a:lstStyle/>
                    <a:p>
                      <a:pPr algn="l">
                        <a:buNone/>
                      </a:pPr>
                      <a:r>
                        <a:rPr sz="940" b="0">
                          <a:solidFill>
                            <a:srgbClr val="081B33"/>
                          </a:solidFill>
                          <a:latin typeface="Aptos"/>
                          <a:ea typeface="Aptos"/>
                          <a:cs typeface="Aptos"/>
                        </a:rPr>
                        <a:t>Lost alert</a:t>
                      </a:r>
                    </a:p>
                  </a:txBody>
                  <a:tcPr marL="63500" marR="63500" marT="38100" marB="38100" anchor="ctr">
                    <a:solidFill>
                      <a:srgbClr val="FFFFFF"/>
                    </a:solidFill>
                  </a:tcPr>
                </a:tc>
                <a:tc>
                  <a:txBody>
                    <a:bodyPr/>
                    <a:lstStyle/>
                    <a:p>
                      <a:pPr algn="ctr">
                        <a:buNone/>
                      </a:pPr>
                      <a:r>
                        <a:rPr sz="940" b="0">
                          <a:solidFill>
                            <a:srgbClr val="081B33"/>
                          </a:solidFill>
                          <a:latin typeface="Aptos"/>
                          <a:ea typeface="Aptos"/>
                          <a:cs typeface="Aptos"/>
                        </a:rPr>
                        <a:t>v2</a:t>
                      </a:r>
                    </a:p>
                  </a:txBody>
                  <a:tcPr marL="63500" marR="63500" marT="38100" marB="38100" anchor="ctr">
                    <a:solidFill>
                      <a:srgbClr val="FFFFFF"/>
                    </a:solidFill>
                  </a:tcPr>
                </a:tc>
                <a:tc>
                  <a:txBody>
                    <a:bodyPr/>
                    <a:lstStyle/>
                    <a:p>
                      <a:pPr algn="ctr">
                        <a:buNone/>
                      </a:pPr>
                      <a:r>
                        <a:rPr sz="940" b="1">
                          <a:solidFill>
                            <a:srgbClr val="10825C"/>
                          </a:solidFill>
                          <a:latin typeface="Aptos"/>
                          <a:ea typeface="Aptos"/>
                          <a:cs typeface="Aptos"/>
                        </a:rPr>
                        <a:t>PASS</a:t>
                      </a:r>
                    </a:p>
                  </a:txBody>
                  <a:tcPr marL="63500" marR="63500" marT="38100" marB="38100" anchor="ctr">
                    <a:solidFill>
                      <a:srgbClr val="FFFFFF"/>
                    </a:solidFill>
                  </a:tcPr>
                </a:tc>
                <a:tc>
                  <a:txBody>
                    <a:bodyPr/>
                    <a:lstStyle/>
                    <a:p>
                      <a:pPr algn="l">
                        <a:buNone/>
                      </a:pPr>
                      <a:r>
                        <a:rPr sz="960" b="0">
                          <a:solidFill>
                            <a:srgbClr val="081B33"/>
                          </a:solidFill>
                          <a:latin typeface="Aptos"/>
                          <a:ea typeface="Aptos"/>
                          <a:cs typeface="Aptos"/>
                        </a:rPr>
                        <a:t>0 Scout commands; both reached LANDED.</a:t>
                      </a:r>
                    </a:p>
                  </a:txBody>
                  <a:tcPr marL="63500" marR="63500" marT="38100" marB="38100" anchor="ctr">
                    <a:solidFill>
                      <a:srgbClr val="FFFFFF"/>
                    </a:solidFill>
                  </a:tcPr>
                </a:tc>
              </a:tr>
              <a:tr h="504825">
                <a:tc>
                  <a:txBody>
                    <a:bodyPr/>
                    <a:lstStyle/>
                    <a:p>
                      <a:pPr algn="l">
                        <a:buNone/>
                      </a:pPr>
                      <a:r>
                        <a:rPr sz="940" b="0">
                          <a:solidFill>
                            <a:srgbClr val="081B33"/>
                          </a:solidFill>
                          <a:latin typeface="Aptos"/>
                          <a:ea typeface="Aptos"/>
                          <a:cs typeface="Aptos"/>
                        </a:rPr>
                        <a:t>Scout unavailable</a:t>
                      </a:r>
                    </a:p>
                  </a:txBody>
                  <a:tcPr marL="63500" marR="63500" marT="38100" marB="38100" anchor="ctr">
                    <a:solidFill>
                      <a:srgbClr val="F4F7FA"/>
                    </a:solidFill>
                  </a:tcPr>
                </a:tc>
                <a:tc>
                  <a:txBody>
                    <a:bodyPr/>
                    <a:lstStyle/>
                    <a:p>
                      <a:pPr algn="ctr">
                        <a:buNone/>
                      </a:pPr>
                      <a:r>
                        <a:rPr sz="940" b="0">
                          <a:solidFill>
                            <a:srgbClr val="081B33"/>
                          </a:solidFill>
                          <a:latin typeface="Aptos"/>
                          <a:ea typeface="Aptos"/>
                          <a:cs typeface="Aptos"/>
                        </a:rPr>
                        <a:t>v2</a:t>
                      </a:r>
                    </a:p>
                  </a:txBody>
                  <a:tcPr marL="63500" marR="63500" marT="38100" marB="38100" anchor="ctr">
                    <a:solidFill>
                      <a:srgbClr val="F4F7FA"/>
                    </a:solidFill>
                  </a:tcPr>
                </a:tc>
                <a:tc>
                  <a:txBody>
                    <a:bodyPr/>
                    <a:lstStyle/>
                    <a:p>
                      <a:pPr algn="ctr">
                        <a:buNone/>
                      </a:pPr>
                      <a:r>
                        <a:rPr sz="940" b="1">
                          <a:solidFill>
                            <a:srgbClr val="10825C"/>
                          </a:solidFill>
                          <a:latin typeface="Aptos"/>
                          <a:ea typeface="Aptos"/>
                          <a:cs typeface="Aptos"/>
                        </a:rPr>
                        <a:t>PASS</a:t>
                      </a:r>
                    </a:p>
                  </a:txBody>
                  <a:tcPr marL="63500" marR="63500" marT="38100" marB="38100" anchor="ctr">
                    <a:solidFill>
                      <a:srgbClr val="F4F7FA"/>
                    </a:solidFill>
                  </a:tcPr>
                </a:tc>
                <a:tc>
                  <a:txBody>
                    <a:bodyPr/>
                    <a:lstStyle/>
                    <a:p>
                      <a:pPr algn="l">
                        <a:buNone/>
                      </a:pPr>
                      <a:r>
                        <a:rPr sz="960" b="0">
                          <a:solidFill>
                            <a:srgbClr val="081B33"/>
                          </a:solidFill>
                          <a:latin typeface="Aptos"/>
                          <a:ea typeface="Aptos"/>
                          <a:cs typeface="Aptos"/>
                        </a:rPr>
                        <a:t>Grounded Scout stayed safe; 0 commands.</a:t>
                      </a:r>
                    </a:p>
                  </a:txBody>
                  <a:tcPr marL="63500" marR="63500" marT="38100" marB="38100" anchor="ctr">
                    <a:solidFill>
                      <a:srgbClr val="F4F7FA"/>
                    </a:solidFill>
                  </a:tcPr>
                </a:tc>
              </a:tr>
              <a:tr h="504825">
                <a:tc>
                  <a:txBody>
                    <a:bodyPr/>
                    <a:lstStyle/>
                    <a:p>
                      <a:pPr algn="l">
                        <a:buNone/>
                      </a:pPr>
                      <a:r>
                        <a:rPr sz="940" b="0">
                          <a:solidFill>
                            <a:srgbClr val="081B33"/>
                          </a:solidFill>
                          <a:latin typeface="Aptos"/>
                          <a:ea typeface="Aptos"/>
                          <a:cs typeface="Aptos"/>
                        </a:rPr>
                        <a:t>Delayed verdict</a:t>
                      </a:r>
                    </a:p>
                  </a:txBody>
                  <a:tcPr marL="63500" marR="63500" marT="38100" marB="38100" anchor="ctr">
                    <a:solidFill>
                      <a:srgbClr val="FFFFFF"/>
                    </a:solidFill>
                  </a:tcPr>
                </a:tc>
                <a:tc>
                  <a:txBody>
                    <a:bodyPr/>
                    <a:lstStyle/>
                    <a:p>
                      <a:pPr algn="ctr">
                        <a:buNone/>
                      </a:pPr>
                      <a:r>
                        <a:rPr sz="940" b="0">
                          <a:solidFill>
                            <a:srgbClr val="081B33"/>
                          </a:solidFill>
                          <a:latin typeface="Aptos"/>
                          <a:ea typeface="Aptos"/>
                          <a:cs typeface="Aptos"/>
                        </a:rPr>
                        <a:t>v1</a:t>
                      </a:r>
                    </a:p>
                  </a:txBody>
                  <a:tcPr marL="63500" marR="63500" marT="38100" marB="38100" anchor="ctr">
                    <a:solidFill>
                      <a:srgbClr val="FFFFFF"/>
                    </a:solidFill>
                  </a:tcPr>
                </a:tc>
                <a:tc>
                  <a:txBody>
                    <a:bodyPr/>
                    <a:lstStyle/>
                    <a:p>
                      <a:pPr algn="ctr">
                        <a:buNone/>
                      </a:pPr>
                      <a:r>
                        <a:rPr sz="940" b="1">
                          <a:solidFill>
                            <a:srgbClr val="10825C"/>
                          </a:solidFill>
                          <a:latin typeface="Aptos"/>
                          <a:ea typeface="Aptos"/>
                          <a:cs typeface="Aptos"/>
                        </a:rPr>
                        <a:t>PASS</a:t>
                      </a:r>
                    </a:p>
                  </a:txBody>
                  <a:tcPr marL="63500" marR="63500" marT="38100" marB="38100" anchor="ctr">
                    <a:solidFill>
                      <a:srgbClr val="FFFFFF"/>
                    </a:solidFill>
                  </a:tcPr>
                </a:tc>
                <a:tc>
                  <a:txBody>
                    <a:bodyPr/>
                    <a:lstStyle/>
                    <a:p>
                      <a:pPr algn="l">
                        <a:buNone/>
                      </a:pPr>
                      <a:r>
                        <a:rPr sz="960" b="0">
                          <a:solidFill>
                            <a:srgbClr val="081B33"/>
                          </a:solidFill>
                          <a:latin typeface="Aptos"/>
                          <a:ea typeface="Aptos"/>
                          <a:cs typeface="Aptos"/>
                        </a:rPr>
                        <a:t>Timeout drove DEGRADED to RTL to LANDED.</a:t>
                      </a:r>
                    </a:p>
                  </a:txBody>
                  <a:tcPr marL="63500" marR="63500" marT="38100" marB="38100" anchor="ctr">
                    <a:solidFill>
                      <a:srgbClr val="FFFFFF"/>
                    </a:solidFill>
                  </a:tcPr>
                </a:tc>
              </a:tr>
              <a:tr h="504825">
                <a:tc>
                  <a:txBody>
                    <a:bodyPr/>
                    <a:lstStyle/>
                    <a:p>
                      <a:pPr algn="l">
                        <a:buNone/>
                      </a:pPr>
                      <a:r>
                        <a:rPr sz="940" b="0">
                          <a:solidFill>
                            <a:srgbClr val="081B33"/>
                          </a:solidFill>
                          <a:latin typeface="Aptos"/>
                          <a:ea typeface="Aptos"/>
                          <a:cs typeface="Aptos"/>
                        </a:rPr>
                        <a:t>Sensor/inference error</a:t>
                      </a:r>
                    </a:p>
                  </a:txBody>
                  <a:tcPr marL="63500" marR="63500" marT="38100" marB="38100" anchor="ctr">
                    <a:solidFill>
                      <a:srgbClr val="F4F7FA"/>
                    </a:solidFill>
                  </a:tcPr>
                </a:tc>
                <a:tc>
                  <a:txBody>
                    <a:bodyPr/>
                    <a:lstStyle/>
                    <a:p>
                      <a:pPr algn="ctr">
                        <a:buNone/>
                      </a:pPr>
                      <a:r>
                        <a:rPr sz="940" b="0">
                          <a:solidFill>
                            <a:srgbClr val="081B33"/>
                          </a:solidFill>
                          <a:latin typeface="Aptos"/>
                          <a:ea typeface="Aptos"/>
                          <a:cs typeface="Aptos"/>
                        </a:rPr>
                        <a:t>v1</a:t>
                      </a:r>
                    </a:p>
                  </a:txBody>
                  <a:tcPr marL="63500" marR="63500" marT="38100" marB="38100" anchor="ctr">
                    <a:solidFill>
                      <a:srgbClr val="F4F7FA"/>
                    </a:solidFill>
                  </a:tcPr>
                </a:tc>
                <a:tc>
                  <a:txBody>
                    <a:bodyPr/>
                    <a:lstStyle/>
                    <a:p>
                      <a:pPr algn="ctr">
                        <a:buNone/>
                      </a:pPr>
                      <a:r>
                        <a:rPr sz="940" b="1">
                          <a:solidFill>
                            <a:srgbClr val="10825C"/>
                          </a:solidFill>
                          <a:latin typeface="Aptos"/>
                          <a:ea typeface="Aptos"/>
                          <a:cs typeface="Aptos"/>
                        </a:rPr>
                        <a:t>PASS</a:t>
                      </a:r>
                    </a:p>
                  </a:txBody>
                  <a:tcPr marL="63500" marR="63500" marT="38100" marB="38100" anchor="ctr">
                    <a:solidFill>
                      <a:srgbClr val="F4F7FA"/>
                    </a:solidFill>
                  </a:tcPr>
                </a:tc>
                <a:tc>
                  <a:txBody>
                    <a:bodyPr/>
                    <a:lstStyle/>
                    <a:p>
                      <a:pPr algn="l">
                        <a:buNone/>
                      </a:pPr>
                      <a:r>
                        <a:rPr sz="960" b="0">
                          <a:solidFill>
                            <a:srgbClr val="081B33"/>
                          </a:solidFill>
                          <a:latin typeface="Aptos"/>
                          <a:ea typeface="Aptos"/>
                          <a:cs typeface="Aptos"/>
                        </a:rPr>
                        <a:t>Unverified record retained; safe terminal state.</a:t>
                      </a:r>
                    </a:p>
                  </a:txBody>
                  <a:tcPr marL="63500" marR="63500" marT="38100" marB="38100" anchor="ctr">
                    <a:solidFill>
                      <a:srgbClr val="F4F7FA"/>
                    </a:solidFill>
                  </a:tcPr>
                </a:tc>
              </a:tr>
              <a:tr h="504825">
                <a:tc>
                  <a:txBody>
                    <a:bodyPr/>
                    <a:lstStyle/>
                    <a:p>
                      <a:pPr algn="l">
                        <a:buNone/>
                      </a:pPr>
                      <a:r>
                        <a:rPr sz="940" b="0">
                          <a:solidFill>
                            <a:srgbClr val="081B33"/>
                          </a:solidFill>
                          <a:latin typeface="Aptos"/>
                          <a:ea typeface="Aptos"/>
                          <a:cs typeface="Aptos"/>
                        </a:rPr>
                        <a:t>Low battery</a:t>
                      </a:r>
                    </a:p>
                  </a:txBody>
                  <a:tcPr marL="63500" marR="63500" marT="38100" marB="38100" anchor="ctr">
                    <a:solidFill>
                      <a:srgbClr val="FFFFFF"/>
                    </a:solidFill>
                  </a:tcPr>
                </a:tc>
                <a:tc>
                  <a:txBody>
                    <a:bodyPr/>
                    <a:lstStyle/>
                    <a:p>
                      <a:pPr algn="ctr">
                        <a:buNone/>
                      </a:pPr>
                      <a:r>
                        <a:rPr sz="940" b="0">
                          <a:solidFill>
                            <a:srgbClr val="081B33"/>
                          </a:solidFill>
                          <a:latin typeface="Aptos"/>
                          <a:ea typeface="Aptos"/>
                          <a:cs typeface="Aptos"/>
                        </a:rPr>
                        <a:t>v3</a:t>
                      </a:r>
                    </a:p>
                  </a:txBody>
                  <a:tcPr marL="63500" marR="63500" marT="38100" marB="38100" anchor="ctr">
                    <a:solidFill>
                      <a:srgbClr val="FFFFFF"/>
                    </a:solidFill>
                  </a:tcPr>
                </a:tc>
                <a:tc>
                  <a:txBody>
                    <a:bodyPr/>
                    <a:lstStyle/>
                    <a:p>
                      <a:pPr algn="ctr">
                        <a:buNone/>
                      </a:pPr>
                      <a:r>
                        <a:rPr sz="940" b="1">
                          <a:solidFill>
                            <a:srgbClr val="10825C"/>
                          </a:solidFill>
                          <a:latin typeface="Aptos"/>
                          <a:ea typeface="Aptos"/>
                          <a:cs typeface="Aptos"/>
                        </a:rPr>
                        <a:t>PASS</a:t>
                      </a:r>
                    </a:p>
                  </a:txBody>
                  <a:tcPr marL="63500" marR="63500" marT="38100" marB="38100" anchor="ctr">
                    <a:solidFill>
                      <a:srgbClr val="FFFFFF"/>
                    </a:solidFill>
                  </a:tcPr>
                </a:tc>
                <a:tc>
                  <a:txBody>
                    <a:bodyPr/>
                    <a:lstStyle/>
                    <a:p>
                      <a:pPr algn="l">
                        <a:buNone/>
                      </a:pPr>
                      <a:r>
                        <a:rPr sz="960" b="0">
                          <a:solidFill>
                            <a:srgbClr val="081B33"/>
                          </a:solidFill>
                          <a:latin typeface="Aptos"/>
                          <a:ea typeface="Aptos"/>
                          <a:cs typeface="Aptos"/>
                        </a:rPr>
                        <a:t>Scout grounded; Sentinel landing error 0.076 m.</a:t>
                      </a:r>
                    </a:p>
                  </a:txBody>
                  <a:tcPr marL="63500" marR="63500" marT="38100" marB="38100" anchor="ctr">
                    <a:solidFill>
                      <a:srgbClr val="FFFFFF"/>
                    </a:solidFill>
                  </a:tcPr>
                </a:tc>
              </a:tr>
              <a:tr h="504825">
                <a:tc>
                  <a:txBody>
                    <a:bodyPr/>
                    <a:lstStyle/>
                    <a:p>
                      <a:pPr algn="l">
                        <a:buNone/>
                      </a:pPr>
                      <a:r>
                        <a:rPr sz="940" b="0">
                          <a:solidFill>
                            <a:srgbClr val="081B33"/>
                          </a:solidFill>
                          <a:latin typeface="Aptos"/>
                          <a:ea typeface="Aptos"/>
                          <a:cs typeface="Aptos"/>
                        </a:rPr>
                        <a:t>Duplicate/stale verdict</a:t>
                      </a:r>
                    </a:p>
                  </a:txBody>
                  <a:tcPr marL="63500" marR="63500" marT="38100" marB="38100" anchor="ctr">
                    <a:solidFill>
                      <a:srgbClr val="F4F7FA"/>
                    </a:solidFill>
                  </a:tcPr>
                </a:tc>
                <a:tc>
                  <a:txBody>
                    <a:bodyPr/>
                    <a:lstStyle/>
                    <a:p>
                      <a:pPr algn="ctr">
                        <a:buNone/>
                      </a:pPr>
                      <a:r>
                        <a:rPr sz="940" b="0">
                          <a:solidFill>
                            <a:srgbClr val="081B33"/>
                          </a:solidFill>
                          <a:latin typeface="Aptos"/>
                          <a:ea typeface="Aptos"/>
                          <a:cs typeface="Aptos"/>
                        </a:rPr>
                        <a:t>v2</a:t>
                      </a:r>
                    </a:p>
                  </a:txBody>
                  <a:tcPr marL="63500" marR="63500" marT="38100" marB="38100" anchor="ctr">
                    <a:solidFill>
                      <a:srgbClr val="F4F7FA"/>
                    </a:solidFill>
                  </a:tcPr>
                </a:tc>
                <a:tc>
                  <a:txBody>
                    <a:bodyPr/>
                    <a:lstStyle/>
                    <a:p>
                      <a:pPr algn="ctr">
                        <a:buNone/>
                      </a:pPr>
                      <a:r>
                        <a:rPr sz="940" b="1">
                          <a:solidFill>
                            <a:srgbClr val="10825C"/>
                          </a:solidFill>
                          <a:latin typeface="Aptos"/>
                          <a:ea typeface="Aptos"/>
                          <a:cs typeface="Aptos"/>
                        </a:rPr>
                        <a:t>PASS</a:t>
                      </a:r>
                    </a:p>
                  </a:txBody>
                  <a:tcPr marL="63500" marR="63500" marT="38100" marB="38100" anchor="ctr">
                    <a:solidFill>
                      <a:srgbClr val="F4F7FA"/>
                    </a:solidFill>
                  </a:tcPr>
                </a:tc>
                <a:tc>
                  <a:txBody>
                    <a:bodyPr/>
                    <a:lstStyle/>
                    <a:p>
                      <a:pPr algn="l">
                        <a:buNone/>
                      </a:pPr>
                      <a:r>
                        <a:rPr sz="960" b="0">
                          <a:solidFill>
                            <a:srgbClr val="081B33"/>
                          </a:solidFill>
                          <a:latin typeface="Aptos"/>
                          <a:ea typeface="Aptos"/>
                          <a:cs typeface="Aptos"/>
                        </a:rPr>
                        <a:t>Wrong-ID and duplicate verdicts rejected.</a:t>
                      </a:r>
                    </a:p>
                  </a:txBody>
                  <a:tcPr marL="63500" marR="63500" marT="38100" marB="38100" anchor="ctr">
                    <a:solidFill>
                      <a:srgbClr val="F4F7FA"/>
                    </a:solidFill>
                  </a:tcPr>
                </a:tc>
              </a:tr>
              <a:tr h="504825">
                <a:tc>
                  <a:txBody>
                    <a:bodyPr/>
                    <a:lstStyle/>
                    <a:p>
                      <a:pPr algn="l">
                        <a:buNone/>
                      </a:pPr>
                      <a:r>
                        <a:rPr sz="940" b="0">
                          <a:solidFill>
                            <a:srgbClr val="081B33"/>
                          </a:solidFill>
                          <a:latin typeface="Aptos"/>
                          <a:ea typeface="Aptos"/>
                          <a:cs typeface="Aptos"/>
                        </a:rPr>
                        <a:t>Invalid/geofence target</a:t>
                      </a:r>
                    </a:p>
                  </a:txBody>
                  <a:tcPr marL="63500" marR="63500" marT="38100" marB="38100" anchor="ctr">
                    <a:solidFill>
                      <a:srgbClr val="FFFFFF"/>
                    </a:solidFill>
                  </a:tcPr>
                </a:tc>
                <a:tc>
                  <a:txBody>
                    <a:bodyPr/>
                    <a:lstStyle/>
                    <a:p>
                      <a:pPr algn="ctr">
                        <a:buNone/>
                      </a:pPr>
                      <a:r>
                        <a:rPr sz="940" b="0">
                          <a:solidFill>
                            <a:srgbClr val="081B33"/>
                          </a:solidFill>
                          <a:latin typeface="Aptos"/>
                          <a:ea typeface="Aptos"/>
                          <a:cs typeface="Aptos"/>
                        </a:rPr>
                        <a:t>v1</a:t>
                      </a:r>
                    </a:p>
                  </a:txBody>
                  <a:tcPr marL="63500" marR="63500" marT="38100" marB="38100" anchor="ctr">
                    <a:solidFill>
                      <a:srgbClr val="FFFFFF"/>
                    </a:solidFill>
                  </a:tcPr>
                </a:tc>
                <a:tc>
                  <a:txBody>
                    <a:bodyPr/>
                    <a:lstStyle/>
                    <a:p>
                      <a:pPr algn="ctr">
                        <a:buNone/>
                      </a:pPr>
                      <a:r>
                        <a:rPr sz="940" b="1">
                          <a:solidFill>
                            <a:srgbClr val="10825C"/>
                          </a:solidFill>
                          <a:latin typeface="Aptos"/>
                          <a:ea typeface="Aptos"/>
                          <a:cs typeface="Aptos"/>
                        </a:rPr>
                        <a:t>PASS</a:t>
                      </a:r>
                    </a:p>
                  </a:txBody>
                  <a:tcPr marL="63500" marR="63500" marT="38100" marB="38100" anchor="ctr">
                    <a:solidFill>
                      <a:srgbClr val="FFFFFF"/>
                    </a:solidFill>
                  </a:tcPr>
                </a:tc>
                <a:tc>
                  <a:txBody>
                    <a:bodyPr/>
                    <a:lstStyle/>
                    <a:p>
                      <a:pPr algn="l">
                        <a:buNone/>
                      </a:pPr>
                      <a:r>
                        <a:rPr sz="960" b="0">
                          <a:solidFill>
                            <a:srgbClr val="081B33"/>
                          </a:solidFill>
                          <a:latin typeface="Aptos"/>
                          <a:ea typeface="Aptos"/>
                          <a:cs typeface="Aptos"/>
                        </a:rPr>
                        <a:t>Rejected before dispatch; 0 Scout commands.</a:t>
                      </a:r>
                    </a:p>
                  </a:txBody>
                  <a:tcPr marL="63500" marR="63500" marT="38100" marB="38100" anchor="ctr">
                    <a:solidFill>
                      <a:srgbClr val="FFFFFF"/>
                    </a:solidFill>
                  </a:tcPr>
                </a:tc>
              </a:tr>
            </a:tbl>
          </a:graphicData>
        </a:graphic>
      </p:graphicFrame>
      <p:sp>
        <p:nvSpPr>
          <p:cNvPr id="11" name="Fault evidence boundary">
            <a:extLst xmlns:a="http://schemas.openxmlformats.org/drawingml/2006/main">
              <a:ext uri="{FF2B5EF4-FFF2-40B4-BE49-F238E27FC236}">
                <a16:creationId xmlns:a16="http://schemas.microsoft.com/office/drawing/2014/main" id="{CC863193-E452-B101-E54A-61AC198CFA7D}"/>
              </a:ext>
            </a:extLst>
          </p:cNvPr>
          <p:cNvSpPr>
            <a:spLocks xmlns:a="http://schemas.openxmlformats.org/drawingml/2006/main" noGrp="1"/>
          </p:cNvSpPr>
          <p:nvPr/>
        </p:nvSpPr>
        <p:spPr>
          <a:xfrm xmlns:a="http://schemas.openxmlformats.org/drawingml/2006/main">
            <a:off x="609600" y="5626100"/>
            <a:ext cx="10972800" cy="276999"/>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gn="ctr">
              <a:buNone/>
            </a:pPr>
            <a:r>
              <a:rPr sz="1125" b="1">
                <a:solidFill>
                  <a:srgbClr val="081B33"/>
                </a:solidFill>
                <a:latin typeface="Aptos"/>
                <a:ea typeface="Aptos"/>
                <a:cs typeface="Aptos"/>
              </a:rPr>
              <a:t>One retained development pilot per row. These outcomes do not constitute a formal repeated reliability campaign.</a:t>
            </a:r>
          </a:p>
        </p:txBody>
      </p:sp>
    </p:spTree>
    <p:extLst>
      <p:ext uri="{BB962C8B-B14F-4D97-AF65-F5344CB8AC3E}">
        <p14:creationId xmlns:p14="http://schemas.microsoft.com/office/powerpoint/2010/main" val="3722971009"/>
      </p:ext>
    </p:extLst>
  </p:cSld>
</p:sld>
</file>

<file path=ppt/slides/slide14.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traight Connector 8">
            <a:extLst xmlns:a="http://schemas.openxmlformats.org/drawingml/2006/main">
              <a:ext uri="{FF2B5EF4-FFF2-40B4-BE49-F238E27FC236}">
                <a16:creationId xmlns:a16="http://schemas.microsoft.com/office/drawing/2014/main" id="{DF00FBC6-1672-4269-B597-85D956D54D6C}"/>
              </a:ext>
            </a:extLst>
          </p:cNvPr>
          <p:cNvSpPr>
            <a:spLocks xmlns:a="http://schemas.openxmlformats.org/drawingml/2006/main" noGrp="1"/>
          </p:cNvSpPr>
          <p:nvPr/>
        </p:nvSpPr>
        <p:spPr>
          <a:xfrm xmlns:a="http://schemas.openxmlformats.org/drawingml/2006/main">
            <a:off x="0" y="47625"/>
            <a:ext cx="12192000" cy="0"/>
          </a:xfrm>
          <a:prstGeom xmlns:a="http://schemas.openxmlformats.org/drawingml/2006/main" prst="line">
            <a:avLst/>
          </a:prstGeom>
          <a:ln xmlns:a="http://schemas.openxmlformats.org/drawingml/2006/main" w="95250">
            <a:solidFill>
              <a:srgbClr val="0B1F3A"/>
            </a:solidFill>
            <a:prstDash val="solid"/>
          </a:ln>
        </p:spPr>
      </p:sp>
      <p:sp>
        <p:nvSpPr>
          <p:cNvPr id="2" name="Rectangle 1">
            <a:extLst xmlns:a="http://schemas.openxmlformats.org/drawingml/2006/main">
              <a:ext uri="{FF2B5EF4-FFF2-40B4-BE49-F238E27FC236}">
                <a16:creationId xmlns:a16="http://schemas.microsoft.com/office/drawing/2014/main" id="{453A50DC-DFD5-4962-AA71-4FBA657AE6A2}"/>
              </a:ext>
            </a:extLst>
          </p:cNvPr>
          <p:cNvSpPr>
            <a:spLocks xmlns:a="http://schemas.openxmlformats.org/drawingml/2006/main" noGrp="1"/>
          </p:cNvSpPr>
          <p:nvPr/>
        </p:nvSpPr>
        <p:spPr>
          <a:xfrm xmlns:a="http://schemas.openxmlformats.org/drawingml/2006/main">
            <a:off x="609600" y="2952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B1F3A"/>
                </a:solidFill>
                <a:latin typeface="Aptos"/>
                <a:ea typeface="Aptos"/>
                <a:cs typeface="Aptos"/>
              </a:defRPr>
            </a:defPPr>
          </a:lstStyle>
          <a:p xmlns:a="http://schemas.openxmlformats.org/drawingml/2006/main">
            <a:pPr algn="l">
              <a:buNone/>
              <a:defRPr sz="3000" b="1">
                <a:solidFill>
                  <a:srgbClr val="0B1F3A"/>
                </a:solidFill>
                <a:latin typeface="Aptos"/>
                <a:ea typeface="Aptos"/>
                <a:cs typeface="Aptos"/>
              </a:defRPr>
            </a:pPr>
            <a:r>
              <a:rPr sz="3000" b="1">
                <a:solidFill>
                  <a:srgbClr val="0B1F3A"/>
                </a:solidFill>
                <a:latin typeface="Aptos"/>
                <a:ea typeface="Aptos"/>
                <a:cs typeface="Aptos"/>
              </a:rPr>
              <a:t>Prototype features and future development</a:t>
            </a:r>
          </a:p>
        </p:txBody>
      </p:sp>
      <p:sp>
        <p:nvSpPr>
          <p:cNvPr id="3" name="Rectangle 2">
            <a:extLst xmlns:a="http://schemas.openxmlformats.org/drawingml/2006/main">
              <a:ext uri="{FF2B5EF4-FFF2-40B4-BE49-F238E27FC236}">
                <a16:creationId xmlns:a16="http://schemas.microsoft.com/office/drawing/2014/main" id="{C821EBCD-2C16-4E02-AF22-8E372E25AF11}"/>
              </a:ext>
            </a:extLst>
          </p:cNvPr>
          <p:cNvSpPr>
            <a:spLocks xmlns:a="http://schemas.openxmlformats.org/drawingml/2006/main" noGrp="1"/>
          </p:cNvSpPr>
          <p:nvPr/>
        </p:nvSpPr>
        <p:spPr>
          <a:xfrm xmlns:a="http://schemas.openxmlformats.org/drawingml/2006/main">
            <a:off x="609600" y="8667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174"/>
                </a:solidFill>
                <a:latin typeface="Aptos"/>
                <a:ea typeface="Aptos"/>
                <a:cs typeface="Aptos"/>
              </a:defRPr>
            </a:defPPr>
          </a:lstStyle>
          <a:p xmlns:a="http://schemas.openxmlformats.org/drawingml/2006/main">
            <a:pPr algn="l">
              <a:buNone/>
              <a:defRPr sz="1500" b="0">
                <a:solidFill>
                  <a:srgbClr val="526174"/>
                </a:solidFill>
                <a:latin typeface="Aptos"/>
                <a:ea typeface="Aptos"/>
                <a:cs typeface="Aptos"/>
              </a:defRPr>
            </a:pPr>
            <a:r>
              <a:rPr sz="1500" b="0">
                <a:solidFill>
                  <a:srgbClr val="526174"/>
                </a:solidFill>
                <a:latin typeface="Aptos"/>
                <a:ea typeface="Aptos"/>
                <a:cs typeface="Aptos"/>
              </a:rPr>
              <a:t>Implemented engineering contributions and the next development steps</a:t>
            </a:r>
          </a:p>
        </p:txBody>
      </p:sp>
      <p:sp>
        <p:nvSpPr>
          <p:cNvPr id="4" name="Straight Connector 3">
            <a:extLst xmlns:a="http://schemas.openxmlformats.org/drawingml/2006/main">
              <a:ext uri="{FF2B5EF4-FFF2-40B4-BE49-F238E27FC236}">
                <a16:creationId xmlns:a16="http://schemas.microsoft.com/office/drawing/2014/main" id="{3A4FC7F2-F5B4-4F4D-97FF-48B24A214084}"/>
              </a:ext>
            </a:extLst>
          </p:cNvPr>
          <p:cNvSpPr>
            <a:spLocks xmlns:a="http://schemas.openxmlformats.org/drawingml/2006/main" noGrp="1"/>
          </p:cNvSpPr>
          <p:nvPr/>
        </p:nvSpPr>
        <p:spPr>
          <a:xfrm xmlns:a="http://schemas.openxmlformats.org/drawingml/2006/main">
            <a:off x="609600" y="1266825"/>
            <a:ext cx="10972800" cy="0"/>
          </a:xfrm>
          <a:prstGeom xmlns:a="http://schemas.openxmlformats.org/drawingml/2006/main" prst="line">
            <a:avLst/>
          </a:prstGeom>
          <a:ln xmlns:a="http://schemas.openxmlformats.org/drawingml/2006/main" w="9525">
            <a:solidFill>
              <a:srgbClr val="D7DEE8"/>
            </a:solidFill>
            <a:prstDash val="solid"/>
          </a:ln>
        </p:spPr>
      </p:sp>
      <p:sp>
        <p:nvSpPr>
          <p:cNvPr id="6" name="Rectangle 5">
            <a:extLst xmlns:a="http://schemas.openxmlformats.org/drawingml/2006/main">
              <a:ext uri="{FF2B5EF4-FFF2-40B4-BE49-F238E27FC236}">
                <a16:creationId xmlns:a16="http://schemas.microsoft.com/office/drawing/2014/main" id="{FD3BB566-1F24-407E-99E7-E3210250B83E}"/>
              </a:ext>
            </a:extLst>
          </p:cNvPr>
          <p:cNvSpPr>
            <a:spLocks xmlns:a="http://schemas.openxmlformats.org/drawingml/2006/main" noGrp="1"/>
          </p:cNvSpPr>
          <p:nvPr/>
        </p:nvSpPr>
        <p:spPr>
          <a:xfrm xmlns:a="http://schemas.openxmlformats.org/drawingml/2006/main">
            <a:off x="11144250" y="65436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526174"/>
                </a:solidFill>
                <a:latin typeface="Aptos"/>
                <a:ea typeface="Aptos"/>
                <a:cs typeface="Aptos"/>
              </a:defRPr>
            </a:defPPr>
          </a:lstStyle>
          <a:p xmlns:a="http://schemas.openxmlformats.org/drawingml/2006/main">
            <a:pPr algn="r">
              <a:buNone/>
              <a:defRPr sz="975" b="0">
                <a:solidFill>
                  <a:srgbClr val="526174"/>
                </a:solidFill>
                <a:latin typeface="Aptos"/>
                <a:ea typeface="Aptos"/>
                <a:cs typeface="Aptos"/>
              </a:defRPr>
            </a:pPr>
            <a:r>
              <a:rPr sz="975" b="0">
                <a:solidFill>
                  <a:srgbClr val="526174"/>
                </a:solidFill>
                <a:latin typeface="Aptos"/>
                <a:ea typeface="Aptos"/>
                <a:cs typeface="Aptos"/>
              </a:rPr>
              <a:t>A4</a:t>
            </a:r>
          </a:p>
        </p:txBody>
      </p:sp>
      <p:graphicFrame>
        <p:nvGraphicFramePr>
          <p:cNvPr id="7" name="Table 6">
            <a:extLst xmlns:a="http://schemas.openxmlformats.org/drawingml/2006/main">
              <a:ext uri="{FF2B5EF4-FFF2-40B4-BE49-F238E27FC236}">
                <a16:creationId xmlns:a16="http://schemas.microsoft.com/office/drawing/2014/main" id="{7EBB7667-3747-4BF8-BD77-326F44522CB1}"/>
              </a:ext>
            </a:extLst>
          </p:cNvPr>
          <p:cNvGraphicFramePr/>
          <p:nvPr/>
        </p:nvGraphicFramePr>
        <p:xfrm>
          <a:off xmlns:a="http://schemas.openxmlformats.org/drawingml/2006/main" x="609600" y="1571625"/>
          <a:ext xmlns:a="http://schemas.openxmlformats.org/drawingml/2006/main" cx="10972800" cy="4257675"/>
        </p:xfrm>
        <a:graphic xmlns:a="http://schemas.openxmlformats.org/drawingml/2006/main">
          <a:graphicData uri="http://schemas.openxmlformats.org/drawingml/2006/table">
            <a:tbl>
              <a:tblPr/>
              <a:tblGrid>
                <a:gridCol w="5486400"/>
                <a:gridCol w="5486400"/>
              </a:tblGrid>
              <a:tr h="495300">
                <a:tc>
                  <a:txBody>
                    <a:bodyPr/>
                    <a:lstStyle/>
                    <a:p>
                      <a:r>
                        <a:rPr sz="1875" b="1">
                          <a:solidFill>
                            <a:srgbClr val="FFFFFF"/>
                          </a:solidFill>
                          <a:latin typeface="Aptos"/>
                          <a:ea typeface="Aptos"/>
                          <a:cs typeface="Aptos"/>
                        </a:rPr>
                        <a:t>Implemented prototype feature</a:t>
                      </a:r>
                    </a:p>
                  </a:txBody>
                  <a:tcPr marL="133350" marR="133350" marT="95250" marB="95250" anchor="ctr">
                    <a:lnL w="9525">
                      <a:solidFill>
                        <a:srgbClr val="D7DEE8"/>
                      </a:solidFill>
                      <a:prstDash val="solid"/>
                    </a:lnL>
                    <a:lnR w="9525">
                      <a:solidFill>
                        <a:srgbClr val="D7DEE8"/>
                      </a:solidFill>
                      <a:prstDash val="solid"/>
                    </a:lnR>
                    <a:lnT w="9525">
                      <a:solidFill>
                        <a:srgbClr val="D7DEE8"/>
                      </a:solidFill>
                      <a:prstDash val="solid"/>
                    </a:lnT>
                    <a:lnB w="9525">
                      <a:solidFill>
                        <a:srgbClr val="D7DEE8"/>
                      </a:solidFill>
                      <a:prstDash val="solid"/>
                    </a:lnB>
                    <a:solidFill>
                      <a:srgbClr val="0B1F3A"/>
                    </a:solidFill>
                  </a:tcPr>
                </a:tc>
                <a:tc>
                  <a:txBody>
                    <a:bodyPr/>
                    <a:lstStyle/>
                    <a:p>
                      <a:r>
                        <a:rPr sz="1875" b="1">
                          <a:solidFill>
                            <a:srgbClr val="FFFFFF"/>
                          </a:solidFill>
                          <a:latin typeface="Aptos"/>
                          <a:ea typeface="Aptos"/>
                          <a:cs typeface="Aptos"/>
                        </a:rPr>
                        <a:t>Future development / validation</a:t>
                      </a:r>
                    </a:p>
                  </a:txBody>
                  <a:tcPr marL="133350" marR="133350" marT="95250" marB="95250" anchor="ctr">
                    <a:lnL w="9525" cmpd="sng">
                      <a:solidFill>
                        <a:srgbClr val="D7DEE8"/>
                      </a:solidFill>
                      <a:prstDash val="solid"/>
                    </a:lnL>
                    <a:lnR w="9525">
                      <a:solidFill>
                        <a:srgbClr val="D7DEE8"/>
                      </a:solidFill>
                      <a:prstDash val="solid"/>
                    </a:lnR>
                    <a:lnT w="9525">
                      <a:solidFill>
                        <a:srgbClr val="D7DEE8"/>
                      </a:solidFill>
                      <a:prstDash val="solid"/>
                    </a:lnT>
                    <a:lnB w="9525">
                      <a:solidFill>
                        <a:srgbClr val="D7DEE8"/>
                      </a:solidFill>
                      <a:prstDash val="solid"/>
                    </a:lnB>
                    <a:solidFill>
                      <a:srgbClr val="0B1F3A"/>
                    </a:solidFill>
                  </a:tcPr>
                </a:tc>
              </a:tr>
              <a:tr h="752475">
                <a:tc>
                  <a:txBody>
                    <a:bodyPr/>
                    <a:lstStyle/>
                    <a:p>
                      <a:r>
                        <a:rPr sz="1725">
                          <a:solidFill>
                            <a:srgbClr val="0B1F3A"/>
                          </a:solidFill>
                          <a:latin typeface="Aptos"/>
                          <a:ea typeface="Aptos"/>
                          <a:cs typeface="Aptos"/>
                        </a:rPr>
                        <a:t>Tiered onboard perception</a:t>
                      </a:r>
                    </a:p>
                    <a:p>
                      <a:r>
                        <a:rPr sz="1725">
                          <a:solidFill>
                            <a:srgbClr val="0B1F3A"/>
                          </a:solidFill>
                          <a:latin typeface="Aptos"/>
                          <a:ea typeface="Aptos"/>
                          <a:cs typeface="Aptos"/>
                        </a:rPr>
                        <a:t>YOLOv8n + YOLOv8s on two computers</a:t>
                      </a:r>
                    </a:p>
                  </a:txBody>
                  <a:tcPr marL="133350" marR="133350" marT="76200" marB="76200" anchor="ctr">
                    <a:lnL w="9525">
                      <a:solidFill>
                        <a:srgbClr val="D7DEE8"/>
                      </a:solidFill>
                      <a:prstDash val="solid"/>
                    </a:lnL>
                    <a:lnR w="9525">
                      <a:solidFill>
                        <a:srgbClr val="D7DEE8"/>
                      </a:solidFill>
                      <a:prstDash val="solid"/>
                    </a:lnR>
                    <a:lnT w="9525" cmpd="sng">
                      <a:solidFill>
                        <a:srgbClr val="D7DEE8"/>
                      </a:solidFill>
                      <a:prstDash val="solid"/>
                    </a:lnT>
                    <a:lnB w="9525">
                      <a:solidFill>
                        <a:srgbClr val="D7DEE8"/>
                      </a:solidFill>
                      <a:prstDash val="solid"/>
                    </a:lnB>
                    <a:solidFill>
                      <a:srgbClr val="FFFFFF"/>
                    </a:solidFill>
                  </a:tcPr>
                </a:tc>
                <a:tc>
                  <a:txBody>
                    <a:bodyPr/>
                    <a:lstStyle/>
                    <a:p>
                      <a:r>
                        <a:rPr sz="1725">
                          <a:solidFill>
                            <a:srgbClr val="0B1F3A"/>
                          </a:solidFill>
                          <a:latin typeface="Aptos"/>
                          <a:ea typeface="Aptos"/>
                          <a:cs typeface="Aptos"/>
                        </a:rPr>
                        <a:t>Complete the candidate/device matrix</a:t>
                      </a:r>
                    </a:p>
                    <a:p>
                      <a:r>
                        <a:rPr sz="1725">
                          <a:solidFill>
                            <a:srgbClr val="0B1F3A"/>
                          </a:solidFill>
                          <a:latin typeface="Aptos"/>
                          <a:ea typeface="Aptos"/>
                          <a:cs typeface="Aptos"/>
                        </a:rPr>
                        <a:t>Accelerate Scout verification</a:t>
                      </a:r>
                    </a:p>
                  </a:txBody>
                  <a:tcPr marL="133350" marR="133350" marT="76200" marB="76200" anchor="ctr">
                    <a:lnL w="9525" cmpd="sng">
                      <a:solidFill>
                        <a:srgbClr val="D7DEE8"/>
                      </a:solidFill>
                      <a:prstDash val="solid"/>
                    </a:lnL>
                    <a:lnR w="9525">
                      <a:solidFill>
                        <a:srgbClr val="D7DEE8"/>
                      </a:solidFill>
                      <a:prstDash val="solid"/>
                    </a:lnR>
                    <a:lnT w="9525" cmpd="sng">
                      <a:solidFill>
                        <a:srgbClr val="D7DEE8"/>
                      </a:solidFill>
                      <a:prstDash val="solid"/>
                    </a:lnT>
                    <a:lnB w="9525">
                      <a:solidFill>
                        <a:srgbClr val="D7DEE8"/>
                      </a:solidFill>
                      <a:prstDash val="solid"/>
                    </a:lnB>
                    <a:solidFill>
                      <a:srgbClr val="FFFFFF"/>
                    </a:solidFill>
                  </a:tcPr>
                </a:tc>
              </a:tr>
              <a:tr h="752475">
                <a:tc>
                  <a:txBody>
                    <a:bodyPr/>
                    <a:lstStyle/>
                    <a:p>
                      <a:r>
                        <a:rPr sz="1725">
                          <a:solidFill>
                            <a:srgbClr val="0B1F3A"/>
                          </a:solidFill>
                          <a:latin typeface="Aptos"/>
                          <a:ea typeface="Aptos"/>
                          <a:cs typeface="Aptos"/>
                        </a:rPr>
                        <a:t>Correlated ROS 2 decisions</a:t>
                      </a:r>
                    </a:p>
                    <a:p>
                      <a:r>
                        <a:rPr sz="1725">
                          <a:solidFill>
                            <a:srgbClr val="0B1F3A"/>
                          </a:solidFill>
                          <a:latin typeface="Aptos"/>
                          <a:ea typeface="Aptos"/>
                          <a:cs typeface="Aptos"/>
                        </a:rPr>
                        <a:t>event_id, verdict and timeout handling</a:t>
                      </a:r>
                    </a:p>
                  </a:txBody>
                  <a:tcPr marL="133350" marR="133350" marT="76200" marB="76200" anchor="ctr">
                    <a:lnL w="9525">
                      <a:solidFill>
                        <a:srgbClr val="D7DEE8"/>
                      </a:solidFill>
                      <a:prstDash val="solid"/>
                    </a:lnL>
                    <a:lnR w="9525">
                      <a:solidFill>
                        <a:srgbClr val="D7DEE8"/>
                      </a:solidFill>
                      <a:prstDash val="solid"/>
                    </a:lnR>
                    <a:lnT w="9525" cmpd="sng">
                      <a:solidFill>
                        <a:srgbClr val="D7DEE8"/>
                      </a:solidFill>
                      <a:prstDash val="solid"/>
                    </a:lnT>
                    <a:lnB w="9525">
                      <a:solidFill>
                        <a:srgbClr val="D7DEE8"/>
                      </a:solidFill>
                      <a:prstDash val="solid"/>
                    </a:lnB>
                    <a:solidFill>
                      <a:srgbClr val="FFFFFF"/>
                    </a:solidFill>
                  </a:tcPr>
                </a:tc>
                <a:tc>
                  <a:txBody>
                    <a:bodyPr/>
                    <a:lstStyle/>
                    <a:p>
                      <a:r>
                        <a:rPr sz="1725">
                          <a:solidFill>
                            <a:srgbClr val="0B1F3A"/>
                          </a:solidFill>
                          <a:latin typeface="Aptos"/>
                          <a:ea typeface="Aptos"/>
                          <a:cs typeface="Aptos"/>
                        </a:rPr>
                        <a:t>Repeat network and recovery campaigns</a:t>
                      </a:r>
                    </a:p>
                    <a:p>
                      <a:r>
                        <a:rPr sz="1725">
                          <a:solidFill>
                            <a:srgbClr val="0B1F3A"/>
                          </a:solidFill>
                          <a:latin typeface="Aptos"/>
                          <a:ea typeface="Aptos"/>
                          <a:cs typeface="Aptos"/>
                        </a:rPr>
                        <a:t>Evaluate multiple active events</a:t>
                      </a:r>
                    </a:p>
                  </a:txBody>
                  <a:tcPr marL="133350" marR="133350" marT="76200" marB="76200" anchor="ctr">
                    <a:lnL w="9525" cmpd="sng">
                      <a:solidFill>
                        <a:srgbClr val="D7DEE8"/>
                      </a:solidFill>
                      <a:prstDash val="solid"/>
                    </a:lnL>
                    <a:lnR w="9525">
                      <a:solidFill>
                        <a:srgbClr val="D7DEE8"/>
                      </a:solidFill>
                      <a:prstDash val="solid"/>
                    </a:lnR>
                    <a:lnT w="9525" cmpd="sng">
                      <a:solidFill>
                        <a:srgbClr val="D7DEE8"/>
                      </a:solidFill>
                      <a:prstDash val="solid"/>
                    </a:lnT>
                    <a:lnB w="9525">
                      <a:solidFill>
                        <a:srgbClr val="D7DEE8"/>
                      </a:solidFill>
                      <a:prstDash val="solid"/>
                    </a:lnB>
                    <a:solidFill>
                      <a:srgbClr val="FFFFFF"/>
                    </a:solidFill>
                  </a:tcPr>
                </a:tc>
              </a:tr>
              <a:tr h="752475">
                <a:tc>
                  <a:txBody>
                    <a:bodyPr/>
                    <a:lstStyle/>
                    <a:p>
                      <a:r>
                        <a:rPr sz="1725">
                          <a:solidFill>
                            <a:srgbClr val="0B1F3A"/>
                          </a:solidFill>
                          <a:latin typeface="Aptos"/>
                          <a:ea typeface="Aptos"/>
                          <a:cs typeface="Aptos"/>
                        </a:rPr>
                        <a:t>Three-frame trigger</a:t>
                      </a:r>
                    </a:p>
                    <a:p>
                      <a:r>
                        <a:rPr sz="1725">
                          <a:solidFill>
                            <a:srgbClr val="0B1F3A"/>
                          </a:solidFill>
                          <a:latin typeface="Aptos"/>
                          <a:ea typeface="Aptos"/>
                          <a:cs typeface="Aptos"/>
                        </a:rPr>
                        <a:t>Camera freshness and error gates</a:t>
                      </a:r>
                    </a:p>
                  </a:txBody>
                  <a:tcPr marL="133350" marR="133350" marT="76200" marB="76200" anchor="ctr">
                    <a:lnL w="9525">
                      <a:solidFill>
                        <a:srgbClr val="D7DEE8"/>
                      </a:solidFill>
                      <a:prstDash val="solid"/>
                    </a:lnL>
                    <a:lnR w="9525">
                      <a:solidFill>
                        <a:srgbClr val="D7DEE8"/>
                      </a:solidFill>
                      <a:prstDash val="solid"/>
                    </a:lnR>
                    <a:lnT w="9525" cmpd="sng">
                      <a:solidFill>
                        <a:srgbClr val="D7DEE8"/>
                      </a:solidFill>
                      <a:prstDash val="solid"/>
                    </a:lnT>
                    <a:lnB w="9525">
                      <a:solidFill>
                        <a:srgbClr val="D7DEE8"/>
                      </a:solidFill>
                      <a:prstDash val="solid"/>
                    </a:lnB>
                    <a:solidFill>
                      <a:srgbClr val="FFFFFF"/>
                    </a:solidFill>
                  </a:tcPr>
                </a:tc>
                <a:tc>
                  <a:txBody>
                    <a:bodyPr/>
                    <a:lstStyle/>
                    <a:p>
                      <a:r>
                        <a:rPr sz="1725">
                          <a:solidFill>
                            <a:srgbClr val="0B1F3A"/>
                          </a:solidFill>
                          <a:latin typeface="Aptos"/>
                          <a:ea typeface="Aptos"/>
                          <a:cs typeface="Aptos"/>
                        </a:rPr>
                        <a:t>Quantify filtering and verification benefits</a:t>
                      </a:r>
                    </a:p>
                    <a:p>
                      <a:r>
                        <a:rPr sz="1725">
                          <a:solidFill>
                            <a:srgbClr val="0B1F3A"/>
                          </a:solidFill>
                          <a:latin typeface="Aptos"/>
                          <a:ea typeface="Aptos"/>
                          <a:cs typeface="Aptos"/>
                        </a:rPr>
                        <a:t>Use identical inputs for each stage</a:t>
                      </a:r>
                    </a:p>
                  </a:txBody>
                  <a:tcPr marL="133350" marR="133350" marT="76200" marB="76200" anchor="ctr">
                    <a:lnL w="9525" cmpd="sng">
                      <a:solidFill>
                        <a:srgbClr val="D7DEE8"/>
                      </a:solidFill>
                      <a:prstDash val="solid"/>
                    </a:lnL>
                    <a:lnR w="9525">
                      <a:solidFill>
                        <a:srgbClr val="D7DEE8"/>
                      </a:solidFill>
                      <a:prstDash val="solid"/>
                    </a:lnR>
                    <a:lnT w="9525" cmpd="sng">
                      <a:solidFill>
                        <a:srgbClr val="D7DEE8"/>
                      </a:solidFill>
                      <a:prstDash val="solid"/>
                    </a:lnT>
                    <a:lnB w="9525">
                      <a:solidFill>
                        <a:srgbClr val="D7DEE8"/>
                      </a:solidFill>
                      <a:prstDash val="solid"/>
                    </a:lnB>
                    <a:solidFill>
                      <a:srgbClr val="FFFFFF"/>
                    </a:solidFill>
                  </a:tcPr>
                </a:tc>
              </a:tr>
              <a:tr h="752475">
                <a:tc>
                  <a:txBody>
                    <a:bodyPr/>
                    <a:lstStyle/>
                    <a:p>
                      <a:r>
                        <a:rPr sz="1725">
                          <a:solidFill>
                            <a:srgbClr val="0B1F3A"/>
                          </a:solidFill>
                          <a:latin typeface="Aptos"/>
                          <a:ea typeface="Aptos"/>
                          <a:cs typeface="Aptos"/>
                        </a:rPr>
                        <a:t>Namespaced dual-PX4 mission control</a:t>
                      </a:r>
                    </a:p>
                    <a:p>
                      <a:r>
                        <a:rPr sz="1725">
                          <a:solidFill>
                            <a:srgbClr val="0B1F3A"/>
                          </a:solidFill>
                          <a:latin typeface="Aptos"/>
                          <a:ea typeface="Aptos"/>
                          <a:cs typeface="Aptos"/>
                        </a:rPr>
                        <a:t>Executed simulated flight sequence</a:t>
                      </a:r>
                    </a:p>
                  </a:txBody>
                  <a:tcPr marL="133350" marR="133350" marT="76200" marB="76200" anchor="ctr">
                    <a:lnL w="9525">
                      <a:solidFill>
                        <a:srgbClr val="D7DEE8"/>
                      </a:solidFill>
                      <a:prstDash val="solid"/>
                    </a:lnL>
                    <a:lnR w="9525">
                      <a:solidFill>
                        <a:srgbClr val="D7DEE8"/>
                      </a:solidFill>
                      <a:prstDash val="solid"/>
                    </a:lnR>
                    <a:lnT w="9525" cmpd="sng">
                      <a:solidFill>
                        <a:srgbClr val="D7DEE8"/>
                      </a:solidFill>
                      <a:prstDash val="solid"/>
                    </a:lnT>
                    <a:lnB w="9525">
                      <a:solidFill>
                        <a:srgbClr val="D7DEE8"/>
                      </a:solidFill>
                      <a:prstDash val="solid"/>
                    </a:lnB>
                    <a:solidFill>
                      <a:srgbClr val="FFFFFF"/>
                    </a:solidFill>
                  </a:tcPr>
                </a:tc>
                <a:tc>
                  <a:txBody>
                    <a:bodyPr/>
                    <a:lstStyle/>
                    <a:p>
                      <a:r>
                        <a:rPr sz="1725">
                          <a:solidFill>
                            <a:srgbClr val="0B1F3A"/>
                          </a:solidFill>
                          <a:latin typeface="Aptos"/>
                          <a:ea typeface="Aptos"/>
                          <a:cs typeface="Aptos"/>
                        </a:rPr>
                        <a:t>Integrate camera-driven target acquisition</a:t>
                      </a:r>
                    </a:p>
                    <a:p>
                      <a:r>
                        <a:rPr sz="1725">
                          <a:solidFill>
                            <a:srgbClr val="0B1F3A"/>
                          </a:solidFill>
                          <a:latin typeface="Aptos"/>
                          <a:ea typeface="Aptos"/>
                          <a:cs typeface="Aptos"/>
                        </a:rPr>
                        <a:t>Calibrate airframes and test certified flight</a:t>
                      </a:r>
                    </a:p>
                  </a:txBody>
                  <a:tcPr marL="133350" marR="133350" marT="76200" marB="76200" anchor="ctr">
                    <a:lnL w="9525" cmpd="sng">
                      <a:solidFill>
                        <a:srgbClr val="D7DEE8"/>
                      </a:solidFill>
                      <a:prstDash val="solid"/>
                    </a:lnL>
                    <a:lnR w="9525">
                      <a:solidFill>
                        <a:srgbClr val="D7DEE8"/>
                      </a:solidFill>
                      <a:prstDash val="solid"/>
                    </a:lnR>
                    <a:lnT w="9525" cmpd="sng">
                      <a:solidFill>
                        <a:srgbClr val="D7DEE8"/>
                      </a:solidFill>
                      <a:prstDash val="solid"/>
                    </a:lnT>
                    <a:lnB w="9525">
                      <a:solidFill>
                        <a:srgbClr val="D7DEE8"/>
                      </a:solidFill>
                      <a:prstDash val="solid"/>
                    </a:lnB>
                    <a:solidFill>
                      <a:srgbClr val="FFFFFF"/>
                    </a:solidFill>
                  </a:tcPr>
                </a:tc>
              </a:tr>
              <a:tr h="752475">
                <a:tc>
                  <a:txBody>
                    <a:bodyPr/>
                    <a:lstStyle/>
                    <a:p>
                      <a:r>
                        <a:rPr sz="1725">
                          <a:solidFill>
                            <a:srgbClr val="0B1F3A"/>
                          </a:solidFill>
                          <a:latin typeface="Aptos"/>
                          <a:ea typeface="Aptos"/>
                          <a:cs typeface="Aptos"/>
                        </a:rPr>
                        <a:t>Hash-linked logs and reproducible metrics</a:t>
                      </a:r>
                    </a:p>
                    <a:p>
                      <a:r>
                        <a:rPr sz="1725">
                          <a:solidFill>
                            <a:srgbClr val="0B1F3A"/>
                          </a:solidFill>
                          <a:latin typeface="Aptos"/>
                          <a:ea typeface="Aptos"/>
                          <a:cs typeface="Aptos"/>
                        </a:rPr>
                        <a:t>Preserved failures and corrected reruns</a:t>
                      </a:r>
                    </a:p>
                  </a:txBody>
                  <a:tcPr marL="133350" marR="133350" marT="76200" marB="76200" anchor="ctr">
                    <a:lnL w="9525">
                      <a:solidFill>
                        <a:srgbClr val="D7DEE8"/>
                      </a:solidFill>
                      <a:prstDash val="solid"/>
                    </a:lnL>
                    <a:lnR w="9525">
                      <a:solidFill>
                        <a:srgbClr val="D7DEE8"/>
                      </a:solidFill>
                      <a:prstDash val="solid"/>
                    </a:lnR>
                    <a:lnT w="9525" cmpd="sng">
                      <a:solidFill>
                        <a:srgbClr val="D7DEE8"/>
                      </a:solidFill>
                      <a:prstDash val="solid"/>
                    </a:lnT>
                    <a:lnB w="9525">
                      <a:solidFill>
                        <a:srgbClr val="D7DEE8"/>
                      </a:solidFill>
                      <a:prstDash val="solid"/>
                    </a:lnB>
                    <a:solidFill>
                      <a:srgbClr val="FFFFFF"/>
                    </a:solidFill>
                  </a:tcPr>
                </a:tc>
                <a:tc>
                  <a:txBody>
                    <a:bodyPr/>
                    <a:lstStyle/>
                    <a:p>
                      <a:r>
                        <a:rPr sz="1725">
                          <a:solidFill>
                            <a:srgbClr val="0B1F3A"/>
                          </a:solidFill>
                          <a:latin typeface="Aptos"/>
                          <a:ea typeface="Aptos"/>
                          <a:cs typeface="Aptos"/>
                        </a:rPr>
                        <a:t>Evaluate external UAV / industrial data</a:t>
                      </a:r>
                    </a:p>
                    <a:p>
                      <a:r>
                        <a:rPr sz="1725">
                          <a:solidFill>
                            <a:srgbClr val="0B1F3A"/>
                          </a:solidFill>
                          <a:latin typeface="Aptos"/>
                          <a:ea typeface="Aptos"/>
                          <a:cs typeface="Aptos"/>
                        </a:rPr>
                        <a:t>Measure energy and flight endurance</a:t>
                      </a:r>
                    </a:p>
                  </a:txBody>
                  <a:tcPr marL="133350" marR="133350" marT="76200" marB="76200" anchor="ctr">
                    <a:lnL w="9525" cmpd="sng">
                      <a:solidFill>
                        <a:srgbClr val="D7DEE8"/>
                      </a:solidFill>
                      <a:prstDash val="solid"/>
                    </a:lnL>
                    <a:lnR w="9525">
                      <a:solidFill>
                        <a:srgbClr val="D7DEE8"/>
                      </a:solidFill>
                      <a:prstDash val="solid"/>
                    </a:lnR>
                    <a:lnT w="9525" cmpd="sng">
                      <a:solidFill>
                        <a:srgbClr val="D7DEE8"/>
                      </a:solidFill>
                      <a:prstDash val="solid"/>
                    </a:lnT>
                    <a:lnB w="9525">
                      <a:solidFill>
                        <a:srgbClr val="D7DEE8"/>
                      </a:solidFill>
                      <a:prstDash val="solid"/>
                    </a:lnB>
                    <a:solidFill>
                      <a:srgbClr val="FFFFFF"/>
                    </a:solidFill>
                  </a:tcPr>
                </a:tc>
              </a:tr>
            </a:tbl>
          </a:graphicData>
        </a:graphic>
      </p:graphicFrame>
      <p:sp>
        <p:nvSpPr>
          <p:cNvPr id="8" name="Rectangle 7">
            <a:extLst xmlns:a="http://schemas.openxmlformats.org/drawingml/2006/main">
              <a:ext uri="{FF2B5EF4-FFF2-40B4-BE49-F238E27FC236}">
                <a16:creationId xmlns:a16="http://schemas.microsoft.com/office/drawing/2014/main" id="{3970630B-0984-4B34-A35C-B9ECF18EBB52}"/>
              </a:ext>
            </a:extLst>
          </p:cNvPr>
          <p:cNvSpPr>
            <a:spLocks xmlns:a="http://schemas.openxmlformats.org/drawingml/2006/main" noGrp="1"/>
          </p:cNvSpPr>
          <p:nvPr/>
        </p:nvSpPr>
        <p:spPr>
          <a:xfrm xmlns:a="http://schemas.openxmlformats.org/drawingml/2006/main">
            <a:off x="609600" y="60674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174"/>
                </a:solidFill>
                <a:latin typeface="Aptos"/>
                <a:ea typeface="Aptos"/>
                <a:cs typeface="Aptos"/>
              </a:defRPr>
            </a:defPPr>
          </a:lstStyle>
          <a:p xmlns:a="http://schemas.openxmlformats.org/drawingml/2006/main">
            <a:pPr algn="l">
              <a:buNone/>
              <a:defRPr sz="1575" b="0">
                <a:solidFill>
                  <a:srgbClr val="526174"/>
                </a:solidFill>
                <a:latin typeface="Aptos"/>
                <a:ea typeface="Aptos"/>
                <a:cs typeface="Aptos"/>
              </a:defRPr>
            </a:pPr>
            <a:r>
              <a:rPr sz="1575" b="0">
                <a:solidFill>
                  <a:srgbClr val="526174"/>
                </a:solidFill>
                <a:latin typeface="Aptos"/>
                <a:ea typeface="Aptos"/>
                <a:cs typeface="Aptos"/>
              </a:rPr>
              <a:t>The contribution is system integration and measured engineering improvements. No new detector algorithm is claimed.</a:t>
            </a:r>
          </a:p>
        </p:txBody>
      </p:sp>
    </p:spTree>
    <p:extLst>
      <p:ext uri="{BB962C8B-B14F-4D97-AF65-F5344CB8AC3E}">
        <p14:creationId xmlns:p14="http://schemas.microsoft.com/office/powerpoint/2010/main" val="1188831443"/>
      </p:ext>
    </p:extLst>
  </p:cSld>
</p:sld>
</file>

<file path=ppt/slides/slide15.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traight Connector 16">
            <a:extLst xmlns:a="http://schemas.openxmlformats.org/drawingml/2006/main">
              <a:ext uri="{FF2B5EF4-FFF2-40B4-BE49-F238E27FC236}">
                <a16:creationId xmlns:a16="http://schemas.microsoft.com/office/drawing/2014/main" id="{AFC2D871-1F9B-43EE-93B3-05A8E9420150}"/>
              </a:ext>
            </a:extLst>
          </p:cNvPr>
          <p:cNvSpPr>
            <a:spLocks xmlns:a="http://schemas.openxmlformats.org/drawingml/2006/main" noGrp="1"/>
          </p:cNvSpPr>
          <p:nvPr/>
        </p:nvSpPr>
        <p:spPr>
          <a:xfrm xmlns:a="http://schemas.openxmlformats.org/drawingml/2006/main">
            <a:off x="0" y="47625"/>
            <a:ext cx="12192000" cy="0"/>
          </a:xfrm>
          <a:prstGeom xmlns:a="http://schemas.openxmlformats.org/drawingml/2006/main" prst="line">
            <a:avLst/>
          </a:prstGeom>
          <a:ln xmlns:a="http://schemas.openxmlformats.org/drawingml/2006/main" w="95250">
            <a:solidFill>
              <a:srgbClr val="0B1F3A"/>
            </a:solidFill>
            <a:prstDash val="solid"/>
          </a:ln>
        </p:spPr>
      </p:sp>
      <p:sp>
        <p:nvSpPr>
          <p:cNvPr id="2" name="Rectangle 1">
            <a:extLst xmlns:a="http://schemas.openxmlformats.org/drawingml/2006/main">
              <a:ext uri="{FF2B5EF4-FFF2-40B4-BE49-F238E27FC236}">
                <a16:creationId xmlns:a16="http://schemas.microsoft.com/office/drawing/2014/main" id="{C6F3D5C2-E4AB-4921-882B-01FFA60EE174}"/>
              </a:ext>
            </a:extLst>
          </p:cNvPr>
          <p:cNvSpPr>
            <a:spLocks xmlns:a="http://schemas.openxmlformats.org/drawingml/2006/main" noGrp="1"/>
          </p:cNvSpPr>
          <p:nvPr/>
        </p:nvSpPr>
        <p:spPr>
          <a:xfrm xmlns:a="http://schemas.openxmlformats.org/drawingml/2006/main">
            <a:off x="609600" y="2952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B1F3A"/>
                </a:solidFill>
                <a:latin typeface="Aptos"/>
                <a:ea typeface="Aptos"/>
                <a:cs typeface="Aptos"/>
              </a:defRPr>
            </a:defPPr>
          </a:lstStyle>
          <a:p xmlns:a="http://schemas.openxmlformats.org/drawingml/2006/main">
            <a:pPr algn="l">
              <a:buNone/>
              <a:defRPr sz="3000" b="1">
                <a:solidFill>
                  <a:srgbClr val="0B1F3A"/>
                </a:solidFill>
                <a:latin typeface="Aptos"/>
                <a:ea typeface="Aptos"/>
                <a:cs typeface="Aptos"/>
              </a:defRPr>
            </a:pPr>
            <a:r>
              <a:rPr sz="3000" b="1">
                <a:solidFill>
                  <a:srgbClr val="0B1F3A"/>
                </a:solidFill>
                <a:latin typeface="Aptos"/>
                <a:ea typeface="Aptos"/>
                <a:cs typeface="Aptos"/>
              </a:rPr>
              <a:t>Physical workflow and DDS performance</a:t>
            </a:r>
          </a:p>
        </p:txBody>
      </p:sp>
      <p:sp>
        <p:nvSpPr>
          <p:cNvPr id="3" name="Rectangle 2">
            <a:extLst xmlns:a="http://schemas.openxmlformats.org/drawingml/2006/main">
              <a:ext uri="{FF2B5EF4-FFF2-40B4-BE49-F238E27FC236}">
                <a16:creationId xmlns:a16="http://schemas.microsoft.com/office/drawing/2014/main" id="{38C7480C-A329-469E-8477-7249D9D8D320}"/>
              </a:ext>
            </a:extLst>
          </p:cNvPr>
          <p:cNvSpPr>
            <a:spLocks xmlns:a="http://schemas.openxmlformats.org/drawingml/2006/main" noGrp="1"/>
          </p:cNvSpPr>
          <p:nvPr/>
        </p:nvSpPr>
        <p:spPr>
          <a:xfrm xmlns:a="http://schemas.openxmlformats.org/drawingml/2006/main">
            <a:off x="609600" y="8667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174"/>
                </a:solidFill>
                <a:latin typeface="Aptos"/>
                <a:ea typeface="Aptos"/>
                <a:cs typeface="Aptos"/>
              </a:defRPr>
            </a:defPPr>
          </a:lstStyle>
          <a:p xmlns:a="http://schemas.openxmlformats.org/drawingml/2006/main">
            <a:pPr algn="l">
              <a:buNone/>
              <a:defRPr sz="1500" b="0">
                <a:solidFill>
                  <a:srgbClr val="526174"/>
                </a:solidFill>
                <a:latin typeface="Aptos"/>
                <a:ea typeface="Aptos"/>
                <a:cs typeface="Aptos"/>
              </a:defRPr>
            </a:pPr>
            <a:r>
              <a:rPr sz="1500" b="0">
                <a:solidFill>
                  <a:srgbClr val="526174"/>
                </a:solidFill>
                <a:latin typeface="Aptos"/>
                <a:ea typeface="Aptos"/>
                <a:cs typeface="Aptos"/>
              </a:rPr>
              <a:t>Stationary functional checks on the implemented onboard system</a:t>
            </a:r>
          </a:p>
        </p:txBody>
      </p:sp>
      <p:sp>
        <p:nvSpPr>
          <p:cNvPr id="4" name="Straight Connector 3">
            <a:extLst xmlns:a="http://schemas.openxmlformats.org/drawingml/2006/main">
              <a:ext uri="{FF2B5EF4-FFF2-40B4-BE49-F238E27FC236}">
                <a16:creationId xmlns:a16="http://schemas.microsoft.com/office/drawing/2014/main" id="{AFF50361-4CAC-4E5D-9F09-35F959B0E745}"/>
              </a:ext>
            </a:extLst>
          </p:cNvPr>
          <p:cNvSpPr>
            <a:spLocks xmlns:a="http://schemas.openxmlformats.org/drawingml/2006/main" noGrp="1"/>
          </p:cNvSpPr>
          <p:nvPr/>
        </p:nvSpPr>
        <p:spPr>
          <a:xfrm xmlns:a="http://schemas.openxmlformats.org/drawingml/2006/main">
            <a:off x="609600" y="1266825"/>
            <a:ext cx="10972800" cy="0"/>
          </a:xfrm>
          <a:prstGeom xmlns:a="http://schemas.openxmlformats.org/drawingml/2006/main" prst="line">
            <a:avLst/>
          </a:prstGeom>
          <a:ln xmlns:a="http://schemas.openxmlformats.org/drawingml/2006/main" w="9525">
            <a:solidFill>
              <a:srgbClr val="D7DEE8"/>
            </a:solidFill>
            <a:prstDash val="solid"/>
          </a:ln>
        </p:spPr>
      </p:sp>
      <p:sp>
        <p:nvSpPr>
          <p:cNvPr id="6" name="Rectangle 5">
            <a:extLst xmlns:a="http://schemas.openxmlformats.org/drawingml/2006/main">
              <a:ext uri="{FF2B5EF4-FFF2-40B4-BE49-F238E27FC236}">
                <a16:creationId xmlns:a16="http://schemas.microsoft.com/office/drawing/2014/main" id="{DC36A506-02DD-42D8-B97D-0D9BC192E46E}"/>
              </a:ext>
            </a:extLst>
          </p:cNvPr>
          <p:cNvSpPr>
            <a:spLocks xmlns:a="http://schemas.openxmlformats.org/drawingml/2006/main" noGrp="1"/>
          </p:cNvSpPr>
          <p:nvPr/>
        </p:nvSpPr>
        <p:spPr>
          <a:xfrm xmlns:a="http://schemas.openxmlformats.org/drawingml/2006/main">
            <a:off x="11144250" y="65436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526174"/>
                </a:solidFill>
                <a:latin typeface="Aptos"/>
                <a:ea typeface="Aptos"/>
                <a:cs typeface="Aptos"/>
              </a:defRPr>
            </a:defPPr>
          </a:lstStyle>
          <a:p xmlns:a="http://schemas.openxmlformats.org/drawingml/2006/main">
            <a:pPr algn="r">
              <a:buNone/>
              <a:defRPr sz="975" b="0">
                <a:solidFill>
                  <a:srgbClr val="526174"/>
                </a:solidFill>
                <a:latin typeface="Aptos"/>
                <a:ea typeface="Aptos"/>
                <a:cs typeface="Aptos"/>
              </a:defRPr>
            </a:pPr>
            <a:r>
              <a:rPr sz="975" b="0">
                <a:solidFill>
                  <a:srgbClr val="526174"/>
                </a:solidFill>
                <a:latin typeface="Aptos"/>
                <a:ea typeface="Aptos"/>
                <a:cs typeface="Aptos"/>
              </a:rPr>
              <a:t>A5</a:t>
            </a:r>
          </a:p>
        </p:txBody>
      </p:sp>
      <p:sp>
        <p:nvSpPr>
          <p:cNvPr id="7" name="Rectangle 6">
            <a:extLst xmlns:a="http://schemas.openxmlformats.org/drawingml/2006/main">
              <a:ext uri="{FF2B5EF4-FFF2-40B4-BE49-F238E27FC236}">
                <a16:creationId xmlns:a16="http://schemas.microsoft.com/office/drawing/2014/main" id="{E19E7D04-63BC-4BFB-8E6C-27EC41CE33D8}"/>
              </a:ext>
            </a:extLst>
          </p:cNvPr>
          <p:cNvSpPr>
            <a:spLocks xmlns:a="http://schemas.openxmlformats.org/drawingml/2006/main" noGrp="1"/>
          </p:cNvSpPr>
          <p:nvPr/>
        </p:nvSpPr>
        <p:spPr>
          <a:xfrm xmlns:a="http://schemas.openxmlformats.org/drawingml/2006/main">
            <a:off x="609600" y="1552575"/>
            <a:ext cx="695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B1F3A"/>
                </a:solidFill>
                <a:latin typeface="Aptos"/>
                <a:ea typeface="Aptos"/>
                <a:cs typeface="Aptos"/>
              </a:defRPr>
            </a:defPPr>
          </a:lstStyle>
          <a:p xmlns:a="http://schemas.openxmlformats.org/drawingml/2006/main">
            <a:pPr algn="l">
              <a:buNone/>
              <a:defRPr sz="2325" b="1">
                <a:solidFill>
                  <a:srgbClr val="0B1F3A"/>
                </a:solidFill>
                <a:latin typeface="Aptos"/>
                <a:ea typeface="Aptos"/>
                <a:cs typeface="Aptos"/>
              </a:defRPr>
            </a:pPr>
            <a:r>
              <a:rPr sz="2325" b="1">
                <a:solidFill>
                  <a:srgbClr val="0B1F3A"/>
                </a:solidFill>
                <a:latin typeface="Aptos"/>
                <a:ea typeface="Aptos"/>
                <a:cs typeface="Aptos"/>
              </a:rPr>
              <a:t>Observed functional outcomes</a:t>
            </a:r>
          </a:p>
        </p:txBody>
      </p:sp>
      <p:graphicFrame>
        <p:nvGraphicFramePr>
          <p:cNvPr id="8" name="Chart">
            <a:extLst xmlns:a="http://schemas.openxmlformats.org/drawingml/2006/main">
              <a:ext uri="{FF2B5EF4-FFF2-40B4-BE49-F238E27FC236}">
                <a16:creationId xmlns:a16="http://schemas.microsoft.com/office/drawing/2014/main" id="{AD411392-C2FD-4D84-AB67-DAE92D50083F}"/>
              </a:ext>
            </a:extLst>
          </p:cNvPr>
          <p:cNvGraphicFramePr/>
          <p:nvPr/>
        </p:nvGraphicFramePr>
        <p:xfrm>
          <a:off xmlns:a="http://schemas.openxmlformats.org/drawingml/2006/main" x="609600" y="2171700"/>
          <a:ext xmlns:a="http://schemas.openxmlformats.org/drawingml/2006/main" cx="6924675" cy="3381375"/>
        </p:xfrm>
        <a:graphic xmlns:a="http://schemas.openxmlformats.org/drawingml/2006/main">
          <a:graphicData uri="http://schemas.openxmlformats.org/drawingml/2006/chart">
            <c:chart xmlns:r="http://schemas.openxmlformats.org/officeDocument/2006/relationships" xmlns:c="http://schemas.openxmlformats.org/drawingml/2006/chart" r:id="Red3d678006af40b4"/>
          </a:graphicData>
        </a:graphic>
      </p:graphicFrame>
      <p:sp>
        <p:nvSpPr>
          <p:cNvPr id="9" name="Rectangle 8">
            <a:extLst xmlns:a="http://schemas.openxmlformats.org/drawingml/2006/main">
              <a:ext uri="{FF2B5EF4-FFF2-40B4-BE49-F238E27FC236}">
                <a16:creationId xmlns:a16="http://schemas.microsoft.com/office/drawing/2014/main" id="{0D6C3A07-5CF3-407D-BDAB-7991E6ADCB4B}"/>
              </a:ext>
            </a:extLst>
          </p:cNvPr>
          <p:cNvSpPr>
            <a:spLocks xmlns:a="http://schemas.openxmlformats.org/drawingml/2006/main" noGrp="1"/>
          </p:cNvSpPr>
          <p:nvPr/>
        </p:nvSpPr>
        <p:spPr>
          <a:xfrm xmlns:a="http://schemas.openxmlformats.org/drawingml/2006/main">
            <a:off x="609600" y="5724525"/>
            <a:ext cx="69246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1F3A"/>
                </a:solidFill>
                <a:latin typeface="Aptos"/>
                <a:ea typeface="Aptos"/>
                <a:cs typeface="Aptos"/>
              </a:defRPr>
            </a:defPPr>
          </a:lstStyle>
          <a:p xmlns:a="http://schemas.openxmlformats.org/drawingml/2006/main">
            <a:pPr algn="l">
              <a:buNone/>
              <a:defRPr sz="1800" b="1">
                <a:solidFill>
                  <a:srgbClr val="0B1F3A"/>
                </a:solidFill>
                <a:latin typeface="Aptos"/>
                <a:ea typeface="Aptos"/>
                <a:cs typeface="Aptos"/>
              </a:defRPr>
            </a:pPr>
            <a:r>
              <a:rPr sz="1800" b="1">
                <a:solidFill>
                  <a:srgbClr val="0B1F3A"/>
                </a:solidFill>
                <a:latin typeface="Aptos"/>
                <a:ea typeface="Aptos"/>
                <a:cs typeface="Aptos"/>
              </a:rPr>
              <a:t>Freshness gates and event_id correlation</a:t>
            </a:r>
          </a:p>
        </p:txBody>
      </p:sp>
      <p:sp>
        <p:nvSpPr>
          <p:cNvPr id="10" name="Rectangle 9">
            <a:extLst xmlns:a="http://schemas.openxmlformats.org/drawingml/2006/main">
              <a:ext uri="{FF2B5EF4-FFF2-40B4-BE49-F238E27FC236}">
                <a16:creationId xmlns:a16="http://schemas.microsoft.com/office/drawing/2014/main" id="{9CD6EF21-734D-4792-A607-7DD8EF768770}"/>
              </a:ext>
            </a:extLst>
          </p:cNvPr>
          <p:cNvSpPr>
            <a:spLocks xmlns:a="http://schemas.openxmlformats.org/drawingml/2006/main" noGrp="1"/>
          </p:cNvSpPr>
          <p:nvPr/>
        </p:nvSpPr>
        <p:spPr>
          <a:xfrm xmlns:a="http://schemas.openxmlformats.org/drawingml/2006/main">
            <a:off x="609600" y="6143625"/>
            <a:ext cx="6924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174"/>
                </a:solidFill>
                <a:latin typeface="Aptos"/>
                <a:ea typeface="Aptos"/>
                <a:cs typeface="Aptos"/>
              </a:defRPr>
            </a:defPPr>
          </a:lstStyle>
          <a:p xmlns:a="http://schemas.openxmlformats.org/drawingml/2006/main">
            <a:pPr algn="l">
              <a:buNone/>
              <a:defRPr sz="1275" b="0">
                <a:solidFill>
                  <a:srgbClr val="526174"/>
                </a:solidFill>
                <a:latin typeface="Aptos"/>
                <a:ea typeface="Aptos"/>
                <a:cs typeface="Aptos"/>
              </a:defRPr>
            </a:pPr>
            <a:r>
              <a:rPr sz="1275" b="0">
                <a:solidFill>
                  <a:srgbClr val="526174"/>
                </a:solidFill>
                <a:latin typeface="Aptos"/>
                <a:ea typeface="Aptos"/>
                <a:cs typeface="Aptos"/>
              </a:rPr>
              <a:t>Separate trials; unlit and fault alerts bypassed detection.</a:t>
            </a:r>
          </a:p>
          <a:p xmlns:a="http://schemas.openxmlformats.org/drawingml/2006/main">
            <a:pPr algn="l">
              <a:buNone/>
              <a:defRPr sz="1275" b="0">
                <a:solidFill>
                  <a:srgbClr val="526174"/>
                </a:solidFill>
                <a:latin typeface="Aptos"/>
                <a:ea typeface="Aptos"/>
                <a:cs typeface="Aptos"/>
              </a:defRPr>
            </a:pPr>
            <a:r>
              <a:rPr sz="1275" b="0">
                <a:solidFill>
                  <a:srgbClr val="526174"/>
                </a:solidFill>
                <a:latin typeface="Aptos"/>
                <a:ea typeface="Aptos"/>
                <a:cs typeface="Aptos"/>
              </a:rPr>
              <a:t>Counts describe functional checks, not population accuracy.</a:t>
            </a:r>
          </a:p>
        </p:txBody>
      </p:sp>
      <p:sp>
        <p:nvSpPr>
          <p:cNvPr id="11" name="Rectangle 10">
            <a:extLst xmlns:a="http://schemas.openxmlformats.org/drawingml/2006/main">
              <a:ext uri="{FF2B5EF4-FFF2-40B4-BE49-F238E27FC236}">
                <a16:creationId xmlns:a16="http://schemas.microsoft.com/office/drawing/2014/main" id="{6870DFFD-2FE8-419A-B9DB-7B5FEF1340E8}"/>
              </a:ext>
            </a:extLst>
          </p:cNvPr>
          <p:cNvSpPr>
            <a:spLocks xmlns:a="http://schemas.openxmlformats.org/drawingml/2006/main" noGrp="1"/>
          </p:cNvSpPr>
          <p:nvPr/>
        </p:nvSpPr>
        <p:spPr>
          <a:xfrm xmlns:a="http://schemas.openxmlformats.org/drawingml/2006/main">
            <a:off x="8248650" y="155257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526174"/>
                </a:solidFill>
                <a:latin typeface="Aptos"/>
                <a:ea typeface="Aptos"/>
                <a:cs typeface="Aptos"/>
              </a:defRPr>
            </a:defPPr>
          </a:lstStyle>
          <a:p xmlns:a="http://schemas.openxmlformats.org/drawingml/2006/main">
            <a:pPr algn="l">
              <a:buNone/>
              <a:defRPr sz="1650" b="1">
                <a:solidFill>
                  <a:srgbClr val="526174"/>
                </a:solidFill>
                <a:latin typeface="Aptos"/>
                <a:ea typeface="Aptos"/>
                <a:cs typeface="Aptos"/>
              </a:defRPr>
            </a:pPr>
            <a:r>
              <a:rPr sz="1650" b="1">
                <a:solidFill>
                  <a:srgbClr val="526174"/>
                </a:solidFill>
                <a:latin typeface="Aptos"/>
                <a:ea typeface="Aptos"/>
                <a:cs typeface="Aptos"/>
              </a:rPr>
              <a:t>LOADED ROS 2 / DDS RUN</a:t>
            </a:r>
          </a:p>
        </p:txBody>
      </p:sp>
      <p:sp>
        <p:nvSpPr>
          <p:cNvPr id="12" name="Rectangle 11">
            <a:extLst xmlns:a="http://schemas.openxmlformats.org/drawingml/2006/main">
              <a:ext uri="{FF2B5EF4-FFF2-40B4-BE49-F238E27FC236}">
                <a16:creationId xmlns:a16="http://schemas.microsoft.com/office/drawing/2014/main" id="{37670AF6-9927-4536-8671-F0B3E4513365}"/>
              </a:ext>
            </a:extLst>
          </p:cNvPr>
          <p:cNvSpPr>
            <a:spLocks xmlns:a="http://schemas.openxmlformats.org/drawingml/2006/main" noGrp="1"/>
          </p:cNvSpPr>
          <p:nvPr/>
        </p:nvSpPr>
        <p:spPr>
          <a:xfrm xmlns:a="http://schemas.openxmlformats.org/drawingml/2006/main">
            <a:off x="8248650" y="226695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36FE8"/>
                </a:solidFill>
                <a:latin typeface="Aptos"/>
                <a:ea typeface="Aptos"/>
                <a:cs typeface="Aptos"/>
              </a:defRPr>
            </a:defPPr>
          </a:lstStyle>
          <a:p xmlns:a="http://schemas.openxmlformats.org/drawingml/2006/main">
            <a:pPr algn="l">
              <a:buNone/>
              <a:defRPr sz="3600" b="1">
                <a:solidFill>
                  <a:srgbClr val="236FE8"/>
                </a:solidFill>
                <a:latin typeface="Aptos"/>
                <a:ea typeface="Aptos"/>
                <a:cs typeface="Aptos"/>
              </a:defRPr>
            </a:pPr>
            <a:r>
              <a:rPr sz="3600" b="1">
                <a:solidFill>
                  <a:srgbClr val="236FE8"/>
                </a:solidFill>
                <a:latin typeface="Aptos"/>
                <a:ea typeface="Aptos"/>
                <a:cs typeface="Aptos"/>
              </a:rPr>
              <a:t>1,000 / 1,000</a:t>
            </a:r>
          </a:p>
        </p:txBody>
      </p:sp>
      <p:sp>
        <p:nvSpPr>
          <p:cNvPr id="13" name="Rectangle 12">
            <a:extLst xmlns:a="http://schemas.openxmlformats.org/drawingml/2006/main">
              <a:ext uri="{FF2B5EF4-FFF2-40B4-BE49-F238E27FC236}">
                <a16:creationId xmlns:a16="http://schemas.microsoft.com/office/drawing/2014/main" id="{471C1E72-3D5E-4136-846C-95628A5A65AF}"/>
              </a:ext>
            </a:extLst>
          </p:cNvPr>
          <p:cNvSpPr>
            <a:spLocks xmlns:a="http://schemas.openxmlformats.org/drawingml/2006/main" noGrp="1"/>
          </p:cNvSpPr>
          <p:nvPr/>
        </p:nvSpPr>
        <p:spPr>
          <a:xfrm xmlns:a="http://schemas.openxmlformats.org/drawingml/2006/main">
            <a:off x="8248650" y="2895600"/>
            <a:ext cx="333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174"/>
                </a:solidFill>
                <a:latin typeface="Aptos"/>
                <a:ea typeface="Aptos"/>
                <a:cs typeface="Aptos"/>
              </a:defRPr>
            </a:defPPr>
          </a:lstStyle>
          <a:p xmlns:a="http://schemas.openxmlformats.org/drawingml/2006/main">
            <a:pPr algn="l">
              <a:buNone/>
              <a:defRPr sz="1725" b="0">
                <a:solidFill>
                  <a:srgbClr val="526174"/>
                </a:solidFill>
                <a:latin typeface="Aptos"/>
                <a:ea typeface="Aptos"/>
                <a:cs typeface="Aptos"/>
              </a:defRPr>
            </a:pPr>
            <a:r>
              <a:rPr sz="1725" b="0">
                <a:solidFill>
                  <a:srgbClr val="526174"/>
                </a:solidFill>
                <a:latin typeface="Aptos"/>
                <a:ea typeface="Aptos"/>
                <a:cs typeface="Aptos"/>
              </a:rPr>
              <a:t>Correlated replies received</a:t>
            </a:r>
          </a:p>
        </p:txBody>
      </p:sp>
      <p:sp>
        <p:nvSpPr>
          <p:cNvPr id="14" name="Rectangle 13">
            <a:extLst xmlns:a="http://schemas.openxmlformats.org/drawingml/2006/main">
              <a:ext uri="{FF2B5EF4-FFF2-40B4-BE49-F238E27FC236}">
                <a16:creationId xmlns:a16="http://schemas.microsoft.com/office/drawing/2014/main" id="{D2A02283-A1E2-4300-96A3-65785552B7DB}"/>
              </a:ext>
            </a:extLst>
          </p:cNvPr>
          <p:cNvSpPr>
            <a:spLocks xmlns:a="http://schemas.openxmlformats.org/drawingml/2006/main" noGrp="1"/>
          </p:cNvSpPr>
          <p:nvPr/>
        </p:nvSpPr>
        <p:spPr>
          <a:xfrm xmlns:a="http://schemas.openxmlformats.org/drawingml/2006/main">
            <a:off x="8248650" y="39338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36FE8"/>
                </a:solidFill>
                <a:latin typeface="Aptos"/>
                <a:ea typeface="Aptos"/>
                <a:cs typeface="Aptos"/>
              </a:defRPr>
            </a:defPPr>
          </a:lstStyle>
          <a:p xmlns:a="http://schemas.openxmlformats.org/drawingml/2006/main">
            <a:pPr algn="l">
              <a:buNone/>
              <a:defRPr sz="3600" b="1">
                <a:solidFill>
                  <a:srgbClr val="236FE8"/>
                </a:solidFill>
                <a:latin typeface="Aptos"/>
                <a:ea typeface="Aptos"/>
                <a:cs typeface="Aptos"/>
              </a:defRPr>
            </a:pPr>
            <a:r>
              <a:rPr sz="3600" b="1">
                <a:solidFill>
                  <a:srgbClr val="236FE8"/>
                </a:solidFill>
                <a:latin typeface="Aptos"/>
                <a:ea typeface="Aptos"/>
                <a:cs typeface="Aptos"/>
              </a:rPr>
              <a:t>7.984 ms</a:t>
            </a:r>
          </a:p>
        </p:txBody>
      </p:sp>
      <p:sp>
        <p:nvSpPr>
          <p:cNvPr id="15" name="Rectangle 14">
            <a:extLst xmlns:a="http://schemas.openxmlformats.org/drawingml/2006/main">
              <a:ext uri="{FF2B5EF4-FFF2-40B4-BE49-F238E27FC236}">
                <a16:creationId xmlns:a16="http://schemas.microsoft.com/office/drawing/2014/main" id="{C0DE5699-9932-4A23-A29D-E07C576EA8F9}"/>
              </a:ext>
            </a:extLst>
          </p:cNvPr>
          <p:cNvSpPr>
            <a:spLocks xmlns:a="http://schemas.openxmlformats.org/drawingml/2006/main" noGrp="1"/>
          </p:cNvSpPr>
          <p:nvPr/>
        </p:nvSpPr>
        <p:spPr>
          <a:xfrm xmlns:a="http://schemas.openxmlformats.org/drawingml/2006/main">
            <a:off x="8248650" y="4562475"/>
            <a:ext cx="333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174"/>
                </a:solidFill>
                <a:latin typeface="Aptos"/>
                <a:ea typeface="Aptos"/>
                <a:cs typeface="Aptos"/>
              </a:defRPr>
            </a:defPPr>
          </a:lstStyle>
          <a:p xmlns:a="http://schemas.openxmlformats.org/drawingml/2006/main">
            <a:pPr algn="l">
              <a:buNone/>
              <a:defRPr sz="1725" b="0">
                <a:solidFill>
                  <a:srgbClr val="526174"/>
                </a:solidFill>
                <a:latin typeface="Aptos"/>
                <a:ea typeface="Aptos"/>
                <a:cs typeface="Aptos"/>
              </a:defRPr>
            </a:pPr>
            <a:r>
              <a:rPr sz="1725" b="0">
                <a:solidFill>
                  <a:srgbClr val="526174"/>
                </a:solidFill>
                <a:latin typeface="Aptos"/>
                <a:ea typeface="Aptos"/>
                <a:cs typeface="Aptos"/>
              </a:rPr>
              <a:t>p95 round-trip latency</a:t>
            </a:r>
          </a:p>
        </p:txBody>
      </p:sp>
      <p:sp>
        <p:nvSpPr>
          <p:cNvPr id="16" name="Rectangle 15">
            <a:extLst xmlns:a="http://schemas.openxmlformats.org/drawingml/2006/main">
              <a:ext uri="{FF2B5EF4-FFF2-40B4-BE49-F238E27FC236}">
                <a16:creationId xmlns:a16="http://schemas.microsoft.com/office/drawing/2014/main" id="{05F92811-7852-4816-987C-5842BFE86191}"/>
              </a:ext>
            </a:extLst>
          </p:cNvPr>
          <p:cNvSpPr>
            <a:spLocks xmlns:a="http://schemas.openxmlformats.org/drawingml/2006/main" noGrp="1"/>
          </p:cNvSpPr>
          <p:nvPr/>
        </p:nvSpPr>
        <p:spPr>
          <a:xfrm xmlns:a="http://schemas.openxmlformats.org/drawingml/2006/main">
            <a:off x="8248650" y="5638800"/>
            <a:ext cx="333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174"/>
                </a:solidFill>
                <a:latin typeface="Aptos"/>
                <a:ea typeface="Aptos"/>
                <a:cs typeface="Aptos"/>
              </a:defRPr>
            </a:defPPr>
          </a:lstStyle>
          <a:p xmlns:a="http://schemas.openxmlformats.org/drawingml/2006/main">
            <a:pPr algn="l">
              <a:buNone/>
              <a:defRPr sz="1650" b="0">
                <a:solidFill>
                  <a:srgbClr val="526174"/>
                </a:solidFill>
                <a:latin typeface="Aptos"/>
                <a:ea typeface="Aptos"/>
                <a:cs typeface="Aptos"/>
              </a:defRPr>
            </a:pPr>
            <a:r>
              <a:rPr sz="1650" b="0">
                <a:solidFill>
                  <a:srgbClr val="526174"/>
                </a:solidFill>
                <a:latin typeface="Aptos"/>
                <a:ea typeface="Aptos"/>
                <a:cs typeface="Aptos"/>
              </a:rPr>
              <a:t>No missing or duplicate replies</a:t>
            </a:r>
          </a:p>
          <a:p xmlns:a="http://schemas.openxmlformats.org/drawingml/2006/main">
            <a:pPr algn="l">
              <a:buNone/>
              <a:defRPr sz="1650" b="0">
                <a:solidFill>
                  <a:srgbClr val="526174"/>
                </a:solidFill>
                <a:latin typeface="Aptos"/>
                <a:ea typeface="Aptos"/>
                <a:cs typeface="Aptos"/>
              </a:defRPr>
            </a:pPr>
            <a:r>
              <a:rPr sz="1650" b="0">
                <a:solidFill>
                  <a:srgbClr val="526174"/>
                </a:solidFill>
                <a:latin typeface="Aptos"/>
                <a:ea typeface="Aptos"/>
                <a:cs typeface="Aptos"/>
              </a:rPr>
              <a:t>recorded in this loaded run.</a:t>
            </a:r>
          </a:p>
        </p:txBody>
      </p:sp>
    </p:spTree>
    <p:extLst>
      <p:ext uri="{BB962C8B-B14F-4D97-AF65-F5344CB8AC3E}">
        <p14:creationId xmlns:p14="http://schemas.microsoft.com/office/powerpoint/2010/main" val="1096193731"/>
      </p:ext>
    </p:extLst>
  </p:cSld>
</p:sld>
</file>

<file path=ppt/slides/slide16.xml><?xml version="1.0" encoding="utf-8"?>
<p:sld xmlns:p="http://schemas.openxmlformats.org/presentationml/2006/main" show="0">
  <p:cSld>
    <p:spTree>
      <p:nvGrpSpPr>
        <p:cNvPr id="1" name=""/>
        <p:cNvGrpSpPr/>
        <p:nvPr/>
      </p:nvGrpSpPr>
      <p:grpSpPr>
        <a:xfrm xmlns:a="http://schemas.openxmlformats.org/drawingml/2006/main"/>
      </p:grpSpPr>
      <p:sp>
        <p:nvSpPr>
          <p:cNvPr id="8" name="Straight Connector 7">
            <a:extLst xmlns:a="http://schemas.openxmlformats.org/drawingml/2006/main">
              <a:ext uri="{FF2B5EF4-FFF2-40B4-BE49-F238E27FC236}">
                <a16:creationId xmlns:a16="http://schemas.microsoft.com/office/drawing/2014/main" id="{B72804B9-B4CA-4C7D-AF1A-B211547182D1}"/>
              </a:ext>
            </a:extLst>
          </p:cNvPr>
          <p:cNvSpPr>
            <a:spLocks xmlns:a="http://schemas.openxmlformats.org/drawingml/2006/main" noGrp="1"/>
          </p:cNvSpPr>
          <p:nvPr/>
        </p:nvSpPr>
        <p:spPr>
          <a:xfrm xmlns:a="http://schemas.openxmlformats.org/drawingml/2006/main">
            <a:off x="0" y="47625"/>
            <a:ext cx="12192000" cy="0"/>
          </a:xfrm>
          <a:prstGeom xmlns:a="http://schemas.openxmlformats.org/drawingml/2006/main" prst="line">
            <a:avLst/>
          </a:prstGeom>
          <a:ln xmlns:a="http://schemas.openxmlformats.org/drawingml/2006/main" w="95250">
            <a:solidFill>
              <a:srgbClr val="0B1F3A"/>
            </a:solidFill>
            <a:prstDash val="solid"/>
          </a:ln>
        </p:spPr>
      </p:sp>
      <p:sp>
        <p:nvSpPr>
          <p:cNvPr id="2" name="Rectangle 1">
            <a:extLst xmlns:a="http://schemas.openxmlformats.org/drawingml/2006/main">
              <a:ext uri="{FF2B5EF4-FFF2-40B4-BE49-F238E27FC236}">
                <a16:creationId xmlns:a16="http://schemas.microsoft.com/office/drawing/2014/main" id="{5DF4D1EC-9009-46FF-806C-777A196E31EC}"/>
              </a:ext>
            </a:extLst>
          </p:cNvPr>
          <p:cNvSpPr>
            <a:spLocks xmlns:a="http://schemas.openxmlformats.org/drawingml/2006/main" noGrp="1"/>
          </p:cNvSpPr>
          <p:nvPr/>
        </p:nvSpPr>
        <p:spPr>
          <a:xfrm xmlns:a="http://schemas.openxmlformats.org/drawingml/2006/main">
            <a:off x="609600" y="2952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B1F3A"/>
                </a:solidFill>
                <a:latin typeface="Aptos"/>
                <a:ea typeface="Aptos"/>
                <a:cs typeface="Aptos"/>
              </a:defRPr>
            </a:defPPr>
          </a:lstStyle>
          <a:p xmlns:a="http://schemas.openxmlformats.org/drawingml/2006/main">
            <a:pPr algn="l">
              <a:buNone/>
              <a:defRPr sz="3000" b="1">
                <a:solidFill>
                  <a:srgbClr val="0B1F3A"/>
                </a:solidFill>
                <a:latin typeface="Aptos"/>
                <a:ea typeface="Aptos"/>
                <a:cs typeface="Aptos"/>
              </a:defRPr>
            </a:pPr>
            <a:r>
              <a:rPr sz="3000" b="1">
                <a:solidFill>
                  <a:srgbClr val="0B1F3A"/>
                </a:solidFill>
                <a:latin typeface="Aptos"/>
                <a:ea typeface="Aptos"/>
                <a:cs typeface="Aptos"/>
              </a:rPr>
              <a:t>Evidence gallery: late-verdict containment</a:t>
            </a:r>
          </a:p>
        </p:txBody>
      </p:sp>
      <p:sp>
        <p:nvSpPr>
          <p:cNvPr id="3" name="Rectangle 2">
            <a:extLst xmlns:a="http://schemas.openxmlformats.org/drawingml/2006/main">
              <a:ext uri="{FF2B5EF4-FFF2-40B4-BE49-F238E27FC236}">
                <a16:creationId xmlns:a16="http://schemas.microsoft.com/office/drawing/2014/main" id="{F25A1398-11D1-4319-81F5-EB5D91F6F0B7}"/>
              </a:ext>
            </a:extLst>
          </p:cNvPr>
          <p:cNvSpPr>
            <a:spLocks xmlns:a="http://schemas.openxmlformats.org/drawingml/2006/main" noGrp="1"/>
          </p:cNvSpPr>
          <p:nvPr/>
        </p:nvSpPr>
        <p:spPr>
          <a:xfrm xmlns:a="http://schemas.openxmlformats.org/drawingml/2006/main">
            <a:off x="609600" y="8667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174"/>
                </a:solidFill>
                <a:latin typeface="Aptos"/>
                <a:ea typeface="Aptos"/>
                <a:cs typeface="Aptos"/>
              </a:defRPr>
            </a:defPPr>
          </a:lstStyle>
          <a:p xmlns:a="http://schemas.openxmlformats.org/drawingml/2006/main">
            <a:pPr algn="l">
              <a:buNone/>
              <a:defRPr sz="1500" b="0">
                <a:solidFill>
                  <a:srgbClr val="526174"/>
                </a:solidFill>
                <a:latin typeface="Aptos"/>
                <a:ea typeface="Aptos"/>
                <a:cs typeface="Aptos"/>
              </a:defRPr>
            </a:pPr>
            <a:r>
              <a:rPr sz="1500" b="0">
                <a:solidFill>
                  <a:srgbClr val="526174"/>
                </a:solidFill>
                <a:latin typeface="Aptos"/>
                <a:ea typeface="Aptos"/>
                <a:cs typeface="Aptos"/>
              </a:rPr>
              <a:t>Retained terminal-style log summary, not a screenshot of a live terminal</a:t>
            </a:r>
          </a:p>
        </p:txBody>
      </p:sp>
      <p:sp>
        <p:nvSpPr>
          <p:cNvPr id="4" name="Straight Connector 3">
            <a:extLst xmlns:a="http://schemas.openxmlformats.org/drawingml/2006/main">
              <a:ext uri="{FF2B5EF4-FFF2-40B4-BE49-F238E27FC236}">
                <a16:creationId xmlns:a16="http://schemas.microsoft.com/office/drawing/2014/main" id="{03AEBD84-2B1F-40E3-81DC-FF53AB11870C}"/>
              </a:ext>
            </a:extLst>
          </p:cNvPr>
          <p:cNvSpPr>
            <a:spLocks xmlns:a="http://schemas.openxmlformats.org/drawingml/2006/main" noGrp="1"/>
          </p:cNvSpPr>
          <p:nvPr/>
        </p:nvSpPr>
        <p:spPr>
          <a:xfrm xmlns:a="http://schemas.openxmlformats.org/drawingml/2006/main">
            <a:off x="609600" y="1266825"/>
            <a:ext cx="10972800" cy="0"/>
          </a:xfrm>
          <a:prstGeom xmlns:a="http://schemas.openxmlformats.org/drawingml/2006/main" prst="line">
            <a:avLst/>
          </a:prstGeom>
          <a:ln xmlns:a="http://schemas.openxmlformats.org/drawingml/2006/main" w="9525">
            <a:solidFill>
              <a:srgbClr val="D7DEE8"/>
            </a:solidFill>
            <a:prstDash val="solid"/>
          </a:ln>
        </p:spPr>
      </p:sp>
      <p:sp>
        <p:nvSpPr>
          <p:cNvPr id="6" name="Rectangle 5">
            <a:extLst xmlns:a="http://schemas.openxmlformats.org/drawingml/2006/main">
              <a:ext uri="{FF2B5EF4-FFF2-40B4-BE49-F238E27FC236}">
                <a16:creationId xmlns:a16="http://schemas.microsoft.com/office/drawing/2014/main" id="{4187A34A-7214-4AC4-A6C4-5FF6756C20A3}"/>
              </a:ext>
            </a:extLst>
          </p:cNvPr>
          <p:cNvSpPr>
            <a:spLocks xmlns:a="http://schemas.openxmlformats.org/drawingml/2006/main" noGrp="1"/>
          </p:cNvSpPr>
          <p:nvPr/>
        </p:nvSpPr>
        <p:spPr>
          <a:xfrm xmlns:a="http://schemas.openxmlformats.org/drawingml/2006/main">
            <a:off x="11144250" y="65436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526174"/>
                </a:solidFill>
                <a:latin typeface="Aptos"/>
                <a:ea typeface="Aptos"/>
                <a:cs typeface="Aptos"/>
              </a:defRPr>
            </a:defPPr>
          </a:lstStyle>
          <a:p xmlns:a="http://schemas.openxmlformats.org/drawingml/2006/main">
            <a:pPr algn="r">
              <a:buNone/>
              <a:defRPr sz="975" b="0">
                <a:solidFill>
                  <a:srgbClr val="526174"/>
                </a:solidFill>
                <a:latin typeface="Aptos"/>
                <a:ea typeface="Aptos"/>
                <a:cs typeface="Aptos"/>
              </a:defRPr>
            </a:pPr>
            <a:r>
              <a:rPr sz="975" b="0">
                <a:solidFill>
                  <a:srgbClr val="526174"/>
                </a:solidFill>
                <a:latin typeface="Aptos"/>
                <a:ea typeface="Aptos"/>
                <a:cs typeface="Aptos"/>
              </a:rPr>
              <a:t>A6</a:t>
            </a:r>
          </a:p>
        </p:txBody>
      </p:sp>
      <p:pic>
        <p:nvPicPr>
          <p:cNvPr id="7" name="Picture 6">
            <a:extLst xmlns:a="http://schemas.openxmlformats.org/drawingml/2006/main">
              <a:ext uri="{FF2B5EF4-FFF2-40B4-BE49-F238E27FC236}">
                <a16:creationId xmlns:a16="http://schemas.microsoft.com/office/drawing/2014/main" id="{6E884727-9C87-4C6D-B916-E6D12D787025}"/>
              </a:ext>
            </a:extLst>
          </p:cNvPr>
          <p:cNvPicPr>
            <a:picLocks xmlns:a="http://schemas.openxmlformats.org/drawingml/2006/main" noChangeAspect="1"/>
          </p:cNvPicPr>
          <p:nvPr/>
        </p:nvPicPr>
        <p:blipFill>
          <a:blip xmlns:r="http://schemas.openxmlformats.org/officeDocument/2006/relationships" xmlns:a="http://schemas.openxmlformats.org/drawingml/2006/main" r:embed="R8ee83e43998d46e5"/>
          <a:stretch xmlns:a="http://schemas.openxmlformats.org/drawingml/2006/main"/>
        </p:blipFill>
        <p:spPr>
          <a:xfrm xmlns:a="http://schemas.openxmlformats.org/drawingml/2006/main">
            <a:off x="1428750" y="1458165"/>
            <a:ext cx="9334500" cy="4941794"/>
          </a:xfrm>
          <a:prstGeom xmlns:a="http://schemas.openxmlformats.org/drawingml/2006/main" prst="rect">
            <a:avLst/>
          </a:prstGeom>
        </p:spPr>
      </p:pic>
    </p:spTree>
    <p:extLst>
      <p:ext uri="{BB962C8B-B14F-4D97-AF65-F5344CB8AC3E}">
        <p14:creationId xmlns:p14="http://schemas.microsoft.com/office/powerpoint/2010/main" val="456918935"/>
      </p:ext>
    </p:extLst>
  </p:cSld>
</p:sld>
</file>

<file path=ppt/slides/slide17.xml><?xml version="1.0" encoding="utf-8"?>
<p:sld xmlns:p="http://schemas.openxmlformats.org/presentationml/2006/main" show="0">
  <p:cSld>
    <p:spTree>
      <p:nvGrpSpPr>
        <p:cNvPr id="1" name=""/>
        <p:cNvGrpSpPr/>
        <p:nvPr/>
      </p:nvGrpSpPr>
      <p:grpSpPr>
        <a:xfrm xmlns:a="http://schemas.openxmlformats.org/drawingml/2006/main"/>
      </p:grpSpPr>
      <p:sp>
        <p:nvSpPr>
          <p:cNvPr id="9" name="Straight Connector 8">
            <a:extLst xmlns:a="http://schemas.openxmlformats.org/drawingml/2006/main">
              <a:ext uri="{FF2B5EF4-FFF2-40B4-BE49-F238E27FC236}">
                <a16:creationId xmlns:a16="http://schemas.microsoft.com/office/drawing/2014/main" id="{CA5E83CD-602D-462B-A019-49BE275449E5}"/>
              </a:ext>
            </a:extLst>
          </p:cNvPr>
          <p:cNvSpPr>
            <a:spLocks xmlns:a="http://schemas.openxmlformats.org/drawingml/2006/main" noGrp="1"/>
          </p:cNvSpPr>
          <p:nvPr/>
        </p:nvSpPr>
        <p:spPr>
          <a:xfrm xmlns:a="http://schemas.openxmlformats.org/drawingml/2006/main">
            <a:off x="0" y="47625"/>
            <a:ext cx="12192000" cy="0"/>
          </a:xfrm>
          <a:prstGeom xmlns:a="http://schemas.openxmlformats.org/drawingml/2006/main" prst="line">
            <a:avLst/>
          </a:prstGeom>
          <a:ln xmlns:a="http://schemas.openxmlformats.org/drawingml/2006/main" w="95250">
            <a:solidFill>
              <a:srgbClr val="0B1F3A"/>
            </a:solidFill>
            <a:prstDash val="solid"/>
          </a:ln>
        </p:spPr>
      </p:sp>
      <p:sp>
        <p:nvSpPr>
          <p:cNvPr id="2" name="Rectangle 1">
            <a:extLst xmlns:a="http://schemas.openxmlformats.org/drawingml/2006/main">
              <a:ext uri="{FF2B5EF4-FFF2-40B4-BE49-F238E27FC236}">
                <a16:creationId xmlns:a16="http://schemas.microsoft.com/office/drawing/2014/main" id="{792EF413-45AA-493C-A150-F825351DFC45}"/>
              </a:ext>
            </a:extLst>
          </p:cNvPr>
          <p:cNvSpPr>
            <a:spLocks xmlns:a="http://schemas.openxmlformats.org/drawingml/2006/main" noGrp="1"/>
          </p:cNvSpPr>
          <p:nvPr/>
        </p:nvSpPr>
        <p:spPr>
          <a:xfrm xmlns:a="http://schemas.openxmlformats.org/drawingml/2006/main">
            <a:off x="609600" y="2952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B1F3A"/>
                </a:solidFill>
                <a:latin typeface="Aptos"/>
                <a:ea typeface="Aptos"/>
                <a:cs typeface="Aptos"/>
              </a:defRPr>
            </a:defPPr>
          </a:lstStyle>
          <a:p xmlns:a="http://schemas.openxmlformats.org/drawingml/2006/main">
            <a:pPr algn="l">
              <a:buNone/>
              <a:defRPr sz="3000" b="1">
                <a:solidFill>
                  <a:srgbClr val="0B1F3A"/>
                </a:solidFill>
                <a:latin typeface="Aptos"/>
                <a:ea typeface="Aptos"/>
                <a:cs typeface="Aptos"/>
              </a:defRPr>
            </a:pPr>
            <a:r>
              <a:rPr sz="3000" b="1">
                <a:solidFill>
                  <a:srgbClr val="0B1F3A"/>
                </a:solidFill>
                <a:latin typeface="Aptos"/>
                <a:ea typeface="Aptos"/>
                <a:cs typeface="Aptos"/>
              </a:rPr>
              <a:t>Evidence gallery: camera and runtime integration</a:t>
            </a:r>
          </a:p>
        </p:txBody>
      </p:sp>
      <p:sp>
        <p:nvSpPr>
          <p:cNvPr id="3" name="Rectangle 2">
            <a:extLst xmlns:a="http://schemas.openxmlformats.org/drawingml/2006/main">
              <a:ext uri="{FF2B5EF4-FFF2-40B4-BE49-F238E27FC236}">
                <a16:creationId xmlns:a16="http://schemas.microsoft.com/office/drawing/2014/main" id="{93BEF8B3-7621-476C-8E3D-13BB5C450648}"/>
              </a:ext>
            </a:extLst>
          </p:cNvPr>
          <p:cNvSpPr>
            <a:spLocks xmlns:a="http://schemas.openxmlformats.org/drawingml/2006/main" noGrp="1"/>
          </p:cNvSpPr>
          <p:nvPr/>
        </p:nvSpPr>
        <p:spPr>
          <a:xfrm xmlns:a="http://schemas.openxmlformats.org/drawingml/2006/main">
            <a:off x="609600" y="8667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174"/>
                </a:solidFill>
                <a:latin typeface="Aptos"/>
                <a:ea typeface="Aptos"/>
                <a:cs typeface="Aptos"/>
              </a:defRPr>
            </a:defPPr>
          </a:lstStyle>
          <a:p xmlns:a="http://schemas.openxmlformats.org/drawingml/2006/main">
            <a:pPr algn="l">
              <a:buNone/>
              <a:defRPr sz="1500" b="0">
                <a:solidFill>
                  <a:srgbClr val="526174"/>
                </a:solidFill>
                <a:latin typeface="Aptos"/>
                <a:ea typeface="Aptos"/>
                <a:cs typeface="Aptos"/>
              </a:defRPr>
            </a:pPr>
            <a:r>
              <a:rPr sz="1500" b="0">
                <a:solidFill>
                  <a:srgbClr val="526174"/>
                </a:solidFill>
                <a:latin typeface="Aptos"/>
                <a:ea typeface="Aptos"/>
                <a:cs typeface="Aptos"/>
              </a:rPr>
              <a:t>Concrete interfaces that connect the hardware to the decision protocol</a:t>
            </a:r>
          </a:p>
        </p:txBody>
      </p:sp>
      <p:sp>
        <p:nvSpPr>
          <p:cNvPr id="4" name="Straight Connector 3">
            <a:extLst xmlns:a="http://schemas.openxmlformats.org/drawingml/2006/main">
              <a:ext uri="{FF2B5EF4-FFF2-40B4-BE49-F238E27FC236}">
                <a16:creationId xmlns:a16="http://schemas.microsoft.com/office/drawing/2014/main" id="{CB1B08ED-F39E-4198-A0F8-4CA2AC23B87D}"/>
              </a:ext>
            </a:extLst>
          </p:cNvPr>
          <p:cNvSpPr>
            <a:spLocks xmlns:a="http://schemas.openxmlformats.org/drawingml/2006/main" noGrp="1"/>
          </p:cNvSpPr>
          <p:nvPr/>
        </p:nvSpPr>
        <p:spPr>
          <a:xfrm xmlns:a="http://schemas.openxmlformats.org/drawingml/2006/main">
            <a:off x="609600" y="1266825"/>
            <a:ext cx="10972800" cy="0"/>
          </a:xfrm>
          <a:prstGeom xmlns:a="http://schemas.openxmlformats.org/drawingml/2006/main" prst="line">
            <a:avLst/>
          </a:prstGeom>
          <a:ln xmlns:a="http://schemas.openxmlformats.org/drawingml/2006/main" w="9525">
            <a:solidFill>
              <a:srgbClr val="D7DEE8"/>
            </a:solidFill>
            <a:prstDash val="solid"/>
          </a:ln>
        </p:spPr>
      </p:sp>
      <p:sp>
        <p:nvSpPr>
          <p:cNvPr id="6" name="Rectangle 5">
            <a:extLst xmlns:a="http://schemas.openxmlformats.org/drawingml/2006/main">
              <a:ext uri="{FF2B5EF4-FFF2-40B4-BE49-F238E27FC236}">
                <a16:creationId xmlns:a16="http://schemas.microsoft.com/office/drawing/2014/main" id="{AF4AD971-68D2-4168-B6CF-D833318E9EEE}"/>
              </a:ext>
            </a:extLst>
          </p:cNvPr>
          <p:cNvSpPr>
            <a:spLocks xmlns:a="http://schemas.openxmlformats.org/drawingml/2006/main" noGrp="1"/>
          </p:cNvSpPr>
          <p:nvPr/>
        </p:nvSpPr>
        <p:spPr>
          <a:xfrm xmlns:a="http://schemas.openxmlformats.org/drawingml/2006/main">
            <a:off x="11144250" y="65436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526174"/>
                </a:solidFill>
                <a:latin typeface="Aptos"/>
                <a:ea typeface="Aptos"/>
                <a:cs typeface="Aptos"/>
              </a:defRPr>
            </a:defPPr>
          </a:lstStyle>
          <a:p xmlns:a="http://schemas.openxmlformats.org/drawingml/2006/main">
            <a:pPr algn="r">
              <a:buNone/>
              <a:defRPr sz="975" b="0">
                <a:solidFill>
                  <a:srgbClr val="526174"/>
                </a:solidFill>
                <a:latin typeface="Aptos"/>
                <a:ea typeface="Aptos"/>
                <a:cs typeface="Aptos"/>
              </a:defRPr>
            </a:pPr>
            <a:r>
              <a:rPr sz="975" b="0">
                <a:solidFill>
                  <a:srgbClr val="526174"/>
                </a:solidFill>
                <a:latin typeface="Aptos"/>
                <a:ea typeface="Aptos"/>
                <a:cs typeface="Aptos"/>
              </a:rPr>
              <a:t>A7</a:t>
            </a:r>
          </a:p>
        </p:txBody>
      </p:sp>
      <p:graphicFrame>
        <p:nvGraphicFramePr>
          <p:cNvPr id="7" name="Table 6">
            <a:extLst xmlns:a="http://schemas.openxmlformats.org/drawingml/2006/main">
              <a:ext uri="{FF2B5EF4-FFF2-40B4-BE49-F238E27FC236}">
                <a16:creationId xmlns:a16="http://schemas.microsoft.com/office/drawing/2014/main" id="{AF00AADE-B361-415D-B8F1-90A8769F5D13}"/>
              </a:ext>
            </a:extLst>
          </p:cNvPr>
          <p:cNvGraphicFramePr/>
          <p:nvPr/>
        </p:nvGraphicFramePr>
        <p:xfrm>
          <a:off xmlns:a="http://schemas.openxmlformats.org/drawingml/2006/main" x="609600" y="1590675"/>
          <a:ext xmlns:a="http://schemas.openxmlformats.org/drawingml/2006/main" cx="10972800" cy="4385310"/>
        </p:xfrm>
        <a:graphic xmlns:a="http://schemas.openxmlformats.org/drawingml/2006/main">
          <a:graphicData uri="http://schemas.openxmlformats.org/drawingml/2006/table">
            <a:tbl>
              <a:tblPr/>
              <a:tblGrid>
                <a:gridCol w="3810000"/>
                <a:gridCol w="7162800"/>
              </a:tblGrid>
              <a:tr h="438150">
                <a:tc>
                  <a:txBody>
                    <a:bodyPr/>
                    <a:lstStyle/>
                    <a:p>
                      <a:r>
                        <a:rPr sz="1800" b="1">
                          <a:solidFill>
                            <a:srgbClr val="FFFFFF"/>
                          </a:solidFill>
                          <a:latin typeface="Aptos"/>
                          <a:ea typeface="Aptos"/>
                          <a:cs typeface="Aptos"/>
                        </a:rPr>
                        <a:t>Engineering work</a:t>
                      </a:r>
                    </a:p>
                  </a:txBody>
                  <a:tcPr marL="114300" marR="114300" marT="76200" marB="76200" anchor="ctr">
                    <a:lnL w="9525">
                      <a:solidFill>
                        <a:srgbClr val="D7DEE8"/>
                      </a:solidFill>
                    </a:lnL>
                    <a:lnR w="9525">
                      <a:solidFill>
                        <a:srgbClr val="D7DEE8"/>
                      </a:solidFill>
                    </a:lnR>
                    <a:lnT w="9525">
                      <a:solidFill>
                        <a:srgbClr val="D7DEE8"/>
                      </a:solidFill>
                    </a:lnT>
                    <a:lnB w="9525">
                      <a:solidFill>
                        <a:srgbClr val="D7DEE8"/>
                      </a:solidFill>
                    </a:lnB>
                    <a:solidFill>
                      <a:srgbClr val="0B1F3A"/>
                    </a:solidFill>
                  </a:tcPr>
                </a:tc>
                <a:tc>
                  <a:txBody>
                    <a:bodyPr/>
                    <a:lstStyle/>
                    <a:p>
                      <a:r>
                        <a:rPr sz="1800" b="1">
                          <a:solidFill>
                            <a:srgbClr val="FFFFFF"/>
                          </a:solidFill>
                          <a:latin typeface="Aptos"/>
                          <a:ea typeface="Aptos"/>
                          <a:cs typeface="Aptos"/>
                        </a:rPr>
                        <a:t>Retained implementation or observation</a:t>
                      </a:r>
                    </a:p>
                  </a:txBody>
                  <a:tcPr marL="114300" marR="114300" marT="76200" marB="76200" anchor="ctr">
                    <a:lnL w="9525" cmpd="sng">
                      <a:solidFill>
                        <a:srgbClr val="D7DEE8"/>
                      </a:solidFill>
                      <a:prstDash val="solid"/>
                    </a:lnL>
                    <a:lnR w="9525">
                      <a:solidFill>
                        <a:srgbClr val="D7DEE8"/>
                      </a:solidFill>
                    </a:lnR>
                    <a:lnT w="9525">
                      <a:solidFill>
                        <a:srgbClr val="D7DEE8"/>
                      </a:solidFill>
                    </a:lnT>
                    <a:lnB w="9525">
                      <a:solidFill>
                        <a:srgbClr val="D7DEE8"/>
                      </a:solidFill>
                    </a:lnB>
                    <a:solidFill>
                      <a:srgbClr val="0B1F3A"/>
                    </a:solidFill>
                  </a:tcPr>
                </a:tc>
              </a:tr>
              <a:tr h="647700">
                <a:tc>
                  <a:txBody>
                    <a:bodyPr/>
                    <a:lstStyle/>
                    <a:p>
                      <a:r>
                        <a:rPr sz="1725">
                          <a:solidFill>
                            <a:srgbClr val="0B1F3A"/>
                          </a:solidFill>
                          <a:latin typeface="Aptos"/>
                          <a:ea typeface="Aptos"/>
                          <a:cs typeface="Aptos"/>
                        </a:rPr>
                        <a:t>Sentinel live RGB path</a:t>
                      </a:r>
                    </a:p>
                  </a:txBody>
                  <a:tcPr marL="114300" marR="114300" marT="76200" marB="76200" anchor="ctr">
                    <a:lnL w="9525">
                      <a:solidFill>
                        <a:srgbClr val="D7DEE8"/>
                      </a:solidFill>
                    </a:lnL>
                    <a:lnR w="9525">
                      <a:solidFill>
                        <a:srgbClr val="D7DEE8"/>
                      </a:solidFill>
                    </a:lnR>
                    <a:lnT w="9525" cmpd="sng">
                      <a:solidFill>
                        <a:srgbClr val="D7DEE8"/>
                      </a:solidFill>
                      <a:prstDash val="solid"/>
                    </a:lnT>
                    <a:lnB w="9525">
                      <a:solidFill>
                        <a:srgbClr val="D7DEE8"/>
                      </a:solidFill>
                    </a:lnB>
                    <a:solidFill>
                      <a:srgbClr val="FFFFFF"/>
                    </a:solidFill>
                  </a:tcPr>
                </a:tc>
                <a:tc>
                  <a:txBody>
                    <a:bodyPr/>
                    <a:lstStyle/>
                    <a:p>
                      <a:r>
                        <a:rPr sz="1725">
                          <a:solidFill>
                            <a:srgbClr val="0B1F3A"/>
                          </a:solidFill>
                          <a:latin typeface="Aptos"/>
                          <a:ea typeface="Aptos"/>
                          <a:cs typeface="Aptos"/>
                        </a:rPr>
                        <a:t>D435i YUY2 via GStreamer to BGR, then TensorRT</a:t>
                      </a:r>
                    </a:p>
                  </a:txBody>
                  <a:tcPr marL="114300" marR="114300" marT="76200" marB="76200" anchor="ctr">
                    <a:lnL w="9525" cmpd="sng">
                      <a:solidFill>
                        <a:srgbClr val="D7DEE8"/>
                      </a:solidFill>
                      <a:prstDash val="solid"/>
                    </a:lnL>
                    <a:lnR w="9525">
                      <a:solidFill>
                        <a:srgbClr val="D7DEE8"/>
                      </a:solidFill>
                    </a:lnR>
                    <a:lnT w="9525" cmpd="sng">
                      <a:solidFill>
                        <a:srgbClr val="D7DEE8"/>
                      </a:solidFill>
                      <a:prstDash val="solid"/>
                    </a:lnT>
                    <a:lnB w="9525">
                      <a:solidFill>
                        <a:srgbClr val="D7DEE8"/>
                      </a:solidFill>
                    </a:lnB>
                    <a:solidFill>
                      <a:srgbClr val="FFFFFF"/>
                    </a:solidFill>
                  </a:tcPr>
                </a:tc>
              </a:tr>
              <a:tr h="647700">
                <a:tc>
                  <a:txBody>
                    <a:bodyPr/>
                    <a:lstStyle/>
                    <a:p>
                      <a:r>
                        <a:rPr sz="1725">
                          <a:solidFill>
                            <a:srgbClr val="0B1F3A"/>
                          </a:solidFill>
                          <a:latin typeface="Aptos"/>
                          <a:ea typeface="Aptos"/>
                          <a:cs typeface="Aptos"/>
                        </a:rPr>
                        <a:t>Scout vendor-camera integration</a:t>
                      </a:r>
                    </a:p>
                  </a:txBody>
                  <a:tcPr marL="114300" marR="114300" marT="76200" marB="76200" anchor="ctr">
                    <a:lnL w="9525">
                      <a:solidFill>
                        <a:srgbClr val="D7DEE8"/>
                      </a:solidFill>
                    </a:lnL>
                    <a:lnR w="9525">
                      <a:solidFill>
                        <a:srgbClr val="D7DEE8"/>
                      </a:solidFill>
                    </a:lnR>
                    <a:lnT w="9525" cmpd="sng">
                      <a:solidFill>
                        <a:srgbClr val="D7DEE8"/>
                      </a:solidFill>
                      <a:prstDash val="solid"/>
                    </a:lnT>
                    <a:lnB w="9525">
                      <a:solidFill>
                        <a:srgbClr val="D7DEE8"/>
                      </a:solidFill>
                    </a:lnB>
                    <a:solidFill>
                      <a:srgbClr val="FFFFFF"/>
                    </a:solidFill>
                  </a:tcPr>
                </a:tc>
                <a:tc>
                  <a:txBody>
                    <a:bodyPr/>
                    <a:lstStyle/>
                    <a:p>
                      <a:r>
                        <a:rPr sz="1725">
                          <a:solidFill>
                            <a:srgbClr val="0B1F3A"/>
                          </a:solidFill>
                          <a:latin typeface="Aptos"/>
                          <a:ea typeface="Aptos"/>
                          <a:cs typeface="Aptos"/>
                        </a:rPr>
                        <a:t>MPA bridge to ROS 2, explicit encoding / stride / payload checks</a:t>
                      </a:r>
                    </a:p>
                  </a:txBody>
                  <a:tcPr marL="114300" marR="114300" marT="76200" marB="76200" anchor="ctr">
                    <a:lnL w="9525" cmpd="sng">
                      <a:solidFill>
                        <a:srgbClr val="D7DEE8"/>
                      </a:solidFill>
                      <a:prstDash val="solid"/>
                    </a:lnL>
                    <a:lnR w="9525">
                      <a:solidFill>
                        <a:srgbClr val="D7DEE8"/>
                      </a:solidFill>
                    </a:lnR>
                    <a:lnT w="9525" cmpd="sng">
                      <a:solidFill>
                        <a:srgbClr val="D7DEE8"/>
                      </a:solidFill>
                      <a:prstDash val="solid"/>
                    </a:lnT>
                    <a:lnB w="9525">
                      <a:solidFill>
                        <a:srgbClr val="D7DEE8"/>
                      </a:solidFill>
                    </a:lnB>
                    <a:solidFill>
                      <a:srgbClr val="FFFFFF"/>
                    </a:solidFill>
                  </a:tcPr>
                </a:tc>
              </a:tr>
              <a:tr h="647700">
                <a:tc>
                  <a:txBody>
                    <a:bodyPr/>
                    <a:lstStyle/>
                    <a:p>
                      <a:r>
                        <a:rPr sz="1725">
                          <a:solidFill>
                            <a:srgbClr val="0B1F3A"/>
                          </a:solidFill>
                          <a:latin typeface="Aptos"/>
                          <a:ea typeface="Aptos"/>
                          <a:cs typeface="Aptos"/>
                        </a:rPr>
                        <a:t>Live camera preflight</a:t>
                      </a:r>
                    </a:p>
                  </a:txBody>
                  <a:tcPr marL="114300" marR="114300" marT="76200" marB="76200" anchor="ctr">
                    <a:lnL w="9525">
                      <a:solidFill>
                        <a:srgbClr val="D7DEE8"/>
                      </a:solidFill>
                    </a:lnL>
                    <a:lnR w="9525">
                      <a:solidFill>
                        <a:srgbClr val="D7DEE8"/>
                      </a:solidFill>
                    </a:lnR>
                    <a:lnT w="9525" cmpd="sng">
                      <a:solidFill>
                        <a:srgbClr val="D7DEE8"/>
                      </a:solidFill>
                      <a:prstDash val="solid"/>
                    </a:lnT>
                    <a:lnB w="9525">
                      <a:solidFill>
                        <a:srgbClr val="D7DEE8"/>
                      </a:solidFill>
                    </a:lnB>
                    <a:solidFill>
                      <a:srgbClr val="FFFFFF"/>
                    </a:solidFill>
                  </a:tcPr>
                </a:tc>
                <a:tc>
                  <a:txBody>
                    <a:bodyPr/>
                    <a:lstStyle/>
                    <a:p>
                      <a:r>
                        <a:rPr sz="1725">
                          <a:solidFill>
                            <a:srgbClr val="0B1F3A"/>
                          </a:solidFill>
                          <a:latin typeface="Aptos"/>
                          <a:ea typeface="Aptos"/>
                          <a:cs typeface="Aptos"/>
                        </a:rPr>
                        <a:t>Tracking 10/10 mono8 frames, hires 10/10 yuv422 frames</a:t>
                      </a:r>
                    </a:p>
                  </a:txBody>
                  <a:tcPr marL="114300" marR="114300" marT="76200" marB="76200" anchor="ctr">
                    <a:lnL w="9525" cmpd="sng">
                      <a:solidFill>
                        <a:srgbClr val="D7DEE8"/>
                      </a:solidFill>
                      <a:prstDash val="solid"/>
                    </a:lnL>
                    <a:lnR w="9525">
                      <a:solidFill>
                        <a:srgbClr val="D7DEE8"/>
                      </a:solidFill>
                    </a:lnR>
                    <a:lnT w="9525" cmpd="sng">
                      <a:solidFill>
                        <a:srgbClr val="D7DEE8"/>
                      </a:solidFill>
                      <a:prstDash val="solid"/>
                    </a:lnT>
                    <a:lnB w="9525">
                      <a:solidFill>
                        <a:srgbClr val="D7DEE8"/>
                      </a:solidFill>
                    </a:lnB>
                    <a:solidFill>
                      <a:srgbClr val="FFFFFF"/>
                    </a:solidFill>
                  </a:tcPr>
                </a:tc>
              </a:tr>
              <a:tr h="647700">
                <a:tc>
                  <a:txBody>
                    <a:bodyPr/>
                    <a:lstStyle/>
                    <a:p>
                      <a:r>
                        <a:rPr sz="1725">
                          <a:solidFill>
                            <a:srgbClr val="0B1F3A"/>
                          </a:solidFill>
                          <a:latin typeface="Aptos"/>
                          <a:ea typeface="Aptos"/>
                          <a:cs typeface="Aptos"/>
                        </a:rPr>
                        <a:t>Camera freshness protection</a:t>
                      </a:r>
                    </a:p>
                  </a:txBody>
                  <a:tcPr marL="114300" marR="114300" marT="76200" marB="76200" anchor="ctr">
                    <a:lnL w="9525">
                      <a:solidFill>
                        <a:srgbClr val="D7DEE8"/>
                      </a:solidFill>
                    </a:lnL>
                    <a:lnR w="9525">
                      <a:solidFill>
                        <a:srgbClr val="D7DEE8"/>
                      </a:solidFill>
                    </a:lnR>
                    <a:lnT w="9525" cmpd="sng">
                      <a:solidFill>
                        <a:srgbClr val="D7DEE8"/>
                      </a:solidFill>
                      <a:prstDash val="solid"/>
                    </a:lnT>
                    <a:lnB w="9525">
                      <a:solidFill>
                        <a:srgbClr val="D7DEE8"/>
                      </a:solidFill>
                    </a:lnB>
                    <a:solidFill>
                      <a:srgbClr val="FFFFFF"/>
                    </a:solidFill>
                  </a:tcPr>
                </a:tc>
                <a:tc>
                  <a:txBody>
                    <a:bodyPr/>
                    <a:lstStyle/>
                    <a:p>
                      <a:r>
                        <a:rPr sz="1725">
                          <a:solidFill>
                            <a:srgbClr val="0B1F3A"/>
                          </a:solidFill>
                          <a:latin typeface="Aptos"/>
                          <a:ea typeface="Aptos"/>
                          <a:cs typeface="Aptos"/>
                        </a:rPr>
                        <a:t>5/5 no-frame and 5/5 stale-frame ERROR verdicts, zero fault-frame inferences</a:t>
                      </a:r>
                    </a:p>
                  </a:txBody>
                  <a:tcPr marL="114300" marR="114300" marT="76200" marB="76200" anchor="ctr">
                    <a:lnL w="9525" cmpd="sng">
                      <a:solidFill>
                        <a:srgbClr val="D7DEE8"/>
                      </a:solidFill>
                      <a:prstDash val="solid"/>
                    </a:lnL>
                    <a:lnR w="9525">
                      <a:solidFill>
                        <a:srgbClr val="D7DEE8"/>
                      </a:solidFill>
                    </a:lnR>
                    <a:lnT w="9525" cmpd="sng">
                      <a:solidFill>
                        <a:srgbClr val="D7DEE8"/>
                      </a:solidFill>
                      <a:prstDash val="solid"/>
                    </a:lnT>
                    <a:lnB w="9525">
                      <a:solidFill>
                        <a:srgbClr val="D7DEE8"/>
                      </a:solidFill>
                    </a:lnB>
                    <a:solidFill>
                      <a:srgbClr val="FFFFFF"/>
                    </a:solidFill>
                  </a:tcPr>
                </a:tc>
              </a:tr>
              <a:tr h="647700">
                <a:tc>
                  <a:txBody>
                    <a:bodyPr/>
                    <a:lstStyle/>
                    <a:p>
                      <a:r>
                        <a:rPr sz="1725">
                          <a:solidFill>
                            <a:srgbClr val="0B1F3A"/>
                          </a:solidFill>
                          <a:latin typeface="Aptos"/>
                          <a:ea typeface="Aptos"/>
                          <a:cs typeface="Aptos"/>
                        </a:rPr>
                        <a:t>Deployment environments</a:t>
                      </a:r>
                    </a:p>
                  </a:txBody>
                  <a:tcPr marL="114300" marR="114300" marT="76200" marB="76200" anchor="ctr">
                    <a:lnL w="9525">
                      <a:solidFill>
                        <a:srgbClr val="D7DEE8"/>
                      </a:solidFill>
                    </a:lnL>
                    <a:lnR w="9525">
                      <a:solidFill>
                        <a:srgbClr val="D7DEE8"/>
                      </a:solidFill>
                    </a:lnR>
                    <a:lnT w="9525" cmpd="sng">
                      <a:solidFill>
                        <a:srgbClr val="D7DEE8"/>
                      </a:solidFill>
                      <a:prstDash val="solid"/>
                    </a:lnT>
                    <a:lnB w="9525">
                      <a:solidFill>
                        <a:srgbClr val="D7DEE8"/>
                      </a:solidFill>
                    </a:lnB>
                    <a:solidFill>
                      <a:srgbClr val="FFFFFF"/>
                    </a:solidFill>
                  </a:tcPr>
                </a:tc>
                <a:tc>
                  <a:txBody>
                    <a:bodyPr/>
                    <a:lstStyle/>
                    <a:p>
                      <a:r>
                        <a:rPr sz="1725">
                          <a:solidFill>
                            <a:srgbClr val="0B1F3A"/>
                          </a:solidFill>
                          <a:latin typeface="Aptos"/>
                          <a:ea typeface="Aptos"/>
                          <a:cs typeface="Aptos"/>
                        </a:rPr>
                        <a:t>Jetson L4T / Docker Foxy and native VOXL 2 Foxy, Cyclone DDS on wlan0</a:t>
                      </a:r>
                    </a:p>
                  </a:txBody>
                  <a:tcPr marL="114300" marR="114300" marT="76200" marB="76200" anchor="ctr">
                    <a:lnL w="9525" cmpd="sng">
                      <a:solidFill>
                        <a:srgbClr val="D7DEE8"/>
                      </a:solidFill>
                      <a:prstDash val="solid"/>
                    </a:lnL>
                    <a:lnR w="9525">
                      <a:solidFill>
                        <a:srgbClr val="D7DEE8"/>
                      </a:solidFill>
                    </a:lnR>
                    <a:lnT w="9525" cmpd="sng">
                      <a:solidFill>
                        <a:srgbClr val="D7DEE8"/>
                      </a:solidFill>
                      <a:prstDash val="solid"/>
                    </a:lnT>
                    <a:lnB w="9525">
                      <a:solidFill>
                        <a:srgbClr val="D7DEE8"/>
                      </a:solidFill>
                    </a:lnB>
                    <a:solidFill>
                      <a:srgbClr val="FFFFFF"/>
                    </a:solidFill>
                  </a:tcPr>
                </a:tc>
              </a:tr>
              <a:tr h="647700">
                <a:tc>
                  <a:txBody>
                    <a:bodyPr/>
                    <a:lstStyle/>
                    <a:p>
                      <a:r>
                        <a:rPr sz="1725">
                          <a:solidFill>
                            <a:srgbClr val="0B1F3A"/>
                          </a:solidFill>
                          <a:latin typeface="Aptos"/>
                          <a:ea typeface="Aptos"/>
                          <a:cs typeface="Aptos"/>
                        </a:rPr>
                        <a:t>Evidence capture</a:t>
                      </a:r>
                    </a:p>
                  </a:txBody>
                  <a:tcPr marL="114300" marR="114300" marT="76200" marB="76200" anchor="ctr">
                    <a:lnL w="9525">
                      <a:solidFill>
                        <a:srgbClr val="D7DEE8"/>
                      </a:solidFill>
                    </a:lnL>
                    <a:lnR w="9525">
                      <a:solidFill>
                        <a:srgbClr val="D7DEE8"/>
                      </a:solidFill>
                    </a:lnR>
                    <a:lnT w="9525" cmpd="sng">
                      <a:solidFill>
                        <a:srgbClr val="D7DEE8"/>
                      </a:solidFill>
                      <a:prstDash val="solid"/>
                    </a:lnT>
                    <a:lnB w="9525">
                      <a:solidFill>
                        <a:srgbClr val="D7DEE8"/>
                      </a:solidFill>
                    </a:lnB>
                    <a:solidFill>
                      <a:srgbClr val="FFFFFF"/>
                    </a:solidFill>
                  </a:tcPr>
                </a:tc>
                <a:tc>
                  <a:txBody>
                    <a:bodyPr/>
                    <a:lstStyle/>
                    <a:p>
                      <a:r>
                        <a:rPr sz="1725">
                          <a:solidFill>
                            <a:srgbClr val="0B1F3A"/>
                          </a:solidFill>
                          <a:latin typeface="Aptos"/>
                          <a:ea typeface="Aptos"/>
                          <a:cs typeface="Aptos"/>
                        </a:rPr>
                        <a:t>4096-record asynchronous queue, UTC + monotonic timing, SHA-256 manifests</a:t>
                      </a:r>
                    </a:p>
                  </a:txBody>
                  <a:tcPr marL="114300" marR="114300" marT="76200" marB="76200" anchor="ctr">
                    <a:lnL w="9525" cmpd="sng">
                      <a:solidFill>
                        <a:srgbClr val="D7DEE8"/>
                      </a:solidFill>
                      <a:prstDash val="solid"/>
                    </a:lnL>
                    <a:lnR w="9525">
                      <a:solidFill>
                        <a:srgbClr val="D7DEE8"/>
                      </a:solidFill>
                    </a:lnR>
                    <a:lnT w="9525" cmpd="sng">
                      <a:solidFill>
                        <a:srgbClr val="D7DEE8"/>
                      </a:solidFill>
                      <a:prstDash val="solid"/>
                    </a:lnT>
                    <a:lnB w="9525">
                      <a:solidFill>
                        <a:srgbClr val="D7DEE8"/>
                      </a:solidFill>
                    </a:lnB>
                    <a:solidFill>
                      <a:srgbClr val="FFFFFF"/>
                    </a:solidFill>
                  </a:tcPr>
                </a:tc>
              </a:tr>
            </a:tbl>
          </a:graphicData>
        </a:graphic>
      </p:graphicFrame>
      <p:sp>
        <p:nvSpPr>
          <p:cNvPr id="8" name="Rectangle 7">
            <a:extLst xmlns:a="http://schemas.openxmlformats.org/drawingml/2006/main">
              <a:ext uri="{FF2B5EF4-FFF2-40B4-BE49-F238E27FC236}">
                <a16:creationId xmlns:a16="http://schemas.microsoft.com/office/drawing/2014/main" id="{C1976E7C-6403-4D90-8E49-58C571536EC8}"/>
              </a:ext>
            </a:extLst>
          </p:cNvPr>
          <p:cNvSpPr>
            <a:spLocks xmlns:a="http://schemas.openxmlformats.org/drawingml/2006/main" noGrp="1"/>
          </p:cNvSpPr>
          <p:nvPr/>
        </p:nvSpPr>
        <p:spPr>
          <a:xfrm xmlns:a="http://schemas.openxmlformats.org/drawingml/2006/main">
            <a:off x="609600" y="61341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26174"/>
                </a:solidFill>
                <a:latin typeface="Aptos"/>
                <a:ea typeface="Aptos"/>
                <a:cs typeface="Aptos"/>
              </a:defRPr>
            </a:defPPr>
          </a:lstStyle>
          <a:p xmlns:a="http://schemas.openxmlformats.org/drawingml/2006/main">
            <a:pPr algn="l">
              <a:buNone/>
              <a:defRPr sz="1425" b="0">
                <a:solidFill>
                  <a:srgbClr val="526174"/>
                </a:solidFill>
                <a:latin typeface="Aptos"/>
                <a:ea typeface="Aptos"/>
                <a:cs typeface="Aptos"/>
              </a:defRPr>
            </a:pPr>
            <a:r>
              <a:rPr sz="1425" b="0">
                <a:solidFill>
                  <a:srgbClr val="526174"/>
                </a:solidFill>
                <a:latin typeface="Aptos"/>
                <a:ea typeface="Aptos"/>
                <a:cs typeface="Aptos"/>
              </a:rPr>
              <a:t>These records establish interface compatibility and bounded behavior. They do not establish 4K inference or geometric localization.</a:t>
            </a:r>
          </a:p>
        </p:txBody>
      </p:sp>
    </p:spTree>
    <p:extLst>
      <p:ext uri="{BB962C8B-B14F-4D97-AF65-F5344CB8AC3E}">
        <p14:creationId xmlns:p14="http://schemas.microsoft.com/office/powerpoint/2010/main" val="2123652109"/>
      </p:ext>
    </p:extLst>
  </p:cSld>
</p:sld>
</file>

<file path=ppt/slides/slide18.xml><?xml version="1.0" encoding="utf-8"?>
<p:sld xmlns:p="http://schemas.openxmlformats.org/presentationml/2006/main" show="0">
  <p:cSld>
    <p:spTree>
      <p:nvGrpSpPr>
        <p:cNvPr id="1" name=""/>
        <p:cNvGrpSpPr/>
        <p:nvPr/>
      </p:nvGrpSpPr>
      <p:grpSpPr>
        <a:xfrm xmlns:a="http://schemas.openxmlformats.org/drawingml/2006/main"/>
      </p:grpSpPr>
      <p:sp>
        <p:nvSpPr>
          <p:cNvPr id="9" name="Straight Connector 8">
            <a:extLst xmlns:a="http://schemas.openxmlformats.org/drawingml/2006/main">
              <a:ext uri="{FF2B5EF4-FFF2-40B4-BE49-F238E27FC236}">
                <a16:creationId xmlns:a16="http://schemas.microsoft.com/office/drawing/2014/main" id="{518B66B0-E792-4534-B2DD-700AA11EBFF1}"/>
              </a:ext>
            </a:extLst>
          </p:cNvPr>
          <p:cNvSpPr>
            <a:spLocks xmlns:a="http://schemas.openxmlformats.org/drawingml/2006/main" noGrp="1"/>
          </p:cNvSpPr>
          <p:nvPr/>
        </p:nvSpPr>
        <p:spPr>
          <a:xfrm xmlns:a="http://schemas.openxmlformats.org/drawingml/2006/main">
            <a:off x="0" y="47625"/>
            <a:ext cx="12192000" cy="0"/>
          </a:xfrm>
          <a:prstGeom xmlns:a="http://schemas.openxmlformats.org/drawingml/2006/main" prst="line">
            <a:avLst/>
          </a:prstGeom>
          <a:ln xmlns:a="http://schemas.openxmlformats.org/drawingml/2006/main" w="95250">
            <a:solidFill>
              <a:srgbClr val="0B1F3A"/>
            </a:solidFill>
            <a:prstDash val="solid"/>
          </a:ln>
        </p:spPr>
      </p:sp>
      <p:sp>
        <p:nvSpPr>
          <p:cNvPr id="2" name="Rectangle 1">
            <a:extLst xmlns:a="http://schemas.openxmlformats.org/drawingml/2006/main">
              <a:ext uri="{FF2B5EF4-FFF2-40B4-BE49-F238E27FC236}">
                <a16:creationId xmlns:a16="http://schemas.microsoft.com/office/drawing/2014/main" id="{44F12933-AE35-41C1-B118-51562CF84B35}"/>
              </a:ext>
            </a:extLst>
          </p:cNvPr>
          <p:cNvSpPr>
            <a:spLocks xmlns:a="http://schemas.openxmlformats.org/drawingml/2006/main" noGrp="1"/>
          </p:cNvSpPr>
          <p:nvPr/>
        </p:nvSpPr>
        <p:spPr>
          <a:xfrm xmlns:a="http://schemas.openxmlformats.org/drawingml/2006/main">
            <a:off x="609600" y="2952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B1F3A"/>
                </a:solidFill>
                <a:latin typeface="Aptos"/>
                <a:ea typeface="Aptos"/>
                <a:cs typeface="Aptos"/>
              </a:defRPr>
            </a:defPPr>
          </a:lstStyle>
          <a:p xmlns:a="http://schemas.openxmlformats.org/drawingml/2006/main">
            <a:pPr algn="l">
              <a:buNone/>
              <a:defRPr sz="3000" b="1">
                <a:solidFill>
                  <a:srgbClr val="0B1F3A"/>
                </a:solidFill>
                <a:latin typeface="Aptos"/>
                <a:ea typeface="Aptos"/>
                <a:cs typeface="Aptos"/>
              </a:defRPr>
            </a:pPr>
            <a:r>
              <a:rPr sz="3000" b="1">
                <a:solidFill>
                  <a:srgbClr val="0B1F3A"/>
                </a:solidFill>
                <a:latin typeface="Aptos"/>
                <a:ea typeface="Aptos"/>
                <a:cs typeface="Aptos"/>
              </a:rPr>
              <a:t>Evidence gallery: loaded message distribution</a:t>
            </a:r>
          </a:p>
        </p:txBody>
      </p:sp>
      <p:sp>
        <p:nvSpPr>
          <p:cNvPr id="3" name="Rectangle 2">
            <a:extLst xmlns:a="http://schemas.openxmlformats.org/drawingml/2006/main">
              <a:ext uri="{FF2B5EF4-FFF2-40B4-BE49-F238E27FC236}">
                <a16:creationId xmlns:a16="http://schemas.microsoft.com/office/drawing/2014/main" id="{6A886718-4CEB-47B9-9B80-FFE374E6171F}"/>
              </a:ext>
            </a:extLst>
          </p:cNvPr>
          <p:cNvSpPr>
            <a:spLocks xmlns:a="http://schemas.openxmlformats.org/drawingml/2006/main" noGrp="1"/>
          </p:cNvSpPr>
          <p:nvPr/>
        </p:nvSpPr>
        <p:spPr>
          <a:xfrm xmlns:a="http://schemas.openxmlformats.org/drawingml/2006/main">
            <a:off x="609600" y="8667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174"/>
                </a:solidFill>
                <a:latin typeface="Aptos"/>
                <a:ea typeface="Aptos"/>
                <a:cs typeface="Aptos"/>
              </a:defRPr>
            </a:defPPr>
          </a:lstStyle>
          <a:p xmlns:a="http://schemas.openxmlformats.org/drawingml/2006/main">
            <a:pPr algn="l">
              <a:buNone/>
              <a:defRPr sz="1500" b="0">
                <a:solidFill>
                  <a:srgbClr val="526174"/>
                </a:solidFill>
                <a:latin typeface="Aptos"/>
                <a:ea typeface="Aptos"/>
                <a:cs typeface="Aptos"/>
              </a:defRPr>
            </a:pPr>
            <a:r>
              <a:rPr sz="1500" b="0">
                <a:solidFill>
                  <a:srgbClr val="526174"/>
                </a:solidFill>
                <a:latin typeface="Aptos"/>
                <a:ea typeface="Aptos"/>
                <a:cs typeface="Aptos"/>
              </a:rPr>
              <a:t>1,000 correlated ROS 2/DDS round trips with concurrent live inference</a:t>
            </a:r>
          </a:p>
        </p:txBody>
      </p:sp>
      <p:sp>
        <p:nvSpPr>
          <p:cNvPr id="4" name="Straight Connector 3">
            <a:extLst xmlns:a="http://schemas.openxmlformats.org/drawingml/2006/main">
              <a:ext uri="{FF2B5EF4-FFF2-40B4-BE49-F238E27FC236}">
                <a16:creationId xmlns:a16="http://schemas.microsoft.com/office/drawing/2014/main" id="{F3F559AE-1507-47EA-A471-137F09B3D66A}"/>
              </a:ext>
            </a:extLst>
          </p:cNvPr>
          <p:cNvSpPr>
            <a:spLocks xmlns:a="http://schemas.openxmlformats.org/drawingml/2006/main" noGrp="1"/>
          </p:cNvSpPr>
          <p:nvPr/>
        </p:nvSpPr>
        <p:spPr>
          <a:xfrm xmlns:a="http://schemas.openxmlformats.org/drawingml/2006/main">
            <a:off x="609600" y="1266825"/>
            <a:ext cx="10972800" cy="0"/>
          </a:xfrm>
          <a:prstGeom xmlns:a="http://schemas.openxmlformats.org/drawingml/2006/main" prst="line">
            <a:avLst/>
          </a:prstGeom>
          <a:ln xmlns:a="http://schemas.openxmlformats.org/drawingml/2006/main" w="9525">
            <a:solidFill>
              <a:srgbClr val="D7DEE8"/>
            </a:solidFill>
            <a:prstDash val="solid"/>
          </a:ln>
        </p:spPr>
      </p:sp>
      <p:sp>
        <p:nvSpPr>
          <p:cNvPr id="6" name="Rectangle 5">
            <a:extLst xmlns:a="http://schemas.openxmlformats.org/drawingml/2006/main">
              <a:ext uri="{FF2B5EF4-FFF2-40B4-BE49-F238E27FC236}">
                <a16:creationId xmlns:a16="http://schemas.microsoft.com/office/drawing/2014/main" id="{472A877E-B69B-4ECA-B116-5E65660D1DFF}"/>
              </a:ext>
            </a:extLst>
          </p:cNvPr>
          <p:cNvSpPr>
            <a:spLocks xmlns:a="http://schemas.openxmlformats.org/drawingml/2006/main" noGrp="1"/>
          </p:cNvSpPr>
          <p:nvPr/>
        </p:nvSpPr>
        <p:spPr>
          <a:xfrm xmlns:a="http://schemas.openxmlformats.org/drawingml/2006/main">
            <a:off x="11144250" y="65436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526174"/>
                </a:solidFill>
                <a:latin typeface="Aptos"/>
                <a:ea typeface="Aptos"/>
                <a:cs typeface="Aptos"/>
              </a:defRPr>
            </a:defPPr>
          </a:lstStyle>
          <a:p xmlns:a="http://schemas.openxmlformats.org/drawingml/2006/main">
            <a:pPr algn="r">
              <a:buNone/>
              <a:defRPr sz="975" b="0">
                <a:solidFill>
                  <a:srgbClr val="526174"/>
                </a:solidFill>
                <a:latin typeface="Aptos"/>
                <a:ea typeface="Aptos"/>
                <a:cs typeface="Aptos"/>
              </a:defRPr>
            </a:pPr>
            <a:r>
              <a:rPr sz="975" b="0">
                <a:solidFill>
                  <a:srgbClr val="526174"/>
                </a:solidFill>
                <a:latin typeface="Aptos"/>
                <a:ea typeface="Aptos"/>
                <a:cs typeface="Aptos"/>
              </a:rPr>
              <a:t>A8</a:t>
            </a:r>
          </a:p>
        </p:txBody>
      </p:sp>
      <p:pic>
        <p:nvPicPr>
          <p:cNvPr id="7" name="Picture 6">
            <a:extLst xmlns:a="http://schemas.openxmlformats.org/drawingml/2006/main">
              <a:ext uri="{FF2B5EF4-FFF2-40B4-BE49-F238E27FC236}">
                <a16:creationId xmlns:a16="http://schemas.microsoft.com/office/drawing/2014/main" id="{8D68A172-5C7E-41DF-8975-535040029697}"/>
              </a:ext>
            </a:extLst>
          </p:cNvPr>
          <p:cNvPicPr>
            <a:picLocks xmlns:a="http://schemas.openxmlformats.org/drawingml/2006/main" noChangeAspect="1"/>
          </p:cNvPicPr>
          <p:nvPr/>
        </p:nvPicPr>
        <p:blipFill>
          <a:blip xmlns:r="http://schemas.openxmlformats.org/officeDocument/2006/relationships" xmlns:a="http://schemas.openxmlformats.org/drawingml/2006/main" r:embed="R42ca713b8a20451d"/>
          <a:stretch xmlns:a="http://schemas.openxmlformats.org/drawingml/2006/main"/>
        </p:blipFill>
        <p:spPr>
          <a:xfrm xmlns:a="http://schemas.openxmlformats.org/drawingml/2006/main">
            <a:off x="611943" y="1676400"/>
            <a:ext cx="10968113" cy="4495800"/>
          </a:xfrm>
          <a:prstGeom xmlns:a="http://schemas.openxmlformats.org/drawingml/2006/main" prst="rect">
            <a:avLst/>
          </a:prstGeom>
        </p:spPr>
      </p:pic>
      <p:sp>
        <p:nvSpPr>
          <p:cNvPr id="8" name="Rectangle 7">
            <a:extLst xmlns:a="http://schemas.openxmlformats.org/drawingml/2006/main">
              <a:ext uri="{FF2B5EF4-FFF2-40B4-BE49-F238E27FC236}">
                <a16:creationId xmlns:a16="http://schemas.microsoft.com/office/drawing/2014/main" id="{3207557B-78C3-4768-957C-5209B234E355}"/>
              </a:ext>
            </a:extLst>
          </p:cNvPr>
          <p:cNvSpPr>
            <a:spLocks xmlns:a="http://schemas.openxmlformats.org/drawingml/2006/main" noGrp="1"/>
          </p:cNvSpPr>
          <p:nvPr/>
        </p:nvSpPr>
        <p:spPr>
          <a:xfrm xmlns:a="http://schemas.openxmlformats.org/drawingml/2006/main">
            <a:off x="609600" y="61912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B1F3A"/>
                </a:solidFill>
                <a:latin typeface="Aptos"/>
                <a:ea typeface="Aptos"/>
                <a:cs typeface="Aptos"/>
              </a:defRPr>
            </a:defPPr>
          </a:lstStyle>
          <a:p xmlns:a="http://schemas.openxmlformats.org/drawingml/2006/main">
            <a:pPr algn="l">
              <a:buNone/>
              <a:defRPr sz="1500" b="1">
                <a:solidFill>
                  <a:srgbClr val="0B1F3A"/>
                </a:solidFill>
                <a:latin typeface="Aptos"/>
                <a:ea typeface="Aptos"/>
                <a:cs typeface="Aptos"/>
              </a:defRPr>
            </a:pPr>
            <a:r>
              <a:rPr sz="1500" b="1">
                <a:solidFill>
                  <a:srgbClr val="0B1F3A"/>
                </a:solidFill>
                <a:latin typeface="Aptos"/>
                <a:ea typeface="Aptos"/>
                <a:cs typeface="Aptos"/>
              </a:rPr>
              <a:t>Median 4.393 ms. p95 7.984 ms. Maximum 44.011 ms. Same-process round trip, not one-way latency.</a:t>
            </a:r>
          </a:p>
        </p:txBody>
      </p:sp>
    </p:spTree>
    <p:extLst>
      <p:ext uri="{BB962C8B-B14F-4D97-AF65-F5344CB8AC3E}">
        <p14:creationId xmlns:p14="http://schemas.microsoft.com/office/powerpoint/2010/main" val="3466447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2026-10-18T10:45:22.5750000Z</dcterms:created>
  <dcterms:modified xsi:type="dcterms:W3CDTF">2026-10-18T10:45:22.5750000Z</dcterms:modified>
</coreProperties>
</file>